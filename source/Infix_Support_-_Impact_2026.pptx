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30_0.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2"/>
  </p:notesMasterIdLst>
  <p:sldIdLst>
    <p:sldId id="304" r:id="rId5"/>
    <p:sldId id="317" r:id="rId6"/>
    <p:sldId id="305" r:id="rId7"/>
    <p:sldId id="321" r:id="rId8"/>
    <p:sldId id="323" r:id="rId9"/>
    <p:sldId id="324" r:id="rId10"/>
    <p:sldId id="328" r:id="rId11"/>
    <p:sldId id="325" r:id="rId12"/>
    <p:sldId id="326" r:id="rId13"/>
    <p:sldId id="345" r:id="rId14"/>
    <p:sldId id="373" r:id="rId15"/>
    <p:sldId id="340" r:id="rId16"/>
    <p:sldId id="337" r:id="rId17"/>
    <p:sldId id="344" r:id="rId18"/>
    <p:sldId id="339" r:id="rId19"/>
    <p:sldId id="398" r:id="rId20"/>
    <p:sldId id="31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B0CD242-E815-DD37-F792-EF3B626976E2}" name="Kirsty Milne" initials="KM" userId="S::kirsty@infixsupport.com::b6e9e317-e6b8-44f5-a133-b659d441e6d5" providerId="AD"/>
  <p188:author id="{5D122E5D-3FDA-1187-D908-C0508CF89EB7}" name="Matthew Freer" initials="MF" userId="S::matt@infixsupport.com::7169fb5f-7d38-49df-b0b0-8cc1afac7017" providerId="AD"/>
  <p188:author id="{D0B1CCA5-E5F0-9DCD-0D41-C55A0596068C}" name="David Freer" initials="" userId="S::david@infixsupport.com::f34ad656-968e-44b2-9635-8a8a71a015fd" providerId="AD"/>
  <p188:author id="{70BDC9DD-D4EA-6664-E3FE-31E1997CDB59}" name="Mark Pitcher" initials="MP" userId="S::mark@infixsupport.com::1b61a8d1-acf9-4590-9880-15d2b111b0a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B3EF1B-E93D-4CF2-808C-330E16F9DB68}" v="4" dt="2026-05-26T13:21:59.222"/>
    <p1510:client id="{66EF8E38-42B9-44F9-892E-9278BAD6E99E}" v="1" dt="2026-05-26T13:27:44.5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423" autoAdjust="0"/>
  </p:normalViewPr>
  <p:slideViewPr>
    <p:cSldViewPr snapToGrid="0">
      <p:cViewPr varScale="1">
        <p:scale>
          <a:sx n="104" d="100"/>
          <a:sy n="104" d="100"/>
        </p:scale>
        <p:origin x="114"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Freer" userId="7169fb5f-7d38-49df-b0b0-8cc1afac7017" providerId="ADAL" clId="{0DF78914-505A-42BA-8F41-D91DB18C2E00}"/>
    <pc:docChg chg="undo custSel delSld modSld sldOrd">
      <pc:chgData name="Matthew Freer" userId="7169fb5f-7d38-49df-b0b0-8cc1afac7017" providerId="ADAL" clId="{0DF78914-505A-42BA-8F41-D91DB18C2E00}" dt="2026-05-26T13:31:12.097" v="216" actId="14100"/>
      <pc:docMkLst>
        <pc:docMk/>
      </pc:docMkLst>
      <pc:sldChg chg="modSp mod modCm">
        <pc:chgData name="Matthew Freer" userId="7169fb5f-7d38-49df-b0b0-8cc1afac7017" providerId="ADAL" clId="{0DF78914-505A-42BA-8F41-D91DB18C2E00}" dt="2026-05-26T13:24:38.494" v="26" actId="20577"/>
        <pc:sldMkLst>
          <pc:docMk/>
          <pc:sldMk cId="0" sldId="304"/>
        </pc:sldMkLst>
        <pc:spChg chg="mod">
          <ac:chgData name="Matthew Freer" userId="7169fb5f-7d38-49df-b0b0-8cc1afac7017" providerId="ADAL" clId="{0DF78914-505A-42BA-8F41-D91DB18C2E00}" dt="2026-05-26T13:24:38.494" v="26" actId="20577"/>
          <ac:spMkLst>
            <pc:docMk/>
            <pc:sldMk cId="0" sldId="304"/>
            <ac:spMk id="2" creationId="{6FC69073-705E-DE8A-5D3A-6FC8F3160B0A}"/>
          </ac:spMkLst>
        </pc:spChg>
        <pc:spChg chg="mod">
          <ac:chgData name="Matthew Freer" userId="7169fb5f-7d38-49df-b0b0-8cc1afac7017" providerId="ADAL" clId="{0DF78914-505A-42BA-8F41-D91DB18C2E00}" dt="2026-05-26T13:24:28.614" v="19" actId="20577"/>
          <ac:spMkLst>
            <pc:docMk/>
            <pc:sldMk cId="0" sldId="304"/>
            <ac:spMk id="94" creationId="{00000000-0000-0000-0000-000000000000}"/>
          </ac:spMkLst>
        </pc:spChg>
        <pc:extLst>
          <p:ext xmlns:p="http://schemas.openxmlformats.org/presentationml/2006/main" uri="{D6D511B9-2390-475A-947B-AFAB55BFBCF1}">
            <pc226:cmChg xmlns:pc226="http://schemas.microsoft.com/office/powerpoint/2022/06/main/command" chg="mod">
              <pc226:chgData name="Matthew Freer" userId="7169fb5f-7d38-49df-b0b0-8cc1afac7017" providerId="ADAL" clId="{0DF78914-505A-42BA-8F41-D91DB18C2E00}" dt="2026-05-26T13:24:28.614" v="19" actId="20577"/>
              <pc2:cmMkLst xmlns:pc2="http://schemas.microsoft.com/office/powerpoint/2019/9/main/command">
                <pc:docMk/>
                <pc:sldMk cId="0" sldId="304"/>
                <pc2:cmMk id="{07661D71-A3D8-4F82-AF20-37CCD21353FC}"/>
              </pc2:cmMkLst>
            </pc226:cmChg>
          </p:ext>
        </pc:extLst>
      </pc:sldChg>
      <pc:sldChg chg="del">
        <pc:chgData name="Matthew Freer" userId="7169fb5f-7d38-49df-b0b0-8cc1afac7017" providerId="ADAL" clId="{0DF78914-505A-42BA-8F41-D91DB18C2E00}" dt="2026-05-26T13:24:54.129" v="27" actId="47"/>
        <pc:sldMkLst>
          <pc:docMk/>
          <pc:sldMk cId="2781338323" sldId="322"/>
        </pc:sldMkLst>
      </pc:sldChg>
      <pc:sldChg chg="addSp modSp mod ord">
        <pc:chgData name="Matthew Freer" userId="7169fb5f-7d38-49df-b0b0-8cc1afac7017" providerId="ADAL" clId="{0DF78914-505A-42BA-8F41-D91DB18C2E00}" dt="2026-05-26T13:31:12.097" v="216" actId="14100"/>
        <pc:sldMkLst>
          <pc:docMk/>
          <pc:sldMk cId="3865464344" sldId="345"/>
        </pc:sldMkLst>
        <pc:spChg chg="add mod ord">
          <ac:chgData name="Matthew Freer" userId="7169fb5f-7d38-49df-b0b0-8cc1afac7017" providerId="ADAL" clId="{0DF78914-505A-42BA-8F41-D91DB18C2E00}" dt="2026-05-26T13:31:04.933" v="215" actId="692"/>
          <ac:spMkLst>
            <pc:docMk/>
            <pc:sldMk cId="3865464344" sldId="345"/>
            <ac:spMk id="7" creationId="{EF97EFD4-4AB7-6052-9389-18957AD0E6AD}"/>
          </ac:spMkLst>
        </pc:spChg>
        <pc:spChg chg="add mod">
          <ac:chgData name="Matthew Freer" userId="7169fb5f-7d38-49df-b0b0-8cc1afac7017" providerId="ADAL" clId="{0DF78914-505A-42BA-8F41-D91DB18C2E00}" dt="2026-05-26T13:29:51.221" v="202" actId="1076"/>
          <ac:spMkLst>
            <pc:docMk/>
            <pc:sldMk cId="3865464344" sldId="345"/>
            <ac:spMk id="39" creationId="{7AB08342-848E-9849-F60A-A4B22DF885C3}"/>
          </ac:spMkLst>
        </pc:spChg>
        <pc:grpChg chg="mod">
          <ac:chgData name="Matthew Freer" userId="7169fb5f-7d38-49df-b0b0-8cc1afac7017" providerId="ADAL" clId="{0DF78914-505A-42BA-8F41-D91DB18C2E00}" dt="2026-05-26T13:27:10.237" v="42" actId="1076"/>
          <ac:grpSpMkLst>
            <pc:docMk/>
            <pc:sldMk cId="3865464344" sldId="345"/>
            <ac:grpSpMk id="3" creationId="{EDD8C240-3E68-1E9E-FAFA-F3C6A35273E6}"/>
          </ac:grpSpMkLst>
        </pc:grpChg>
        <pc:cxnChg chg="add mod">
          <ac:chgData name="Matthew Freer" userId="7169fb5f-7d38-49df-b0b0-8cc1afac7017" providerId="ADAL" clId="{0DF78914-505A-42BA-8F41-D91DB18C2E00}" dt="2026-05-26T13:31:12.097" v="216" actId="14100"/>
          <ac:cxnSpMkLst>
            <pc:docMk/>
            <pc:sldMk cId="3865464344" sldId="345"/>
            <ac:cxnSpMk id="29" creationId="{D7DDFDEA-FD20-F82F-7A46-E0CE636B377B}"/>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Matt\OneDrive%20-%20Infix%20Support%20Ltd\Urology%20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Pete\Desktop\MediClinic.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infoinfixsupport.sharepoint.com/sites/InfixSupportMaster/Shared%20Documents/General/10.%20Data/Lothian/Booked%20Vs%20Actual%20-%20Copy.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infoinfixsupport.sharepoint.com/sites/InfixSupportMaster/Shared%20Documents/General/10.%20Data/Lothian/Lothian%20Booked%20Vs%20Actual/Booked%20Vs%20Actual%20-%20Copy.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oleObject" Target="file:///\\Users\Pete\Downloads\2025%20%25%20Accuracy.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Pete\Desktop\MediClinic.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GB" sz="1200" b="1">
                <a:solidFill>
                  <a:schemeClr val="tx1"/>
                </a:solidFill>
                <a:latin typeface="Lexend" pitchFamily="2" charset="0"/>
              </a:rPr>
              <a:t>Lothian Urology Surgery</a:t>
            </a:r>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2"/>
            </a:solidFill>
            <a:ln>
              <a:noFill/>
            </a:ln>
            <a:effectLst/>
          </c:spPr>
          <c:invertIfNegative val="0"/>
          <c:dPt>
            <c:idx val="1"/>
            <c:invertIfNegative val="0"/>
            <c:bubble3D val="0"/>
            <c:extLst>
              <c:ext xmlns:c16="http://schemas.microsoft.com/office/drawing/2014/chart" uri="{C3380CC4-5D6E-409C-BE32-E72D297353CC}">
                <c16:uniqueId val="{00000000-9EF5-4146-86A8-F623A57332A6}"/>
              </c:ext>
            </c:extLst>
          </c:dPt>
          <c:dPt>
            <c:idx val="2"/>
            <c:invertIfNegative val="0"/>
            <c:bubble3D val="0"/>
            <c:extLst>
              <c:ext xmlns:c16="http://schemas.microsoft.com/office/drawing/2014/chart" uri="{C3380CC4-5D6E-409C-BE32-E72D297353CC}">
                <c16:uniqueId val="{00000001-9EF5-4146-86A8-F623A57332A6}"/>
              </c:ext>
            </c:extLst>
          </c:dPt>
          <c:dPt>
            <c:idx val="3"/>
            <c:invertIfNegative val="0"/>
            <c:bubble3D val="0"/>
            <c:extLst>
              <c:ext xmlns:c16="http://schemas.microsoft.com/office/drawing/2014/chart" uri="{C3380CC4-5D6E-409C-BE32-E72D297353CC}">
                <c16:uniqueId val="{00000002-9EF5-4146-86A8-F623A57332A6}"/>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Lexend"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25400" cap="rnd">
                <a:solidFill>
                  <a:schemeClr val="accent1"/>
                </a:solidFill>
                <a:prstDash val="sysDot"/>
              </a:ln>
              <a:effectLst/>
            </c:spPr>
            <c:trendlineType val="exp"/>
            <c:dispRSqr val="0"/>
            <c:dispEq val="0"/>
          </c:trendline>
          <c:cat>
            <c:strRef>
              <c:f>Actual!$J$6:$M$6</c:f>
              <c:strCache>
                <c:ptCount val="4"/>
                <c:pt idx="0">
                  <c:v>Pre-Infix</c:v>
                </c:pt>
                <c:pt idx="1">
                  <c:v>Infix 1-12 weeks</c:v>
                </c:pt>
                <c:pt idx="2">
                  <c:v>Infix 13- 24 weeks</c:v>
                </c:pt>
                <c:pt idx="3">
                  <c:v>Infix 25-30 weeks</c:v>
                </c:pt>
              </c:strCache>
            </c:strRef>
          </c:cat>
          <c:val>
            <c:numRef>
              <c:f>Actual!$J$7:$M$7</c:f>
              <c:numCache>
                <c:formatCode>General</c:formatCode>
                <c:ptCount val="4"/>
                <c:pt idx="0">
                  <c:v>78.3</c:v>
                </c:pt>
                <c:pt idx="1">
                  <c:v>78.5</c:v>
                </c:pt>
                <c:pt idx="2">
                  <c:v>85.3</c:v>
                </c:pt>
                <c:pt idx="3">
                  <c:v>83.4</c:v>
                </c:pt>
              </c:numCache>
            </c:numRef>
          </c:val>
          <c:extLst>
            <c:ext xmlns:c16="http://schemas.microsoft.com/office/drawing/2014/chart" uri="{C3380CC4-5D6E-409C-BE32-E72D297353CC}">
              <c16:uniqueId val="{00000004-9EF5-4146-86A8-F623A57332A6}"/>
            </c:ext>
          </c:extLst>
        </c:ser>
        <c:dLbls>
          <c:dLblPos val="inEnd"/>
          <c:showLegendKey val="0"/>
          <c:showVal val="1"/>
          <c:showCatName val="0"/>
          <c:showSerName val="0"/>
          <c:showPercent val="0"/>
          <c:showBubbleSize val="0"/>
        </c:dLbls>
        <c:gapWidth val="205"/>
        <c:overlap val="-25"/>
        <c:axId val="998613279"/>
        <c:axId val="998608959"/>
      </c:barChart>
      <c:catAx>
        <c:axId val="998613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998608959"/>
        <c:crosses val="autoZero"/>
        <c:auto val="1"/>
        <c:lblAlgn val="ctr"/>
        <c:lblOffset val="100"/>
        <c:noMultiLvlLbl val="0"/>
      </c:catAx>
      <c:valAx>
        <c:axId val="9986089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GB" sz="1000">
                    <a:solidFill>
                      <a:schemeClr val="tx1"/>
                    </a:solidFill>
                  </a:rPr>
                  <a:t>Theatre Utilisation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99861327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i="0">
                <a:solidFill>
                  <a:schemeClr val="tx2"/>
                </a:solidFill>
                <a:latin typeface="Lexend" pitchFamily="2" charset="77"/>
              </a:rPr>
              <a:t>ENT</a:t>
            </a:r>
            <a:r>
              <a:rPr lang="en-US" sz="1200" b="1" i="0" baseline="0">
                <a:solidFill>
                  <a:schemeClr val="tx2"/>
                </a:solidFill>
                <a:latin typeface="Lexend" pitchFamily="2" charset="77"/>
              </a:rPr>
              <a:t> t</a:t>
            </a:r>
            <a:r>
              <a:rPr lang="en-US" sz="1200" b="1" i="0">
                <a:solidFill>
                  <a:schemeClr val="tx2"/>
                </a:solidFill>
                <a:latin typeface="Lexend" pitchFamily="2" charset="77"/>
              </a:rPr>
              <a:t>heatre utilization (%)</a:t>
            </a:r>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Theatre Utilisation %</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t" anchorCtr="0">
                <a:spAutoFit/>
              </a:bodyPr>
              <a:lstStyle/>
              <a:p>
                <a:pPr>
                  <a:defRPr sz="1000" b="0" i="0" u="none" strike="noStrike" kern="1200" baseline="0">
                    <a:solidFill>
                      <a:schemeClr val="tx2"/>
                    </a:solidFill>
                    <a:latin typeface="Lexend" pitchFamily="2" charset="77"/>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Sheet1!$A$2:$A$5</c:f>
              <c:numCache>
                <c:formatCode>General</c:formatCode>
                <c:ptCount val="4"/>
                <c:pt idx="0">
                  <c:v>1</c:v>
                </c:pt>
                <c:pt idx="1">
                  <c:v>2</c:v>
                </c:pt>
                <c:pt idx="2">
                  <c:v>3</c:v>
                </c:pt>
                <c:pt idx="3">
                  <c:v>4</c:v>
                </c:pt>
              </c:numCache>
            </c:numRef>
          </c:cat>
          <c:val>
            <c:numRef>
              <c:f>Sheet1!$B$2:$B$5</c:f>
              <c:numCache>
                <c:formatCode>General</c:formatCode>
                <c:ptCount val="4"/>
                <c:pt idx="0">
                  <c:v>65.400000000000006</c:v>
                </c:pt>
                <c:pt idx="1">
                  <c:v>74.2</c:v>
                </c:pt>
                <c:pt idx="2">
                  <c:v>72.650000000000006</c:v>
                </c:pt>
                <c:pt idx="3">
                  <c:v>72.599999999999994</c:v>
                </c:pt>
              </c:numCache>
            </c:numRef>
          </c:val>
          <c:smooth val="0"/>
          <c:extLst>
            <c:ext xmlns:c16="http://schemas.microsoft.com/office/drawing/2014/chart" uri="{C3380CC4-5D6E-409C-BE32-E72D297353CC}">
              <c16:uniqueId val="{00000000-6FD3-0F46-BB46-66B883AC9CBB}"/>
            </c:ext>
          </c:extLst>
        </c:ser>
        <c:ser>
          <c:idx val="1"/>
          <c:order val="1"/>
          <c:tx>
            <c:strRef>
              <c:f>Sheet1!$C$1</c:f>
              <c:strCache>
                <c:ptCount val="1"/>
                <c:pt idx="0">
                  <c:v>Column2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Sheet1!$A$2:$A$5</c:f>
              <c:numCache>
                <c:formatCode>General</c:formatCode>
                <c:ptCount val="4"/>
                <c:pt idx="0">
                  <c:v>1</c:v>
                </c:pt>
                <c:pt idx="1">
                  <c:v>2</c:v>
                </c:pt>
                <c:pt idx="2">
                  <c:v>3</c:v>
                </c:pt>
                <c:pt idx="3">
                  <c:v>4</c:v>
                </c:pt>
              </c:numCache>
            </c:numRef>
          </c:cat>
          <c:val>
            <c:numRef>
              <c:f>Sheet1!$C$2:$C$5</c:f>
              <c:numCache>
                <c:formatCode>General</c:formatCode>
                <c:ptCount val="4"/>
              </c:numCache>
            </c:numRef>
          </c:val>
          <c:smooth val="0"/>
          <c:extLst>
            <c:ext xmlns:c16="http://schemas.microsoft.com/office/drawing/2014/chart" uri="{C3380CC4-5D6E-409C-BE32-E72D297353CC}">
              <c16:uniqueId val="{00000001-6FD3-0F46-BB46-66B883AC9CBB}"/>
            </c:ext>
          </c:extLst>
        </c:ser>
        <c:ser>
          <c:idx val="2"/>
          <c:order val="2"/>
          <c:tx>
            <c:strRef>
              <c:f>Sheet1!$D$1</c:f>
              <c:strCache>
                <c:ptCount val="1"/>
                <c:pt idx="0">
                  <c:v>Column3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Sheet1!$A$2:$A$5</c:f>
              <c:numCache>
                <c:formatCode>General</c:formatCode>
                <c:ptCount val="4"/>
                <c:pt idx="0">
                  <c:v>1</c:v>
                </c:pt>
                <c:pt idx="1">
                  <c:v>2</c:v>
                </c:pt>
                <c:pt idx="2">
                  <c:v>3</c:v>
                </c:pt>
                <c:pt idx="3">
                  <c:v>4</c:v>
                </c:pt>
              </c:numCache>
            </c:numRef>
          </c:cat>
          <c:val>
            <c:numRef>
              <c:f>Sheet1!$D$2:$D$5</c:f>
              <c:numCache>
                <c:formatCode>General</c:formatCode>
                <c:ptCount val="4"/>
              </c:numCache>
            </c:numRef>
          </c:val>
          <c:smooth val="0"/>
          <c:extLst>
            <c:ext xmlns:c16="http://schemas.microsoft.com/office/drawing/2014/chart" uri="{C3380CC4-5D6E-409C-BE32-E72D297353CC}">
              <c16:uniqueId val="{00000002-6FD3-0F46-BB46-66B883AC9CBB}"/>
            </c:ext>
          </c:extLst>
        </c:ser>
        <c:dLbls>
          <c:showLegendKey val="0"/>
          <c:showVal val="0"/>
          <c:showCatName val="0"/>
          <c:showSerName val="0"/>
          <c:showPercent val="0"/>
          <c:showBubbleSize val="0"/>
        </c:dLbls>
        <c:marker val="1"/>
        <c:smooth val="0"/>
        <c:axId val="448946448"/>
        <c:axId val="1821161936"/>
      </c:lineChart>
      <c:catAx>
        <c:axId val="448946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crossAx val="1821161936"/>
        <c:crosses val="autoZero"/>
        <c:auto val="1"/>
        <c:lblAlgn val="ctr"/>
        <c:lblOffset val="100"/>
        <c:noMultiLvlLbl val="0"/>
      </c:catAx>
      <c:valAx>
        <c:axId val="1821161936"/>
        <c:scaling>
          <c:orientation val="minMax"/>
          <c:max val="80"/>
          <c:min val="6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crossAx val="4489464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890975166565721E-2"/>
          <c:y val="5.1886792452830191E-2"/>
          <c:w val="0.94700646073087014"/>
          <c:h val="0.67388018125092863"/>
        </c:manualLayout>
      </c:layout>
      <c:lineChart>
        <c:grouping val="standard"/>
        <c:varyColors val="0"/>
        <c:ser>
          <c:idx val="0"/>
          <c:order val="0"/>
          <c:tx>
            <c:strRef>
              <c:f>Export!$C$23</c:f>
              <c:strCache>
                <c:ptCount val="1"/>
                <c:pt idx="0">
                  <c:v>Actual In Session Utilisation %</c:v>
                </c:pt>
              </c:strCache>
            </c:strRef>
          </c:tx>
          <c:spPr>
            <a:ln w="22225" cap="rnd">
              <a:solidFill>
                <a:srgbClr val="00A3FF"/>
              </a:solidFill>
              <a:round/>
            </a:ln>
            <a:effectLst/>
          </c:spPr>
          <c:marker>
            <c:symbol val="none"/>
          </c:marker>
          <c:cat>
            <c:numRef>
              <c:f>Export!$B$24:$B$102</c:f>
              <c:numCache>
                <c:formatCode>m/d/yy</c:formatCode>
                <c:ptCount val="79"/>
                <c:pt idx="0">
                  <c:v>44963</c:v>
                </c:pt>
                <c:pt idx="1">
                  <c:v>44970</c:v>
                </c:pt>
                <c:pt idx="2">
                  <c:v>44977</c:v>
                </c:pt>
                <c:pt idx="3">
                  <c:v>44984</c:v>
                </c:pt>
                <c:pt idx="4">
                  <c:v>44991</c:v>
                </c:pt>
                <c:pt idx="5">
                  <c:v>44998</c:v>
                </c:pt>
                <c:pt idx="6">
                  <c:v>45005</c:v>
                </c:pt>
                <c:pt idx="7">
                  <c:v>45012</c:v>
                </c:pt>
                <c:pt idx="8">
                  <c:v>45019</c:v>
                </c:pt>
                <c:pt idx="9">
                  <c:v>45026</c:v>
                </c:pt>
                <c:pt idx="10">
                  <c:v>45033</c:v>
                </c:pt>
                <c:pt idx="11">
                  <c:v>45040</c:v>
                </c:pt>
                <c:pt idx="12">
                  <c:v>45047</c:v>
                </c:pt>
                <c:pt idx="13">
                  <c:v>45054</c:v>
                </c:pt>
                <c:pt idx="14">
                  <c:v>45061</c:v>
                </c:pt>
                <c:pt idx="15">
                  <c:v>45068</c:v>
                </c:pt>
                <c:pt idx="16">
                  <c:v>45075</c:v>
                </c:pt>
                <c:pt idx="17">
                  <c:v>45082</c:v>
                </c:pt>
                <c:pt idx="18">
                  <c:v>45089</c:v>
                </c:pt>
                <c:pt idx="19">
                  <c:v>45096</c:v>
                </c:pt>
                <c:pt idx="20">
                  <c:v>45103</c:v>
                </c:pt>
                <c:pt idx="21">
                  <c:v>45110</c:v>
                </c:pt>
                <c:pt idx="22">
                  <c:v>45117</c:v>
                </c:pt>
                <c:pt idx="23">
                  <c:v>45124</c:v>
                </c:pt>
                <c:pt idx="24">
                  <c:v>45131</c:v>
                </c:pt>
                <c:pt idx="25">
                  <c:v>45138</c:v>
                </c:pt>
                <c:pt idx="26">
                  <c:v>45145</c:v>
                </c:pt>
                <c:pt idx="27">
                  <c:v>45152</c:v>
                </c:pt>
                <c:pt idx="28">
                  <c:v>45159</c:v>
                </c:pt>
                <c:pt idx="29">
                  <c:v>45166</c:v>
                </c:pt>
                <c:pt idx="30">
                  <c:v>45173</c:v>
                </c:pt>
                <c:pt idx="31">
                  <c:v>45180</c:v>
                </c:pt>
                <c:pt idx="32">
                  <c:v>45187</c:v>
                </c:pt>
                <c:pt idx="33">
                  <c:v>45194</c:v>
                </c:pt>
                <c:pt idx="34">
                  <c:v>45201</c:v>
                </c:pt>
                <c:pt idx="35">
                  <c:v>45208</c:v>
                </c:pt>
                <c:pt idx="36">
                  <c:v>45215</c:v>
                </c:pt>
                <c:pt idx="37">
                  <c:v>45222</c:v>
                </c:pt>
                <c:pt idx="38">
                  <c:v>45229</c:v>
                </c:pt>
                <c:pt idx="39">
                  <c:v>45236</c:v>
                </c:pt>
                <c:pt idx="40">
                  <c:v>45243</c:v>
                </c:pt>
                <c:pt idx="41">
                  <c:v>45250</c:v>
                </c:pt>
                <c:pt idx="42">
                  <c:v>45257</c:v>
                </c:pt>
                <c:pt idx="43">
                  <c:v>45264</c:v>
                </c:pt>
                <c:pt idx="44">
                  <c:v>45271</c:v>
                </c:pt>
                <c:pt idx="45">
                  <c:v>45278</c:v>
                </c:pt>
                <c:pt idx="46">
                  <c:v>45285</c:v>
                </c:pt>
                <c:pt idx="47">
                  <c:v>45292</c:v>
                </c:pt>
                <c:pt idx="48">
                  <c:v>45299</c:v>
                </c:pt>
                <c:pt idx="49">
                  <c:v>45306</c:v>
                </c:pt>
                <c:pt idx="50">
                  <c:v>45313</c:v>
                </c:pt>
                <c:pt idx="51">
                  <c:v>45320</c:v>
                </c:pt>
                <c:pt idx="52">
                  <c:v>45327</c:v>
                </c:pt>
                <c:pt idx="53">
                  <c:v>45334</c:v>
                </c:pt>
                <c:pt idx="54">
                  <c:v>45341</c:v>
                </c:pt>
                <c:pt idx="55">
                  <c:v>45348</c:v>
                </c:pt>
                <c:pt idx="56">
                  <c:v>45355</c:v>
                </c:pt>
                <c:pt idx="57">
                  <c:v>45362</c:v>
                </c:pt>
                <c:pt idx="58">
                  <c:v>45369</c:v>
                </c:pt>
                <c:pt idx="59">
                  <c:v>45376</c:v>
                </c:pt>
                <c:pt idx="60">
                  <c:v>45383</c:v>
                </c:pt>
                <c:pt idx="61">
                  <c:v>45390</c:v>
                </c:pt>
                <c:pt idx="62">
                  <c:v>45397</c:v>
                </c:pt>
                <c:pt idx="63">
                  <c:v>45404</c:v>
                </c:pt>
                <c:pt idx="64">
                  <c:v>45411</c:v>
                </c:pt>
                <c:pt idx="65">
                  <c:v>45418</c:v>
                </c:pt>
                <c:pt idx="66">
                  <c:v>45425</c:v>
                </c:pt>
                <c:pt idx="67">
                  <c:v>45432</c:v>
                </c:pt>
                <c:pt idx="68">
                  <c:v>45439</c:v>
                </c:pt>
                <c:pt idx="69">
                  <c:v>45446</c:v>
                </c:pt>
                <c:pt idx="70">
                  <c:v>45453</c:v>
                </c:pt>
                <c:pt idx="71">
                  <c:v>45460</c:v>
                </c:pt>
                <c:pt idx="72">
                  <c:v>45467</c:v>
                </c:pt>
                <c:pt idx="73">
                  <c:v>45474</c:v>
                </c:pt>
                <c:pt idx="74">
                  <c:v>45481</c:v>
                </c:pt>
                <c:pt idx="75">
                  <c:v>45488</c:v>
                </c:pt>
                <c:pt idx="76">
                  <c:v>45495</c:v>
                </c:pt>
                <c:pt idx="77">
                  <c:v>45502</c:v>
                </c:pt>
                <c:pt idx="78">
                  <c:v>45509</c:v>
                </c:pt>
              </c:numCache>
            </c:numRef>
          </c:cat>
          <c:val>
            <c:numRef>
              <c:f>Export!$C$24:$C$102</c:f>
              <c:numCache>
                <c:formatCode>0.00</c:formatCode>
                <c:ptCount val="79"/>
                <c:pt idx="0">
                  <c:v>76.969696977272733</c:v>
                </c:pt>
                <c:pt idx="1">
                  <c:v>64.408602150537632</c:v>
                </c:pt>
                <c:pt idx="2">
                  <c:v>72.731829578947369</c:v>
                </c:pt>
                <c:pt idx="3">
                  <c:v>76.780626786324774</c:v>
                </c:pt>
                <c:pt idx="4">
                  <c:v>67.378917384615377</c:v>
                </c:pt>
                <c:pt idx="5">
                  <c:v>65.895061740740744</c:v>
                </c:pt>
                <c:pt idx="6">
                  <c:v>61.098039223529412</c:v>
                </c:pt>
                <c:pt idx="7">
                  <c:v>69.623655903225796</c:v>
                </c:pt>
                <c:pt idx="8">
                  <c:v>79.379844953488359</c:v>
                </c:pt>
                <c:pt idx="9">
                  <c:v>89.082568807339442</c:v>
                </c:pt>
                <c:pt idx="10">
                  <c:v>84.080996897196272</c:v>
                </c:pt>
                <c:pt idx="11">
                  <c:v>68.966408263565896</c:v>
                </c:pt>
                <c:pt idx="12">
                  <c:v>68.720930232558146</c:v>
                </c:pt>
                <c:pt idx="13">
                  <c:v>86.81681681081082</c:v>
                </c:pt>
                <c:pt idx="14">
                  <c:v>70.841750848484836</c:v>
                </c:pt>
                <c:pt idx="15">
                  <c:v>85.655737704918039</c:v>
                </c:pt>
                <c:pt idx="16">
                  <c:v>82.304964531914905</c:v>
                </c:pt>
                <c:pt idx="17">
                  <c:v>74.604519779661018</c:v>
                </c:pt>
                <c:pt idx="18">
                  <c:v>82.480620155038764</c:v>
                </c:pt>
                <c:pt idx="19">
                  <c:v>59.198717942307702</c:v>
                </c:pt>
                <c:pt idx="20">
                  <c:v>69.966666660000001</c:v>
                </c:pt>
                <c:pt idx="21">
                  <c:v>78.433048427350428</c:v>
                </c:pt>
                <c:pt idx="22">
                  <c:v>76.148867320388362</c:v>
                </c:pt>
                <c:pt idx="23">
                  <c:v>64.434250770642194</c:v>
                </c:pt>
                <c:pt idx="24">
                  <c:v>74.36363636363636</c:v>
                </c:pt>
                <c:pt idx="25">
                  <c:v>83.486005083969474</c:v>
                </c:pt>
                <c:pt idx="26">
                  <c:v>65.345911943396231</c:v>
                </c:pt>
                <c:pt idx="27">
                  <c:v>74.915824909090915</c:v>
                </c:pt>
                <c:pt idx="28">
                  <c:v>81.761517609756098</c:v>
                </c:pt>
                <c:pt idx="29">
                  <c:v>67.628205134615385</c:v>
                </c:pt>
                <c:pt idx="30">
                  <c:v>80</c:v>
                </c:pt>
                <c:pt idx="31">
                  <c:v>73.496732019607848</c:v>
                </c:pt>
                <c:pt idx="32">
                  <c:v>85.563909774436084</c:v>
                </c:pt>
                <c:pt idx="33">
                  <c:v>77.5</c:v>
                </c:pt>
                <c:pt idx="34">
                  <c:v>78.562091509803906</c:v>
                </c:pt>
                <c:pt idx="35">
                  <c:v>81.772486777777772</c:v>
                </c:pt>
                <c:pt idx="36">
                  <c:v>69.519230769230774</c:v>
                </c:pt>
                <c:pt idx="37">
                  <c:v>62.297979803030302</c:v>
                </c:pt>
                <c:pt idx="38">
                  <c:v>69.150326803921573</c:v>
                </c:pt>
                <c:pt idx="39">
                  <c:v>65.522875823529404</c:v>
                </c:pt>
                <c:pt idx="40">
                  <c:v>55.546666672000001</c:v>
                </c:pt>
                <c:pt idx="41">
                  <c:v>66.190476195488728</c:v>
                </c:pt>
                <c:pt idx="42">
                  <c:v>69.3</c:v>
                </c:pt>
                <c:pt idx="43">
                  <c:v>68.17663817094018</c:v>
                </c:pt>
                <c:pt idx="44">
                  <c:v>72.832080195488729</c:v>
                </c:pt>
                <c:pt idx="45">
                  <c:v>80.900900918918921</c:v>
                </c:pt>
                <c:pt idx="46">
                  <c:v>75.797101434782604</c:v>
                </c:pt>
                <c:pt idx="47">
                  <c:v>70.753623182608706</c:v>
                </c:pt>
                <c:pt idx="48">
                  <c:v>65.075757568181814</c:v>
                </c:pt>
                <c:pt idx="49">
                  <c:v>69.508196721311478</c:v>
                </c:pt>
                <c:pt idx="50">
                  <c:v>74.860050885496179</c:v>
                </c:pt>
                <c:pt idx="51">
                  <c:v>77.950819672131146</c:v>
                </c:pt>
                <c:pt idx="52">
                  <c:v>71.23456790740741</c:v>
                </c:pt>
                <c:pt idx="53">
                  <c:v>75.622222226666665</c:v>
                </c:pt>
                <c:pt idx="54">
                  <c:v>76.096866102564093</c:v>
                </c:pt>
                <c:pt idx="55">
                  <c:v>74.160583941605836</c:v>
                </c:pt>
                <c:pt idx="56">
                  <c:v>75.89473684210526</c:v>
                </c:pt>
                <c:pt idx="57">
                  <c:v>78.986666672000013</c:v>
                </c:pt>
                <c:pt idx="58">
                  <c:v>63.557692307692307</c:v>
                </c:pt>
                <c:pt idx="59">
                  <c:v>70.512820519230772</c:v>
                </c:pt>
                <c:pt idx="60">
                  <c:v>64.982456147368424</c:v>
                </c:pt>
                <c:pt idx="61">
                  <c:v>80.057471258620694</c:v>
                </c:pt>
                <c:pt idx="62">
                  <c:v>84.432624106382974</c:v>
                </c:pt>
                <c:pt idx="63">
                  <c:v>74.367816096551721</c:v>
                </c:pt>
                <c:pt idx="64">
                  <c:v>62.517730489361703</c:v>
                </c:pt>
                <c:pt idx="65">
                  <c:v>65.032679738562095</c:v>
                </c:pt>
                <c:pt idx="66">
                  <c:v>61.637931034482762</c:v>
                </c:pt>
                <c:pt idx="67">
                  <c:v>71.602067178294575</c:v>
                </c:pt>
                <c:pt idx="68">
                  <c:v>76.944444439393934</c:v>
                </c:pt>
                <c:pt idx="69">
                  <c:v>81.913043478260875</c:v>
                </c:pt>
                <c:pt idx="70">
                  <c:v>70.479797984848474</c:v>
                </c:pt>
                <c:pt idx="71">
                  <c:v>88.091603053435122</c:v>
                </c:pt>
                <c:pt idx="72">
                  <c:v>62.545931763779528</c:v>
                </c:pt>
                <c:pt idx="73">
                  <c:v>65.169082130434788</c:v>
                </c:pt>
                <c:pt idx="74">
                  <c:v>71.274509803921575</c:v>
                </c:pt>
                <c:pt idx="75">
                  <c:v>76.155913983870974</c:v>
                </c:pt>
                <c:pt idx="76">
                  <c:v>72.849462370967743</c:v>
                </c:pt>
                <c:pt idx="77">
                  <c:v>43.302180691588788</c:v>
                </c:pt>
                <c:pt idx="78">
                  <c:v>67.867867873873863</c:v>
                </c:pt>
              </c:numCache>
            </c:numRef>
          </c:val>
          <c:smooth val="0"/>
          <c:extLst>
            <c:ext xmlns:c16="http://schemas.microsoft.com/office/drawing/2014/chart" uri="{C3380CC4-5D6E-409C-BE32-E72D297353CC}">
              <c16:uniqueId val="{00000000-B885-1740-A568-36A8D4246DF9}"/>
            </c:ext>
          </c:extLst>
        </c:ser>
        <c:ser>
          <c:idx val="1"/>
          <c:order val="1"/>
          <c:tx>
            <c:strRef>
              <c:f>Export!$D$23</c:f>
              <c:strCache>
                <c:ptCount val="1"/>
                <c:pt idx="0">
                  <c:v>Infix Booked %</c:v>
                </c:pt>
              </c:strCache>
            </c:strRef>
          </c:tx>
          <c:spPr>
            <a:ln w="22225" cap="rnd">
              <a:solidFill>
                <a:srgbClr val="33D6B0"/>
              </a:solidFill>
              <a:round/>
            </a:ln>
            <a:effectLst/>
          </c:spPr>
          <c:marker>
            <c:symbol val="none"/>
          </c:marker>
          <c:cat>
            <c:numRef>
              <c:f>Export!$B$24:$B$102</c:f>
              <c:numCache>
                <c:formatCode>m/d/yy</c:formatCode>
                <c:ptCount val="79"/>
                <c:pt idx="0">
                  <c:v>44963</c:v>
                </c:pt>
                <c:pt idx="1">
                  <c:v>44970</c:v>
                </c:pt>
                <c:pt idx="2">
                  <c:v>44977</c:v>
                </c:pt>
                <c:pt idx="3">
                  <c:v>44984</c:v>
                </c:pt>
                <c:pt idx="4">
                  <c:v>44991</c:v>
                </c:pt>
                <c:pt idx="5">
                  <c:v>44998</c:v>
                </c:pt>
                <c:pt idx="6">
                  <c:v>45005</c:v>
                </c:pt>
                <c:pt idx="7">
                  <c:v>45012</c:v>
                </c:pt>
                <c:pt idx="8">
                  <c:v>45019</c:v>
                </c:pt>
                <c:pt idx="9">
                  <c:v>45026</c:v>
                </c:pt>
                <c:pt idx="10">
                  <c:v>45033</c:v>
                </c:pt>
                <c:pt idx="11">
                  <c:v>45040</c:v>
                </c:pt>
                <c:pt idx="12">
                  <c:v>45047</c:v>
                </c:pt>
                <c:pt idx="13">
                  <c:v>45054</c:v>
                </c:pt>
                <c:pt idx="14">
                  <c:v>45061</c:v>
                </c:pt>
                <c:pt idx="15">
                  <c:v>45068</c:v>
                </c:pt>
                <c:pt idx="16">
                  <c:v>45075</c:v>
                </c:pt>
                <c:pt idx="17">
                  <c:v>45082</c:v>
                </c:pt>
                <c:pt idx="18">
                  <c:v>45089</c:v>
                </c:pt>
                <c:pt idx="19">
                  <c:v>45096</c:v>
                </c:pt>
                <c:pt idx="20">
                  <c:v>45103</c:v>
                </c:pt>
                <c:pt idx="21">
                  <c:v>45110</c:v>
                </c:pt>
                <c:pt idx="22">
                  <c:v>45117</c:v>
                </c:pt>
                <c:pt idx="23">
                  <c:v>45124</c:v>
                </c:pt>
                <c:pt idx="24">
                  <c:v>45131</c:v>
                </c:pt>
                <c:pt idx="25">
                  <c:v>45138</c:v>
                </c:pt>
                <c:pt idx="26">
                  <c:v>45145</c:v>
                </c:pt>
                <c:pt idx="27">
                  <c:v>45152</c:v>
                </c:pt>
                <c:pt idx="28">
                  <c:v>45159</c:v>
                </c:pt>
                <c:pt idx="29">
                  <c:v>45166</c:v>
                </c:pt>
                <c:pt idx="30">
                  <c:v>45173</c:v>
                </c:pt>
                <c:pt idx="31">
                  <c:v>45180</c:v>
                </c:pt>
                <c:pt idx="32">
                  <c:v>45187</c:v>
                </c:pt>
                <c:pt idx="33">
                  <c:v>45194</c:v>
                </c:pt>
                <c:pt idx="34">
                  <c:v>45201</c:v>
                </c:pt>
                <c:pt idx="35">
                  <c:v>45208</c:v>
                </c:pt>
                <c:pt idx="36">
                  <c:v>45215</c:v>
                </c:pt>
                <c:pt idx="37">
                  <c:v>45222</c:v>
                </c:pt>
                <c:pt idx="38">
                  <c:v>45229</c:v>
                </c:pt>
                <c:pt idx="39">
                  <c:v>45236</c:v>
                </c:pt>
                <c:pt idx="40">
                  <c:v>45243</c:v>
                </c:pt>
                <c:pt idx="41">
                  <c:v>45250</c:v>
                </c:pt>
                <c:pt idx="42">
                  <c:v>45257</c:v>
                </c:pt>
                <c:pt idx="43">
                  <c:v>45264</c:v>
                </c:pt>
                <c:pt idx="44">
                  <c:v>45271</c:v>
                </c:pt>
                <c:pt idx="45">
                  <c:v>45278</c:v>
                </c:pt>
                <c:pt idx="46">
                  <c:v>45285</c:v>
                </c:pt>
                <c:pt idx="47">
                  <c:v>45292</c:v>
                </c:pt>
                <c:pt idx="48">
                  <c:v>45299</c:v>
                </c:pt>
                <c:pt idx="49">
                  <c:v>45306</c:v>
                </c:pt>
                <c:pt idx="50">
                  <c:v>45313</c:v>
                </c:pt>
                <c:pt idx="51">
                  <c:v>45320</c:v>
                </c:pt>
                <c:pt idx="52">
                  <c:v>45327</c:v>
                </c:pt>
                <c:pt idx="53">
                  <c:v>45334</c:v>
                </c:pt>
                <c:pt idx="54">
                  <c:v>45341</c:v>
                </c:pt>
                <c:pt idx="55">
                  <c:v>45348</c:v>
                </c:pt>
                <c:pt idx="56">
                  <c:v>45355</c:v>
                </c:pt>
                <c:pt idx="57">
                  <c:v>45362</c:v>
                </c:pt>
                <c:pt idx="58">
                  <c:v>45369</c:v>
                </c:pt>
                <c:pt idx="59">
                  <c:v>45376</c:v>
                </c:pt>
                <c:pt idx="60">
                  <c:v>45383</c:v>
                </c:pt>
                <c:pt idx="61">
                  <c:v>45390</c:v>
                </c:pt>
                <c:pt idx="62">
                  <c:v>45397</c:v>
                </c:pt>
                <c:pt idx="63">
                  <c:v>45404</c:v>
                </c:pt>
                <c:pt idx="64">
                  <c:v>45411</c:v>
                </c:pt>
                <c:pt idx="65">
                  <c:v>45418</c:v>
                </c:pt>
                <c:pt idx="66">
                  <c:v>45425</c:v>
                </c:pt>
                <c:pt idx="67">
                  <c:v>45432</c:v>
                </c:pt>
                <c:pt idx="68">
                  <c:v>45439</c:v>
                </c:pt>
                <c:pt idx="69">
                  <c:v>45446</c:v>
                </c:pt>
                <c:pt idx="70">
                  <c:v>45453</c:v>
                </c:pt>
                <c:pt idx="71">
                  <c:v>45460</c:v>
                </c:pt>
                <c:pt idx="72">
                  <c:v>45467</c:v>
                </c:pt>
                <c:pt idx="73">
                  <c:v>45474</c:v>
                </c:pt>
                <c:pt idx="74">
                  <c:v>45481</c:v>
                </c:pt>
                <c:pt idx="75">
                  <c:v>45488</c:v>
                </c:pt>
                <c:pt idx="76">
                  <c:v>45495</c:v>
                </c:pt>
                <c:pt idx="77">
                  <c:v>45502</c:v>
                </c:pt>
                <c:pt idx="78">
                  <c:v>45509</c:v>
                </c:pt>
              </c:numCache>
            </c:numRef>
          </c:cat>
          <c:val>
            <c:numRef>
              <c:f>Export!$D$24:$D$102</c:f>
              <c:numCache>
                <c:formatCode>0.00</c:formatCode>
                <c:ptCount val="79"/>
                <c:pt idx="0">
                  <c:v>76.233333333333334</c:v>
                </c:pt>
                <c:pt idx="1">
                  <c:v>74.15584415584415</c:v>
                </c:pt>
                <c:pt idx="2">
                  <c:v>69.761904761904759</c:v>
                </c:pt>
                <c:pt idx="3">
                  <c:v>83.779761904761898</c:v>
                </c:pt>
                <c:pt idx="4">
                  <c:v>81.97278911564625</c:v>
                </c:pt>
                <c:pt idx="5">
                  <c:v>52.44047619047619</c:v>
                </c:pt>
                <c:pt idx="6">
                  <c:v>81.666666666666671</c:v>
                </c:pt>
                <c:pt idx="7">
                  <c:v>75.780590717299575</c:v>
                </c:pt>
                <c:pt idx="8">
                  <c:v>71.897435897435898</c:v>
                </c:pt>
                <c:pt idx="9">
                  <c:v>84.473684210526329</c:v>
                </c:pt>
                <c:pt idx="10">
                  <c:v>80.882352941176478</c:v>
                </c:pt>
                <c:pt idx="11">
                  <c:v>88.856209150326805</c:v>
                </c:pt>
                <c:pt idx="12">
                  <c:v>77.844827586206904</c:v>
                </c:pt>
                <c:pt idx="13">
                  <c:v>79.783549783549773</c:v>
                </c:pt>
                <c:pt idx="14">
                  <c:v>85.641025641025635</c:v>
                </c:pt>
                <c:pt idx="15">
                  <c:v>77.422680412371122</c:v>
                </c:pt>
                <c:pt idx="16">
                  <c:v>72.191358024691354</c:v>
                </c:pt>
                <c:pt idx="17">
                  <c:v>73.257575757575751</c:v>
                </c:pt>
                <c:pt idx="18">
                  <c:v>77.447447447447445</c:v>
                </c:pt>
                <c:pt idx="19">
                  <c:v>74.079999999999984</c:v>
                </c:pt>
                <c:pt idx="20">
                  <c:v>81.59779614325069</c:v>
                </c:pt>
                <c:pt idx="21">
                  <c:v>78.954248366013076</c:v>
                </c:pt>
                <c:pt idx="22">
                  <c:v>86.871345029239762</c:v>
                </c:pt>
                <c:pt idx="23">
                  <c:v>86.093189964157702</c:v>
                </c:pt>
                <c:pt idx="24">
                  <c:v>85.340501792114694</c:v>
                </c:pt>
                <c:pt idx="25">
                  <c:v>80.420420420420427</c:v>
                </c:pt>
                <c:pt idx="26">
                  <c:v>79.600000000000009</c:v>
                </c:pt>
                <c:pt idx="27">
                  <c:v>86.186186186186191</c:v>
                </c:pt>
                <c:pt idx="28">
                  <c:v>87.508771929824576</c:v>
                </c:pt>
                <c:pt idx="29">
                  <c:v>59.249999999999993</c:v>
                </c:pt>
                <c:pt idx="30">
                  <c:v>85.433333333333337</c:v>
                </c:pt>
                <c:pt idx="31">
                  <c:v>92.764227642276424</c:v>
                </c:pt>
                <c:pt idx="32">
                  <c:v>95.601374570446737</c:v>
                </c:pt>
                <c:pt idx="33">
                  <c:v>91.75</c:v>
                </c:pt>
                <c:pt idx="34">
                  <c:v>76</c:v>
                </c:pt>
                <c:pt idx="35">
                  <c:v>83.828382838283829</c:v>
                </c:pt>
                <c:pt idx="36">
                  <c:v>93.361581920903959</c:v>
                </c:pt>
                <c:pt idx="37">
                  <c:v>90.070175438596493</c:v>
                </c:pt>
                <c:pt idx="38">
                  <c:v>75.555555555555557</c:v>
                </c:pt>
                <c:pt idx="39">
                  <c:v>79.108527131782949</c:v>
                </c:pt>
                <c:pt idx="40">
                  <c:v>90.350877192982452</c:v>
                </c:pt>
                <c:pt idx="41">
                  <c:v>75.333333333333329</c:v>
                </c:pt>
                <c:pt idx="42">
                  <c:v>85.653333333333322</c:v>
                </c:pt>
                <c:pt idx="43">
                  <c:v>76.860465116279059</c:v>
                </c:pt>
                <c:pt idx="44">
                  <c:v>77.846607669616517</c:v>
                </c:pt>
                <c:pt idx="45">
                  <c:v>79.224806201550393</c:v>
                </c:pt>
                <c:pt idx="46">
                  <c:v>118.91891891891892</c:v>
                </c:pt>
                <c:pt idx="47">
                  <c:v>80.217391304347814</c:v>
                </c:pt>
                <c:pt idx="48">
                  <c:v>82.882882882882882</c:v>
                </c:pt>
                <c:pt idx="49">
                  <c:v>93.128205128205124</c:v>
                </c:pt>
                <c:pt idx="50">
                  <c:v>83.748169838945827</c:v>
                </c:pt>
                <c:pt idx="51">
                  <c:v>93.424657534246577</c:v>
                </c:pt>
                <c:pt idx="52">
                  <c:v>71.925287356321846</c:v>
                </c:pt>
                <c:pt idx="53">
                  <c:v>80.27681660899654</c:v>
                </c:pt>
                <c:pt idx="54">
                  <c:v>86.064073226544622</c:v>
                </c:pt>
                <c:pt idx="55">
                  <c:v>84.610591900311533</c:v>
                </c:pt>
                <c:pt idx="56">
                  <c:v>89.436274509803923</c:v>
                </c:pt>
                <c:pt idx="57">
                  <c:v>92.384615384615373</c:v>
                </c:pt>
                <c:pt idx="58">
                  <c:v>85.903954802259889</c:v>
                </c:pt>
                <c:pt idx="59">
                  <c:v>87.204724409448815</c:v>
                </c:pt>
                <c:pt idx="60">
                  <c:v>89.846041055718473</c:v>
                </c:pt>
                <c:pt idx="61">
                  <c:v>93.29710144927536</c:v>
                </c:pt>
                <c:pt idx="62">
                  <c:v>85.897435897435898</c:v>
                </c:pt>
                <c:pt idx="63">
                  <c:v>70.570175438596493</c:v>
                </c:pt>
                <c:pt idx="64">
                  <c:v>74.494117647058829</c:v>
                </c:pt>
                <c:pt idx="65">
                  <c:v>77.903780068728523</c:v>
                </c:pt>
                <c:pt idx="66">
                  <c:v>86.928406466512698</c:v>
                </c:pt>
                <c:pt idx="67">
                  <c:v>81.820987654320987</c:v>
                </c:pt>
                <c:pt idx="68">
                  <c:v>84.184210526315795</c:v>
                </c:pt>
                <c:pt idx="69">
                  <c:v>85.717948717948715</c:v>
                </c:pt>
                <c:pt idx="70">
                  <c:v>71.164179104477611</c:v>
                </c:pt>
                <c:pt idx="71">
                  <c:v>78.362068965517253</c:v>
                </c:pt>
                <c:pt idx="72">
                  <c:v>79.21182266009852</c:v>
                </c:pt>
                <c:pt idx="73">
                  <c:v>72.148997134670495</c:v>
                </c:pt>
                <c:pt idx="74">
                  <c:v>70</c:v>
                </c:pt>
                <c:pt idx="75">
                  <c:v>66.195286195286201</c:v>
                </c:pt>
                <c:pt idx="76">
                  <c:v>80.831168831168839</c:v>
                </c:pt>
                <c:pt idx="77">
                  <c:v>75.874316939890704</c:v>
                </c:pt>
                <c:pt idx="78">
                  <c:v>70.974842767295598</c:v>
                </c:pt>
              </c:numCache>
            </c:numRef>
          </c:val>
          <c:smooth val="0"/>
          <c:extLst>
            <c:ext xmlns:c16="http://schemas.microsoft.com/office/drawing/2014/chart" uri="{C3380CC4-5D6E-409C-BE32-E72D297353CC}">
              <c16:uniqueId val="{00000001-B885-1740-A568-36A8D4246DF9}"/>
            </c:ext>
          </c:extLst>
        </c:ser>
        <c:ser>
          <c:idx val="2"/>
          <c:order val="2"/>
          <c:tx>
            <c:strRef>
              <c:f>Export!$E$23</c:f>
              <c:strCache>
                <c:ptCount val="1"/>
                <c:pt idx="0">
                  <c:v>Surgeon Booked %</c:v>
                </c:pt>
              </c:strCache>
            </c:strRef>
          </c:tx>
          <c:spPr>
            <a:ln w="22225" cap="rnd">
              <a:solidFill>
                <a:srgbClr val="EF4F42"/>
              </a:solidFill>
              <a:round/>
            </a:ln>
            <a:effectLst/>
          </c:spPr>
          <c:marker>
            <c:symbol val="none"/>
          </c:marker>
          <c:cat>
            <c:numRef>
              <c:f>Export!$B$24:$B$102</c:f>
              <c:numCache>
                <c:formatCode>m/d/yy</c:formatCode>
                <c:ptCount val="79"/>
                <c:pt idx="0">
                  <c:v>44963</c:v>
                </c:pt>
                <c:pt idx="1">
                  <c:v>44970</c:v>
                </c:pt>
                <c:pt idx="2">
                  <c:v>44977</c:v>
                </c:pt>
                <c:pt idx="3">
                  <c:v>44984</c:v>
                </c:pt>
                <c:pt idx="4">
                  <c:v>44991</c:v>
                </c:pt>
                <c:pt idx="5">
                  <c:v>44998</c:v>
                </c:pt>
                <c:pt idx="6">
                  <c:v>45005</c:v>
                </c:pt>
                <c:pt idx="7">
                  <c:v>45012</c:v>
                </c:pt>
                <c:pt idx="8">
                  <c:v>45019</c:v>
                </c:pt>
                <c:pt idx="9">
                  <c:v>45026</c:v>
                </c:pt>
                <c:pt idx="10">
                  <c:v>45033</c:v>
                </c:pt>
                <c:pt idx="11">
                  <c:v>45040</c:v>
                </c:pt>
                <c:pt idx="12">
                  <c:v>45047</c:v>
                </c:pt>
                <c:pt idx="13">
                  <c:v>45054</c:v>
                </c:pt>
                <c:pt idx="14">
                  <c:v>45061</c:v>
                </c:pt>
                <c:pt idx="15">
                  <c:v>45068</c:v>
                </c:pt>
                <c:pt idx="16">
                  <c:v>45075</c:v>
                </c:pt>
                <c:pt idx="17">
                  <c:v>45082</c:v>
                </c:pt>
                <c:pt idx="18">
                  <c:v>45089</c:v>
                </c:pt>
                <c:pt idx="19">
                  <c:v>45096</c:v>
                </c:pt>
                <c:pt idx="20">
                  <c:v>45103</c:v>
                </c:pt>
                <c:pt idx="21">
                  <c:v>45110</c:v>
                </c:pt>
                <c:pt idx="22">
                  <c:v>45117</c:v>
                </c:pt>
                <c:pt idx="23">
                  <c:v>45124</c:v>
                </c:pt>
                <c:pt idx="24">
                  <c:v>45131</c:v>
                </c:pt>
                <c:pt idx="25">
                  <c:v>45138</c:v>
                </c:pt>
                <c:pt idx="26">
                  <c:v>45145</c:v>
                </c:pt>
                <c:pt idx="27">
                  <c:v>45152</c:v>
                </c:pt>
                <c:pt idx="28">
                  <c:v>45159</c:v>
                </c:pt>
                <c:pt idx="29">
                  <c:v>45166</c:v>
                </c:pt>
                <c:pt idx="30">
                  <c:v>45173</c:v>
                </c:pt>
                <c:pt idx="31">
                  <c:v>45180</c:v>
                </c:pt>
                <c:pt idx="32">
                  <c:v>45187</c:v>
                </c:pt>
                <c:pt idx="33">
                  <c:v>45194</c:v>
                </c:pt>
                <c:pt idx="34">
                  <c:v>45201</c:v>
                </c:pt>
                <c:pt idx="35">
                  <c:v>45208</c:v>
                </c:pt>
                <c:pt idx="36">
                  <c:v>45215</c:v>
                </c:pt>
                <c:pt idx="37">
                  <c:v>45222</c:v>
                </c:pt>
                <c:pt idx="38">
                  <c:v>45229</c:v>
                </c:pt>
                <c:pt idx="39">
                  <c:v>45236</c:v>
                </c:pt>
                <c:pt idx="40">
                  <c:v>45243</c:v>
                </c:pt>
                <c:pt idx="41">
                  <c:v>45250</c:v>
                </c:pt>
                <c:pt idx="42">
                  <c:v>45257</c:v>
                </c:pt>
                <c:pt idx="43">
                  <c:v>45264</c:v>
                </c:pt>
                <c:pt idx="44">
                  <c:v>45271</c:v>
                </c:pt>
                <c:pt idx="45">
                  <c:v>45278</c:v>
                </c:pt>
                <c:pt idx="46">
                  <c:v>45285</c:v>
                </c:pt>
                <c:pt idx="47">
                  <c:v>45292</c:v>
                </c:pt>
                <c:pt idx="48">
                  <c:v>45299</c:v>
                </c:pt>
                <c:pt idx="49">
                  <c:v>45306</c:v>
                </c:pt>
                <c:pt idx="50">
                  <c:v>45313</c:v>
                </c:pt>
                <c:pt idx="51">
                  <c:v>45320</c:v>
                </c:pt>
                <c:pt idx="52">
                  <c:v>45327</c:v>
                </c:pt>
                <c:pt idx="53">
                  <c:v>45334</c:v>
                </c:pt>
                <c:pt idx="54">
                  <c:v>45341</c:v>
                </c:pt>
                <c:pt idx="55">
                  <c:v>45348</c:v>
                </c:pt>
                <c:pt idx="56">
                  <c:v>45355</c:v>
                </c:pt>
                <c:pt idx="57">
                  <c:v>45362</c:v>
                </c:pt>
                <c:pt idx="58">
                  <c:v>45369</c:v>
                </c:pt>
                <c:pt idx="59">
                  <c:v>45376</c:v>
                </c:pt>
                <c:pt idx="60">
                  <c:v>45383</c:v>
                </c:pt>
                <c:pt idx="61">
                  <c:v>45390</c:v>
                </c:pt>
                <c:pt idx="62">
                  <c:v>45397</c:v>
                </c:pt>
                <c:pt idx="63">
                  <c:v>45404</c:v>
                </c:pt>
                <c:pt idx="64">
                  <c:v>45411</c:v>
                </c:pt>
                <c:pt idx="65">
                  <c:v>45418</c:v>
                </c:pt>
                <c:pt idx="66">
                  <c:v>45425</c:v>
                </c:pt>
                <c:pt idx="67">
                  <c:v>45432</c:v>
                </c:pt>
                <c:pt idx="68">
                  <c:v>45439</c:v>
                </c:pt>
                <c:pt idx="69">
                  <c:v>45446</c:v>
                </c:pt>
                <c:pt idx="70">
                  <c:v>45453</c:v>
                </c:pt>
                <c:pt idx="71">
                  <c:v>45460</c:v>
                </c:pt>
                <c:pt idx="72">
                  <c:v>45467</c:v>
                </c:pt>
                <c:pt idx="73">
                  <c:v>45474</c:v>
                </c:pt>
                <c:pt idx="74">
                  <c:v>45481</c:v>
                </c:pt>
                <c:pt idx="75">
                  <c:v>45488</c:v>
                </c:pt>
                <c:pt idx="76">
                  <c:v>45495</c:v>
                </c:pt>
                <c:pt idx="77">
                  <c:v>45502</c:v>
                </c:pt>
                <c:pt idx="78">
                  <c:v>45509</c:v>
                </c:pt>
              </c:numCache>
            </c:numRef>
          </c:cat>
          <c:val>
            <c:numRef>
              <c:f>Export!$E$24:$E$102</c:f>
              <c:numCache>
                <c:formatCode>0.00</c:formatCode>
                <c:ptCount val="79"/>
                <c:pt idx="0">
                  <c:v>106.26666666666667</c:v>
                </c:pt>
                <c:pt idx="1">
                  <c:v>83.896103896103895</c:v>
                </c:pt>
                <c:pt idx="2">
                  <c:v>75.753968253968253</c:v>
                </c:pt>
                <c:pt idx="3">
                  <c:v>94.464285714285708</c:v>
                </c:pt>
                <c:pt idx="4">
                  <c:v>113.33333333333333</c:v>
                </c:pt>
                <c:pt idx="5">
                  <c:v>85.654761904761912</c:v>
                </c:pt>
                <c:pt idx="6">
                  <c:v>118.84920634920636</c:v>
                </c:pt>
                <c:pt idx="7">
                  <c:v>82.700421940928265</c:v>
                </c:pt>
                <c:pt idx="8">
                  <c:v>83.282051282051285</c:v>
                </c:pt>
                <c:pt idx="9">
                  <c:v>103.37719298245614</c:v>
                </c:pt>
                <c:pt idx="10">
                  <c:v>85.588235294117638</c:v>
                </c:pt>
                <c:pt idx="11">
                  <c:v>100.718954248366</c:v>
                </c:pt>
                <c:pt idx="12">
                  <c:v>94.482758620689651</c:v>
                </c:pt>
                <c:pt idx="13">
                  <c:v>101.08225108225109</c:v>
                </c:pt>
                <c:pt idx="14">
                  <c:v>92.884615384615373</c:v>
                </c:pt>
                <c:pt idx="15">
                  <c:v>99.896907216494839</c:v>
                </c:pt>
                <c:pt idx="16">
                  <c:v>98.641975308641975</c:v>
                </c:pt>
                <c:pt idx="17">
                  <c:v>94.924242424242422</c:v>
                </c:pt>
                <c:pt idx="18">
                  <c:v>97.417417417417411</c:v>
                </c:pt>
                <c:pt idx="19">
                  <c:v>99.52000000000001</c:v>
                </c:pt>
                <c:pt idx="20">
                  <c:v>92.286501377410474</c:v>
                </c:pt>
                <c:pt idx="21">
                  <c:v>89.934640522875824</c:v>
                </c:pt>
                <c:pt idx="22">
                  <c:v>94.122807017543849</c:v>
                </c:pt>
                <c:pt idx="23">
                  <c:v>100.89605734767024</c:v>
                </c:pt>
                <c:pt idx="24">
                  <c:v>90.967741935483872</c:v>
                </c:pt>
                <c:pt idx="25">
                  <c:v>92.162162162162161</c:v>
                </c:pt>
                <c:pt idx="26">
                  <c:v>96.373333333333335</c:v>
                </c:pt>
                <c:pt idx="27">
                  <c:v>89.189189189189193</c:v>
                </c:pt>
                <c:pt idx="28">
                  <c:v>96.10526315789474</c:v>
                </c:pt>
                <c:pt idx="29">
                  <c:v>95.611111111111114</c:v>
                </c:pt>
                <c:pt idx="30">
                  <c:v>93.033333333333331</c:v>
                </c:pt>
                <c:pt idx="31">
                  <c:v>100.62330623306232</c:v>
                </c:pt>
                <c:pt idx="32">
                  <c:v>103.2302405498282</c:v>
                </c:pt>
                <c:pt idx="33">
                  <c:v>101.22222222222221</c:v>
                </c:pt>
                <c:pt idx="34">
                  <c:v>87.739130434782609</c:v>
                </c:pt>
                <c:pt idx="35">
                  <c:v>103.96039603960396</c:v>
                </c:pt>
                <c:pt idx="36">
                  <c:v>107.62711864406779</c:v>
                </c:pt>
                <c:pt idx="37">
                  <c:v>101.0877192982456</c:v>
                </c:pt>
                <c:pt idx="38">
                  <c:v>99.972899728997291</c:v>
                </c:pt>
                <c:pt idx="39">
                  <c:v>108.44961240310079</c:v>
                </c:pt>
                <c:pt idx="40">
                  <c:v>99.719298245614041</c:v>
                </c:pt>
                <c:pt idx="41">
                  <c:v>95.7</c:v>
                </c:pt>
                <c:pt idx="42">
                  <c:v>94.986666666666665</c:v>
                </c:pt>
                <c:pt idx="43">
                  <c:v>72.751937984496124</c:v>
                </c:pt>
                <c:pt idx="44">
                  <c:v>102.21238938053096</c:v>
                </c:pt>
                <c:pt idx="45">
                  <c:v>90.258397932816536</c:v>
                </c:pt>
                <c:pt idx="46">
                  <c:v>110.36036036036036</c:v>
                </c:pt>
                <c:pt idx="47">
                  <c:v>96.304347826086953</c:v>
                </c:pt>
                <c:pt idx="48">
                  <c:v>102.07207207207207</c:v>
                </c:pt>
                <c:pt idx="49">
                  <c:v>108.71794871794873</c:v>
                </c:pt>
                <c:pt idx="50">
                  <c:v>98.360175695461209</c:v>
                </c:pt>
                <c:pt idx="51">
                  <c:v>101.8904109589041</c:v>
                </c:pt>
                <c:pt idx="52">
                  <c:v>98.304597701149419</c:v>
                </c:pt>
                <c:pt idx="53">
                  <c:v>96.85121107266437</c:v>
                </c:pt>
                <c:pt idx="54">
                  <c:v>98.054919908466829</c:v>
                </c:pt>
                <c:pt idx="55">
                  <c:v>97.819314641744555</c:v>
                </c:pt>
                <c:pt idx="56">
                  <c:v>99.044117647058812</c:v>
                </c:pt>
                <c:pt idx="57">
                  <c:v>110.07692307692307</c:v>
                </c:pt>
                <c:pt idx="58">
                  <c:v>100.45197740112994</c:v>
                </c:pt>
                <c:pt idx="59">
                  <c:v>92.362204724409452</c:v>
                </c:pt>
                <c:pt idx="60">
                  <c:v>97.947214076246325</c:v>
                </c:pt>
                <c:pt idx="61">
                  <c:v>99.166666666666671</c:v>
                </c:pt>
                <c:pt idx="62">
                  <c:v>99.173789173789174</c:v>
                </c:pt>
                <c:pt idx="63">
                  <c:v>100.57017543859649</c:v>
                </c:pt>
                <c:pt idx="64">
                  <c:v>98.941176470588232</c:v>
                </c:pt>
                <c:pt idx="65">
                  <c:v>101.71821305841924</c:v>
                </c:pt>
                <c:pt idx="66">
                  <c:v>101.82448036951502</c:v>
                </c:pt>
                <c:pt idx="67">
                  <c:v>101.38888888888889</c:v>
                </c:pt>
                <c:pt idx="68">
                  <c:v>96.131578947368411</c:v>
                </c:pt>
                <c:pt idx="69">
                  <c:v>105.05128205128204</c:v>
                </c:pt>
                <c:pt idx="70">
                  <c:v>95.223880597014926</c:v>
                </c:pt>
                <c:pt idx="71">
                  <c:v>100.02873563218391</c:v>
                </c:pt>
                <c:pt idx="72">
                  <c:v>95.64039408866995</c:v>
                </c:pt>
                <c:pt idx="73">
                  <c:v>88.767908309455592</c:v>
                </c:pt>
                <c:pt idx="74">
                  <c:v>90.839895013123353</c:v>
                </c:pt>
                <c:pt idx="75">
                  <c:v>91.515151515151501</c:v>
                </c:pt>
                <c:pt idx="76">
                  <c:v>94.337662337662337</c:v>
                </c:pt>
                <c:pt idx="77">
                  <c:v>95.081967213114751</c:v>
                </c:pt>
                <c:pt idx="78">
                  <c:v>102.70440251572326</c:v>
                </c:pt>
              </c:numCache>
            </c:numRef>
          </c:val>
          <c:smooth val="0"/>
          <c:extLst>
            <c:ext xmlns:c16="http://schemas.microsoft.com/office/drawing/2014/chart" uri="{C3380CC4-5D6E-409C-BE32-E72D297353CC}">
              <c16:uniqueId val="{00000002-B885-1740-A568-36A8D4246DF9}"/>
            </c:ext>
          </c:extLst>
        </c:ser>
        <c:dLbls>
          <c:showLegendKey val="0"/>
          <c:showVal val="0"/>
          <c:showCatName val="0"/>
          <c:showSerName val="0"/>
          <c:showPercent val="0"/>
          <c:showBubbleSize val="0"/>
        </c:dLbls>
        <c:smooth val="0"/>
        <c:axId val="1922774911"/>
        <c:axId val="1921901071"/>
      </c:lineChart>
      <c:dateAx>
        <c:axId val="1922774911"/>
        <c:scaling>
          <c:orientation val="minMax"/>
        </c:scaling>
        <c:delete val="1"/>
        <c:axPos val="b"/>
        <c:numFmt formatCode="m/d/yy" sourceLinked="1"/>
        <c:majorTickMark val="none"/>
        <c:minorTickMark val="none"/>
        <c:tickLblPos val="nextTo"/>
        <c:crossAx val="1921901071"/>
        <c:crosses val="autoZero"/>
        <c:auto val="0"/>
        <c:lblOffset val="100"/>
        <c:baseTimeUnit val="days"/>
      </c:dateAx>
      <c:valAx>
        <c:axId val="1921901071"/>
        <c:scaling>
          <c:orientation val="minMax"/>
          <c:max val="140"/>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227749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spc="20" baseline="0">
                <a:solidFill>
                  <a:schemeClr val="tx2"/>
                </a:solidFill>
                <a:latin typeface="Lexend" pitchFamily="2" charset="77"/>
                <a:ea typeface="+mn-ea"/>
                <a:cs typeface="+mn-cs"/>
              </a:defRPr>
            </a:pPr>
            <a:r>
              <a:rPr lang="en-GB" b="1" i="0">
                <a:solidFill>
                  <a:schemeClr val="tx2"/>
                </a:solidFill>
                <a:latin typeface="Lexend" pitchFamily="2" charset="77"/>
              </a:rPr>
              <a:t>Plastic Booking %</a:t>
            </a:r>
          </a:p>
        </c:rich>
      </c:tx>
      <c:overlay val="1"/>
      <c:spPr>
        <a:noFill/>
        <a:ln>
          <a:noFill/>
        </a:ln>
        <a:effectLst/>
      </c:spPr>
      <c:txPr>
        <a:bodyPr rot="0" spcFirstLastPara="1" vertOverflow="ellipsis" vert="horz" wrap="square" anchor="ctr" anchorCtr="1"/>
        <a:lstStyle/>
        <a:p>
          <a:pPr>
            <a:defRPr sz="1400" b="1" i="0" u="none" strike="noStrike" kern="1200" cap="none" spc="20" baseline="0">
              <a:solidFill>
                <a:schemeClr val="tx2"/>
              </a:solidFill>
              <a:latin typeface="Lexend" pitchFamily="2" charset="77"/>
              <a:ea typeface="+mn-ea"/>
              <a:cs typeface="+mn-cs"/>
            </a:defRPr>
          </a:pPr>
          <a:endParaRPr lang="en-US"/>
        </a:p>
      </c:txPr>
    </c:title>
    <c:autoTitleDeleted val="0"/>
    <c:plotArea>
      <c:layout/>
      <c:lineChart>
        <c:grouping val="standard"/>
        <c:varyColors val="0"/>
        <c:ser>
          <c:idx val="1"/>
          <c:order val="1"/>
          <c:tx>
            <c:strRef>
              <c:f>Plastic!$O$1</c:f>
              <c:strCache>
                <c:ptCount val="1"/>
                <c:pt idx="0">
                  <c:v>Surgeon estimated %</c:v>
                </c:pt>
              </c:strCache>
            </c:strRef>
          </c:tx>
          <c:spPr>
            <a:ln w="15875" cap="rnd">
              <a:solidFill>
                <a:schemeClr val="accent3"/>
              </a:solidFill>
              <a:round/>
            </a:ln>
            <a:effectLst/>
          </c:spPr>
          <c:marker>
            <c:symbol val="none"/>
          </c:marker>
          <c:cat>
            <c:numRef>
              <c:f>Plastic!$D$2:$D$97</c:f>
              <c:numCache>
                <c:formatCode>m/d/yyyy</c:formatCode>
                <c:ptCount val="96"/>
                <c:pt idx="0">
                  <c:v>44927</c:v>
                </c:pt>
                <c:pt idx="1">
                  <c:v>44934</c:v>
                </c:pt>
                <c:pt idx="2">
                  <c:v>44941</c:v>
                </c:pt>
                <c:pt idx="3">
                  <c:v>44948</c:v>
                </c:pt>
                <c:pt idx="4">
                  <c:v>44955</c:v>
                </c:pt>
                <c:pt idx="5">
                  <c:v>44962</c:v>
                </c:pt>
                <c:pt idx="6">
                  <c:v>44969</c:v>
                </c:pt>
                <c:pt idx="7">
                  <c:v>44976</c:v>
                </c:pt>
                <c:pt idx="8">
                  <c:v>44983</c:v>
                </c:pt>
                <c:pt idx="9">
                  <c:v>44990</c:v>
                </c:pt>
                <c:pt idx="10">
                  <c:v>44997</c:v>
                </c:pt>
                <c:pt idx="11">
                  <c:v>45004</c:v>
                </c:pt>
                <c:pt idx="12">
                  <c:v>45011</c:v>
                </c:pt>
                <c:pt idx="13">
                  <c:v>45018</c:v>
                </c:pt>
                <c:pt idx="14">
                  <c:v>45025</c:v>
                </c:pt>
                <c:pt idx="15">
                  <c:v>45032</c:v>
                </c:pt>
                <c:pt idx="16">
                  <c:v>45039</c:v>
                </c:pt>
                <c:pt idx="17">
                  <c:v>45046</c:v>
                </c:pt>
                <c:pt idx="18">
                  <c:v>45053</c:v>
                </c:pt>
                <c:pt idx="19">
                  <c:v>45060</c:v>
                </c:pt>
                <c:pt idx="20">
                  <c:v>45067</c:v>
                </c:pt>
                <c:pt idx="21">
                  <c:v>45074</c:v>
                </c:pt>
                <c:pt idx="22">
                  <c:v>45081</c:v>
                </c:pt>
                <c:pt idx="23">
                  <c:v>45088</c:v>
                </c:pt>
                <c:pt idx="24">
                  <c:v>45095</c:v>
                </c:pt>
                <c:pt idx="25">
                  <c:v>45102</c:v>
                </c:pt>
                <c:pt idx="26">
                  <c:v>45109</c:v>
                </c:pt>
                <c:pt idx="27">
                  <c:v>45116</c:v>
                </c:pt>
                <c:pt idx="28">
                  <c:v>45123</c:v>
                </c:pt>
                <c:pt idx="29">
                  <c:v>45130</c:v>
                </c:pt>
                <c:pt idx="30">
                  <c:v>45137</c:v>
                </c:pt>
                <c:pt idx="31">
                  <c:v>45144</c:v>
                </c:pt>
                <c:pt idx="32">
                  <c:v>45151</c:v>
                </c:pt>
                <c:pt idx="33">
                  <c:v>45158</c:v>
                </c:pt>
                <c:pt idx="34">
                  <c:v>45165</c:v>
                </c:pt>
                <c:pt idx="35">
                  <c:v>45172</c:v>
                </c:pt>
                <c:pt idx="36">
                  <c:v>45179</c:v>
                </c:pt>
                <c:pt idx="37">
                  <c:v>45186</c:v>
                </c:pt>
                <c:pt idx="38">
                  <c:v>45193</c:v>
                </c:pt>
                <c:pt idx="39">
                  <c:v>45200</c:v>
                </c:pt>
                <c:pt idx="40">
                  <c:v>45207</c:v>
                </c:pt>
                <c:pt idx="41">
                  <c:v>45214</c:v>
                </c:pt>
                <c:pt idx="42">
                  <c:v>45221</c:v>
                </c:pt>
                <c:pt idx="43">
                  <c:v>45228</c:v>
                </c:pt>
                <c:pt idx="44">
                  <c:v>45235</c:v>
                </c:pt>
                <c:pt idx="45">
                  <c:v>45242</c:v>
                </c:pt>
                <c:pt idx="46">
                  <c:v>45249</c:v>
                </c:pt>
                <c:pt idx="47">
                  <c:v>45256</c:v>
                </c:pt>
                <c:pt idx="48">
                  <c:v>45263</c:v>
                </c:pt>
                <c:pt idx="49">
                  <c:v>45270</c:v>
                </c:pt>
                <c:pt idx="50">
                  <c:v>45277</c:v>
                </c:pt>
                <c:pt idx="51">
                  <c:v>45284</c:v>
                </c:pt>
                <c:pt idx="52">
                  <c:v>45291</c:v>
                </c:pt>
                <c:pt idx="53">
                  <c:v>45298</c:v>
                </c:pt>
                <c:pt idx="54">
                  <c:v>45305</c:v>
                </c:pt>
                <c:pt idx="55">
                  <c:v>45312</c:v>
                </c:pt>
                <c:pt idx="56">
                  <c:v>45319</c:v>
                </c:pt>
                <c:pt idx="57">
                  <c:v>45326</c:v>
                </c:pt>
                <c:pt idx="58">
                  <c:v>45333</c:v>
                </c:pt>
                <c:pt idx="59">
                  <c:v>45340</c:v>
                </c:pt>
                <c:pt idx="60">
                  <c:v>45347</c:v>
                </c:pt>
                <c:pt idx="61">
                  <c:v>45354</c:v>
                </c:pt>
                <c:pt idx="62">
                  <c:v>45361</c:v>
                </c:pt>
                <c:pt idx="63">
                  <c:v>45368</c:v>
                </c:pt>
                <c:pt idx="64">
                  <c:v>45375</c:v>
                </c:pt>
                <c:pt idx="65">
                  <c:v>45382</c:v>
                </c:pt>
                <c:pt idx="66">
                  <c:v>45389</c:v>
                </c:pt>
                <c:pt idx="67">
                  <c:v>45396</c:v>
                </c:pt>
                <c:pt idx="68">
                  <c:v>45403</c:v>
                </c:pt>
                <c:pt idx="69">
                  <c:v>45410</c:v>
                </c:pt>
                <c:pt idx="70">
                  <c:v>45417</c:v>
                </c:pt>
                <c:pt idx="71">
                  <c:v>45424</c:v>
                </c:pt>
                <c:pt idx="72">
                  <c:v>45431</c:v>
                </c:pt>
                <c:pt idx="73">
                  <c:v>45438</c:v>
                </c:pt>
                <c:pt idx="74">
                  <c:v>45445</c:v>
                </c:pt>
                <c:pt idx="75">
                  <c:v>45452</c:v>
                </c:pt>
                <c:pt idx="76">
                  <c:v>45459</c:v>
                </c:pt>
                <c:pt idx="77">
                  <c:v>45466</c:v>
                </c:pt>
                <c:pt idx="78">
                  <c:v>45473</c:v>
                </c:pt>
                <c:pt idx="79">
                  <c:v>45480</c:v>
                </c:pt>
                <c:pt idx="80">
                  <c:v>45487</c:v>
                </c:pt>
                <c:pt idx="81">
                  <c:v>45494</c:v>
                </c:pt>
                <c:pt idx="82">
                  <c:v>45501</c:v>
                </c:pt>
                <c:pt idx="83">
                  <c:v>45508</c:v>
                </c:pt>
                <c:pt idx="84">
                  <c:v>45515</c:v>
                </c:pt>
                <c:pt idx="85">
                  <c:v>45522</c:v>
                </c:pt>
                <c:pt idx="86">
                  <c:v>45529</c:v>
                </c:pt>
                <c:pt idx="87">
                  <c:v>45536</c:v>
                </c:pt>
                <c:pt idx="88">
                  <c:v>45543</c:v>
                </c:pt>
                <c:pt idx="89">
                  <c:v>45550</c:v>
                </c:pt>
                <c:pt idx="90">
                  <c:v>45557</c:v>
                </c:pt>
                <c:pt idx="91">
                  <c:v>45564</c:v>
                </c:pt>
                <c:pt idx="92">
                  <c:v>45571</c:v>
                </c:pt>
                <c:pt idx="93">
                  <c:v>45578</c:v>
                </c:pt>
                <c:pt idx="94">
                  <c:v>45585</c:v>
                </c:pt>
                <c:pt idx="95">
                  <c:v>45592</c:v>
                </c:pt>
              </c:numCache>
            </c:numRef>
          </c:cat>
          <c:val>
            <c:numRef>
              <c:f>Plastic!$O$2:$O$97</c:f>
              <c:numCache>
                <c:formatCode>0.00</c:formatCode>
                <c:ptCount val="96"/>
                <c:pt idx="1">
                  <c:v>57.344632768361578</c:v>
                </c:pt>
                <c:pt idx="2">
                  <c:v>90.803921568627459</c:v>
                </c:pt>
                <c:pt idx="3">
                  <c:v>87.484662576687114</c:v>
                </c:pt>
                <c:pt idx="4">
                  <c:v>96.372549019607845</c:v>
                </c:pt>
                <c:pt idx="5">
                  <c:v>88.568935427574175</c:v>
                </c:pt>
                <c:pt idx="6">
                  <c:v>74.1111111111111</c:v>
                </c:pt>
                <c:pt idx="7">
                  <c:v>87.460317460317455</c:v>
                </c:pt>
                <c:pt idx="8">
                  <c:v>103.92638036809817</c:v>
                </c:pt>
                <c:pt idx="9">
                  <c:v>87.154471544715435</c:v>
                </c:pt>
                <c:pt idx="10">
                  <c:v>93.771043771043765</c:v>
                </c:pt>
                <c:pt idx="11">
                  <c:v>89.568627450980401</c:v>
                </c:pt>
                <c:pt idx="12">
                  <c:v>82.543859649122808</c:v>
                </c:pt>
                <c:pt idx="13">
                  <c:v>93.529411764705884</c:v>
                </c:pt>
                <c:pt idx="14">
                  <c:v>101.0952380952381</c:v>
                </c:pt>
                <c:pt idx="15">
                  <c:v>78.858695652173907</c:v>
                </c:pt>
                <c:pt idx="16">
                  <c:v>106.28623188405797</c:v>
                </c:pt>
                <c:pt idx="17">
                  <c:v>88.375350140056028</c:v>
                </c:pt>
                <c:pt idx="18">
                  <c:v>94.69047619047619</c:v>
                </c:pt>
                <c:pt idx="19">
                  <c:v>101.08384458077711</c:v>
                </c:pt>
                <c:pt idx="20">
                  <c:v>95.600907029478449</c:v>
                </c:pt>
                <c:pt idx="21">
                  <c:v>101.83982683982684</c:v>
                </c:pt>
                <c:pt idx="22">
                  <c:v>95.673400673400678</c:v>
                </c:pt>
                <c:pt idx="23">
                  <c:v>84.299242424242422</c:v>
                </c:pt>
                <c:pt idx="24">
                  <c:v>82.424242424242422</c:v>
                </c:pt>
                <c:pt idx="25">
                  <c:v>93.450704225352098</c:v>
                </c:pt>
                <c:pt idx="26">
                  <c:v>97.344632768361578</c:v>
                </c:pt>
                <c:pt idx="27">
                  <c:v>90.53691275167786</c:v>
                </c:pt>
                <c:pt idx="28">
                  <c:v>97.744107744107751</c:v>
                </c:pt>
                <c:pt idx="29">
                  <c:v>94.64705882352942</c:v>
                </c:pt>
                <c:pt idx="30">
                  <c:v>90.314136125654457</c:v>
                </c:pt>
                <c:pt idx="31">
                  <c:v>88.219696969696983</c:v>
                </c:pt>
                <c:pt idx="32">
                  <c:v>93.720538720538713</c:v>
                </c:pt>
                <c:pt idx="33">
                  <c:v>89.377104377104374</c:v>
                </c:pt>
                <c:pt idx="34">
                  <c:v>93.316498316498325</c:v>
                </c:pt>
                <c:pt idx="35">
                  <c:v>87.242582897033145</c:v>
                </c:pt>
                <c:pt idx="36">
                  <c:v>100.56862745098039</c:v>
                </c:pt>
                <c:pt idx="37">
                  <c:v>101.46031746031746</c:v>
                </c:pt>
                <c:pt idx="38">
                  <c:v>96.868008948545864</c:v>
                </c:pt>
                <c:pt idx="39">
                  <c:v>97.885714285714286</c:v>
                </c:pt>
                <c:pt idx="40">
                  <c:v>99.977324263038554</c:v>
                </c:pt>
                <c:pt idx="41">
                  <c:v>94.397905759162313</c:v>
                </c:pt>
                <c:pt idx="42">
                  <c:v>96.997929606625249</c:v>
                </c:pt>
                <c:pt idx="43">
                  <c:v>98.851224105461398</c:v>
                </c:pt>
                <c:pt idx="44">
                  <c:v>94.166666666666671</c:v>
                </c:pt>
                <c:pt idx="45">
                  <c:v>94.9040139616056</c:v>
                </c:pt>
                <c:pt idx="46">
                  <c:v>107.01086956521739</c:v>
                </c:pt>
                <c:pt idx="47">
                  <c:v>136.8903803131991</c:v>
                </c:pt>
                <c:pt idx="48">
                  <c:v>102.2061191626409</c:v>
                </c:pt>
                <c:pt idx="49">
                  <c:v>103.74233128834356</c:v>
                </c:pt>
                <c:pt idx="50">
                  <c:v>108.04143126177024</c:v>
                </c:pt>
                <c:pt idx="51">
                  <c:v>98.452380952380963</c:v>
                </c:pt>
                <c:pt idx="52">
                  <c:v>109.36507936507938</c:v>
                </c:pt>
                <c:pt idx="53">
                  <c:v>121.49411764705881</c:v>
                </c:pt>
                <c:pt idx="54">
                  <c:v>112.51886792452829</c:v>
                </c:pt>
                <c:pt idx="55">
                  <c:v>110.94117647058823</c:v>
                </c:pt>
                <c:pt idx="56">
                  <c:v>97.121212121212125</c:v>
                </c:pt>
                <c:pt idx="57">
                  <c:v>105.4245283018868</c:v>
                </c:pt>
                <c:pt idx="58">
                  <c:v>106.74285714285713</c:v>
                </c:pt>
                <c:pt idx="59">
                  <c:v>106.38823529411765</c:v>
                </c:pt>
                <c:pt idx="60">
                  <c:v>104.21463414634147</c:v>
                </c:pt>
                <c:pt idx="61">
                  <c:v>103.50943396226415</c:v>
                </c:pt>
                <c:pt idx="62">
                  <c:v>100.99512195121952</c:v>
                </c:pt>
                <c:pt idx="63">
                  <c:v>107.51072961373391</c:v>
                </c:pt>
                <c:pt idx="64">
                  <c:v>105.18478260869564</c:v>
                </c:pt>
                <c:pt idx="65">
                  <c:v>90.241758241758248</c:v>
                </c:pt>
                <c:pt idx="66">
                  <c:v>102.14285714285714</c:v>
                </c:pt>
                <c:pt idx="67">
                  <c:v>98.79245283018868</c:v>
                </c:pt>
                <c:pt idx="68">
                  <c:v>86.731707317073187</c:v>
                </c:pt>
                <c:pt idx="69">
                  <c:v>94.159624413145536</c:v>
                </c:pt>
                <c:pt idx="70">
                  <c:v>104.91666666666666</c:v>
                </c:pt>
                <c:pt idx="71">
                  <c:v>91.391304347826079</c:v>
                </c:pt>
                <c:pt idx="72">
                  <c:v>96.334763948497866</c:v>
                </c:pt>
                <c:pt idx="73">
                  <c:v>94.543859649122808</c:v>
                </c:pt>
                <c:pt idx="74">
                  <c:v>96.717171717171709</c:v>
                </c:pt>
                <c:pt idx="75">
                  <c:v>83.833333333333329</c:v>
                </c:pt>
                <c:pt idx="76">
                  <c:v>97.629268292682923</c:v>
                </c:pt>
                <c:pt idx="77">
                  <c:v>97.931707317073176</c:v>
                </c:pt>
                <c:pt idx="78">
                  <c:v>92.343434343434353</c:v>
                </c:pt>
                <c:pt idx="79">
                  <c:v>95.015748031496059</c:v>
                </c:pt>
                <c:pt idx="80">
                  <c:v>100.47321428571429</c:v>
                </c:pt>
                <c:pt idx="81">
                  <c:v>93.874345549738223</c:v>
                </c:pt>
                <c:pt idx="82">
                  <c:v>96.866952789699567</c:v>
                </c:pt>
                <c:pt idx="83">
                  <c:v>37.985185185185188</c:v>
                </c:pt>
                <c:pt idx="84">
                  <c:v>55.86725663716814</c:v>
                </c:pt>
                <c:pt idx="85">
                  <c:v>47.834645669291334</c:v>
                </c:pt>
                <c:pt idx="86">
                  <c:v>42.688259109311737</c:v>
                </c:pt>
                <c:pt idx="87">
                  <c:v>59.261744966442954</c:v>
                </c:pt>
                <c:pt idx="88">
                  <c:v>46.837696335078533</c:v>
                </c:pt>
                <c:pt idx="89">
                  <c:v>61.114285714285721</c:v>
                </c:pt>
                <c:pt idx="90">
                  <c:v>40.232323232323232</c:v>
                </c:pt>
                <c:pt idx="91">
                  <c:v>50.064102564102562</c:v>
                </c:pt>
                <c:pt idx="92">
                  <c:v>46.439790575916234</c:v>
                </c:pt>
                <c:pt idx="93">
                  <c:v>42.037914691943129</c:v>
                </c:pt>
              </c:numCache>
            </c:numRef>
          </c:val>
          <c:smooth val="0"/>
          <c:extLst>
            <c:ext xmlns:c16="http://schemas.microsoft.com/office/drawing/2014/chart" uri="{C3380CC4-5D6E-409C-BE32-E72D297353CC}">
              <c16:uniqueId val="{00000000-1F0F-4E10-B05C-9FE2EA363FAC}"/>
            </c:ext>
          </c:extLst>
        </c:ser>
        <c:ser>
          <c:idx val="2"/>
          <c:order val="2"/>
          <c:tx>
            <c:strRef>
              <c:f>Plastic!$P$1</c:f>
              <c:strCache>
                <c:ptCount val="1"/>
                <c:pt idx="0">
                  <c:v>Infix Predicted %</c:v>
                </c:pt>
              </c:strCache>
            </c:strRef>
          </c:tx>
          <c:spPr>
            <a:ln w="15875" cap="rnd">
              <a:solidFill>
                <a:schemeClr val="accent2"/>
              </a:solidFill>
              <a:round/>
            </a:ln>
            <a:effectLst/>
          </c:spPr>
          <c:marker>
            <c:symbol val="none"/>
          </c:marker>
          <c:cat>
            <c:numRef>
              <c:f>Plastic!$D$2:$D$97</c:f>
              <c:numCache>
                <c:formatCode>m/d/yyyy</c:formatCode>
                <c:ptCount val="96"/>
                <c:pt idx="0">
                  <c:v>44927</c:v>
                </c:pt>
                <c:pt idx="1">
                  <c:v>44934</c:v>
                </c:pt>
                <c:pt idx="2">
                  <c:v>44941</c:v>
                </c:pt>
                <c:pt idx="3">
                  <c:v>44948</c:v>
                </c:pt>
                <c:pt idx="4">
                  <c:v>44955</c:v>
                </c:pt>
                <c:pt idx="5">
                  <c:v>44962</c:v>
                </c:pt>
                <c:pt idx="6">
                  <c:v>44969</c:v>
                </c:pt>
                <c:pt idx="7">
                  <c:v>44976</c:v>
                </c:pt>
                <c:pt idx="8">
                  <c:v>44983</c:v>
                </c:pt>
                <c:pt idx="9">
                  <c:v>44990</c:v>
                </c:pt>
                <c:pt idx="10">
                  <c:v>44997</c:v>
                </c:pt>
                <c:pt idx="11">
                  <c:v>45004</c:v>
                </c:pt>
                <c:pt idx="12">
                  <c:v>45011</c:v>
                </c:pt>
                <c:pt idx="13">
                  <c:v>45018</c:v>
                </c:pt>
                <c:pt idx="14">
                  <c:v>45025</c:v>
                </c:pt>
                <c:pt idx="15">
                  <c:v>45032</c:v>
                </c:pt>
                <c:pt idx="16">
                  <c:v>45039</c:v>
                </c:pt>
                <c:pt idx="17">
                  <c:v>45046</c:v>
                </c:pt>
                <c:pt idx="18">
                  <c:v>45053</c:v>
                </c:pt>
                <c:pt idx="19">
                  <c:v>45060</c:v>
                </c:pt>
                <c:pt idx="20">
                  <c:v>45067</c:v>
                </c:pt>
                <c:pt idx="21">
                  <c:v>45074</c:v>
                </c:pt>
                <c:pt idx="22">
                  <c:v>45081</c:v>
                </c:pt>
                <c:pt idx="23">
                  <c:v>45088</c:v>
                </c:pt>
                <c:pt idx="24">
                  <c:v>45095</c:v>
                </c:pt>
                <c:pt idx="25">
                  <c:v>45102</c:v>
                </c:pt>
                <c:pt idx="26">
                  <c:v>45109</c:v>
                </c:pt>
                <c:pt idx="27">
                  <c:v>45116</c:v>
                </c:pt>
                <c:pt idx="28">
                  <c:v>45123</c:v>
                </c:pt>
                <c:pt idx="29">
                  <c:v>45130</c:v>
                </c:pt>
                <c:pt idx="30">
                  <c:v>45137</c:v>
                </c:pt>
                <c:pt idx="31">
                  <c:v>45144</c:v>
                </c:pt>
                <c:pt idx="32">
                  <c:v>45151</c:v>
                </c:pt>
                <c:pt idx="33">
                  <c:v>45158</c:v>
                </c:pt>
                <c:pt idx="34">
                  <c:v>45165</c:v>
                </c:pt>
                <c:pt idx="35">
                  <c:v>45172</c:v>
                </c:pt>
                <c:pt idx="36">
                  <c:v>45179</c:v>
                </c:pt>
                <c:pt idx="37">
                  <c:v>45186</c:v>
                </c:pt>
                <c:pt idx="38">
                  <c:v>45193</c:v>
                </c:pt>
                <c:pt idx="39">
                  <c:v>45200</c:v>
                </c:pt>
                <c:pt idx="40">
                  <c:v>45207</c:v>
                </c:pt>
                <c:pt idx="41">
                  <c:v>45214</c:v>
                </c:pt>
                <c:pt idx="42">
                  <c:v>45221</c:v>
                </c:pt>
                <c:pt idx="43">
                  <c:v>45228</c:v>
                </c:pt>
                <c:pt idx="44">
                  <c:v>45235</c:v>
                </c:pt>
                <c:pt idx="45">
                  <c:v>45242</c:v>
                </c:pt>
                <c:pt idx="46">
                  <c:v>45249</c:v>
                </c:pt>
                <c:pt idx="47">
                  <c:v>45256</c:v>
                </c:pt>
                <c:pt idx="48">
                  <c:v>45263</c:v>
                </c:pt>
                <c:pt idx="49">
                  <c:v>45270</c:v>
                </c:pt>
                <c:pt idx="50">
                  <c:v>45277</c:v>
                </c:pt>
                <c:pt idx="51">
                  <c:v>45284</c:v>
                </c:pt>
                <c:pt idx="52">
                  <c:v>45291</c:v>
                </c:pt>
                <c:pt idx="53">
                  <c:v>45298</c:v>
                </c:pt>
                <c:pt idx="54">
                  <c:v>45305</c:v>
                </c:pt>
                <c:pt idx="55">
                  <c:v>45312</c:v>
                </c:pt>
                <c:pt idx="56">
                  <c:v>45319</c:v>
                </c:pt>
                <c:pt idx="57">
                  <c:v>45326</c:v>
                </c:pt>
                <c:pt idx="58">
                  <c:v>45333</c:v>
                </c:pt>
                <c:pt idx="59">
                  <c:v>45340</c:v>
                </c:pt>
                <c:pt idx="60">
                  <c:v>45347</c:v>
                </c:pt>
                <c:pt idx="61">
                  <c:v>45354</c:v>
                </c:pt>
                <c:pt idx="62">
                  <c:v>45361</c:v>
                </c:pt>
                <c:pt idx="63">
                  <c:v>45368</c:v>
                </c:pt>
                <c:pt idx="64">
                  <c:v>45375</c:v>
                </c:pt>
                <c:pt idx="65">
                  <c:v>45382</c:v>
                </c:pt>
                <c:pt idx="66">
                  <c:v>45389</c:v>
                </c:pt>
                <c:pt idx="67">
                  <c:v>45396</c:v>
                </c:pt>
                <c:pt idx="68">
                  <c:v>45403</c:v>
                </c:pt>
                <c:pt idx="69">
                  <c:v>45410</c:v>
                </c:pt>
                <c:pt idx="70">
                  <c:v>45417</c:v>
                </c:pt>
                <c:pt idx="71">
                  <c:v>45424</c:v>
                </c:pt>
                <c:pt idx="72">
                  <c:v>45431</c:v>
                </c:pt>
                <c:pt idx="73">
                  <c:v>45438</c:v>
                </c:pt>
                <c:pt idx="74">
                  <c:v>45445</c:v>
                </c:pt>
                <c:pt idx="75">
                  <c:v>45452</c:v>
                </c:pt>
                <c:pt idx="76">
                  <c:v>45459</c:v>
                </c:pt>
                <c:pt idx="77">
                  <c:v>45466</c:v>
                </c:pt>
                <c:pt idx="78">
                  <c:v>45473</c:v>
                </c:pt>
                <c:pt idx="79">
                  <c:v>45480</c:v>
                </c:pt>
                <c:pt idx="80">
                  <c:v>45487</c:v>
                </c:pt>
                <c:pt idx="81">
                  <c:v>45494</c:v>
                </c:pt>
                <c:pt idx="82">
                  <c:v>45501</c:v>
                </c:pt>
                <c:pt idx="83">
                  <c:v>45508</c:v>
                </c:pt>
                <c:pt idx="84">
                  <c:v>45515</c:v>
                </c:pt>
                <c:pt idx="85">
                  <c:v>45522</c:v>
                </c:pt>
                <c:pt idx="86">
                  <c:v>45529</c:v>
                </c:pt>
                <c:pt idx="87">
                  <c:v>45536</c:v>
                </c:pt>
                <c:pt idx="88">
                  <c:v>45543</c:v>
                </c:pt>
                <c:pt idx="89">
                  <c:v>45550</c:v>
                </c:pt>
                <c:pt idx="90">
                  <c:v>45557</c:v>
                </c:pt>
                <c:pt idx="91">
                  <c:v>45564</c:v>
                </c:pt>
                <c:pt idx="92">
                  <c:v>45571</c:v>
                </c:pt>
                <c:pt idx="93">
                  <c:v>45578</c:v>
                </c:pt>
                <c:pt idx="94">
                  <c:v>45585</c:v>
                </c:pt>
                <c:pt idx="95">
                  <c:v>45592</c:v>
                </c:pt>
              </c:numCache>
            </c:numRef>
          </c:cat>
          <c:val>
            <c:numRef>
              <c:f>Plastic!$P$2:$P$97</c:f>
              <c:numCache>
                <c:formatCode>0.00</c:formatCode>
                <c:ptCount val="96"/>
                <c:pt idx="1">
                  <c:v>76.349206349206355</c:v>
                </c:pt>
                <c:pt idx="2">
                  <c:v>68.738229755178921</c:v>
                </c:pt>
                <c:pt idx="3">
                  <c:v>57.705882352941174</c:v>
                </c:pt>
                <c:pt idx="4">
                  <c:v>73.128834355828218</c:v>
                </c:pt>
                <c:pt idx="5">
                  <c:v>69.941176470588246</c:v>
                </c:pt>
                <c:pt idx="6">
                  <c:v>62.460732984293188</c:v>
                </c:pt>
                <c:pt idx="7">
                  <c:v>49.55555555555555</c:v>
                </c:pt>
                <c:pt idx="8">
                  <c:v>82.718253968253975</c:v>
                </c:pt>
                <c:pt idx="9">
                  <c:v>78.670756646216773</c:v>
                </c:pt>
                <c:pt idx="10">
                  <c:v>63.642276422764233</c:v>
                </c:pt>
                <c:pt idx="11">
                  <c:v>54.427609427609426</c:v>
                </c:pt>
                <c:pt idx="12">
                  <c:v>63.372549019607845</c:v>
                </c:pt>
                <c:pt idx="13">
                  <c:v>60.280701754385966</c:v>
                </c:pt>
                <c:pt idx="14">
                  <c:v>65.196078431372555</c:v>
                </c:pt>
                <c:pt idx="15">
                  <c:v>74</c:v>
                </c:pt>
                <c:pt idx="16">
                  <c:v>69.456521739130423</c:v>
                </c:pt>
                <c:pt idx="17">
                  <c:v>42.844202898550719</c:v>
                </c:pt>
                <c:pt idx="18">
                  <c:v>73.585434173669455</c:v>
                </c:pt>
                <c:pt idx="19">
                  <c:v>84.238095238095241</c:v>
                </c:pt>
                <c:pt idx="20">
                  <c:v>70.286298568507149</c:v>
                </c:pt>
                <c:pt idx="21">
                  <c:v>83.356009070294775</c:v>
                </c:pt>
                <c:pt idx="22">
                  <c:v>86.428571428571416</c:v>
                </c:pt>
                <c:pt idx="23">
                  <c:v>45.791245791245792</c:v>
                </c:pt>
                <c:pt idx="24">
                  <c:v>62.064393939393938</c:v>
                </c:pt>
                <c:pt idx="25">
                  <c:v>60.269360269360263</c:v>
                </c:pt>
                <c:pt idx="26">
                  <c:v>82.652582159624416</c:v>
                </c:pt>
                <c:pt idx="27">
                  <c:v>52.222222222222229</c:v>
                </c:pt>
                <c:pt idx="28">
                  <c:v>99.418344519015662</c:v>
                </c:pt>
                <c:pt idx="29">
                  <c:v>59.478114478114477</c:v>
                </c:pt>
                <c:pt idx="30">
                  <c:v>72.803921568627445</c:v>
                </c:pt>
                <c:pt idx="31">
                  <c:v>59.092495636998251</c:v>
                </c:pt>
                <c:pt idx="32">
                  <c:v>84.223484848484844</c:v>
                </c:pt>
                <c:pt idx="33">
                  <c:v>54.696969696969703</c:v>
                </c:pt>
                <c:pt idx="34">
                  <c:v>68.484848484848484</c:v>
                </c:pt>
                <c:pt idx="35">
                  <c:v>56.767676767676768</c:v>
                </c:pt>
                <c:pt idx="36">
                  <c:v>59.947643979057595</c:v>
                </c:pt>
                <c:pt idx="37">
                  <c:v>41.980392156862742</c:v>
                </c:pt>
                <c:pt idx="38">
                  <c:v>85.333333333333329</c:v>
                </c:pt>
                <c:pt idx="39">
                  <c:v>76.510067114093957</c:v>
                </c:pt>
                <c:pt idx="40">
                  <c:v>51.371428571428581</c:v>
                </c:pt>
                <c:pt idx="41">
                  <c:v>84.195011337868479</c:v>
                </c:pt>
                <c:pt idx="42">
                  <c:v>52.984293193717278</c:v>
                </c:pt>
                <c:pt idx="43">
                  <c:v>71.469979296066256</c:v>
                </c:pt>
                <c:pt idx="44">
                  <c:v>64.067796610169495</c:v>
                </c:pt>
                <c:pt idx="45">
                  <c:v>80.108695652173907</c:v>
                </c:pt>
                <c:pt idx="46">
                  <c:v>74.415357766143103</c:v>
                </c:pt>
                <c:pt idx="47">
                  <c:v>84.257246376811594</c:v>
                </c:pt>
                <c:pt idx="48">
                  <c:v>97.852348993288601</c:v>
                </c:pt>
                <c:pt idx="49">
                  <c:v>62.38325281803543</c:v>
                </c:pt>
                <c:pt idx="50">
                  <c:v>72.699386503067487</c:v>
                </c:pt>
                <c:pt idx="51">
                  <c:v>31.619585687382301</c:v>
                </c:pt>
                <c:pt idx="52">
                  <c:v>110.23809523809523</c:v>
                </c:pt>
                <c:pt idx="53">
                  <c:v>129.96825396825395</c:v>
                </c:pt>
                <c:pt idx="54">
                  <c:v>100.05882352941175</c:v>
                </c:pt>
                <c:pt idx="55">
                  <c:v>59.556603773584904</c:v>
                </c:pt>
                <c:pt idx="56">
                  <c:v>71.329411764705881</c:v>
                </c:pt>
                <c:pt idx="57">
                  <c:v>81.36363636363636</c:v>
                </c:pt>
                <c:pt idx="58">
                  <c:v>71.679245283018872</c:v>
                </c:pt>
                <c:pt idx="59">
                  <c:v>69.209523809523816</c:v>
                </c:pt>
                <c:pt idx="60">
                  <c:v>81.447058823529417</c:v>
                </c:pt>
                <c:pt idx="61">
                  <c:v>76.458536585365849</c:v>
                </c:pt>
                <c:pt idx="62">
                  <c:v>67.481132075471692</c:v>
                </c:pt>
                <c:pt idx="63">
                  <c:v>82.458536585365849</c:v>
                </c:pt>
                <c:pt idx="64">
                  <c:v>52.72961373390558</c:v>
                </c:pt>
                <c:pt idx="65">
                  <c:v>64.217391304347828</c:v>
                </c:pt>
                <c:pt idx="66">
                  <c:v>55.494505494505496</c:v>
                </c:pt>
                <c:pt idx="67">
                  <c:v>89.36904761904762</c:v>
                </c:pt>
                <c:pt idx="68">
                  <c:v>67.424528301886795</c:v>
                </c:pt>
                <c:pt idx="69">
                  <c:v>69.004878048780498</c:v>
                </c:pt>
                <c:pt idx="70">
                  <c:v>62.375586854460096</c:v>
                </c:pt>
                <c:pt idx="71">
                  <c:v>71.94047619047619</c:v>
                </c:pt>
                <c:pt idx="72">
                  <c:v>82.358695652173907</c:v>
                </c:pt>
                <c:pt idx="73">
                  <c:v>71.845493562231766</c:v>
                </c:pt>
                <c:pt idx="74">
                  <c:v>65.464912280701753</c:v>
                </c:pt>
                <c:pt idx="75">
                  <c:v>75.323232323232318</c:v>
                </c:pt>
                <c:pt idx="76">
                  <c:v>61.333333333333343</c:v>
                </c:pt>
                <c:pt idx="77">
                  <c:v>88.702439024390245</c:v>
                </c:pt>
                <c:pt idx="78">
                  <c:v>71.8829268292683</c:v>
                </c:pt>
                <c:pt idx="79">
                  <c:v>97.494949494949495</c:v>
                </c:pt>
                <c:pt idx="80">
                  <c:v>72.00787401574803</c:v>
                </c:pt>
                <c:pt idx="81">
                  <c:v>60.892857142857146</c:v>
                </c:pt>
                <c:pt idx="82">
                  <c:v>88.062827225130874</c:v>
                </c:pt>
                <c:pt idx="83">
                  <c:v>106.72103004291846</c:v>
                </c:pt>
                <c:pt idx="84">
                  <c:v>75.592592592592595</c:v>
                </c:pt>
                <c:pt idx="85">
                  <c:v>104.8495575221239</c:v>
                </c:pt>
                <c:pt idx="86">
                  <c:v>89.685039370078741</c:v>
                </c:pt>
                <c:pt idx="87">
                  <c:v>68.769230769230774</c:v>
                </c:pt>
                <c:pt idx="88">
                  <c:v>127.9194630872483</c:v>
                </c:pt>
                <c:pt idx="89">
                  <c:v>60.492146596858646</c:v>
                </c:pt>
                <c:pt idx="90">
                  <c:v>144.32857142857142</c:v>
                </c:pt>
                <c:pt idx="91">
                  <c:v>81.595959595959599</c:v>
                </c:pt>
                <c:pt idx="92">
                  <c:v>117.92307692307693</c:v>
                </c:pt>
                <c:pt idx="93">
                  <c:v>107.67539267015707</c:v>
                </c:pt>
              </c:numCache>
            </c:numRef>
          </c:val>
          <c:smooth val="0"/>
          <c:extLst>
            <c:ext xmlns:c16="http://schemas.microsoft.com/office/drawing/2014/chart" uri="{C3380CC4-5D6E-409C-BE32-E72D297353CC}">
              <c16:uniqueId val="{00000001-1F0F-4E10-B05C-9FE2EA363FAC}"/>
            </c:ext>
          </c:extLst>
        </c:ser>
        <c:dLbls>
          <c:showLegendKey val="0"/>
          <c:showVal val="0"/>
          <c:showCatName val="0"/>
          <c:showSerName val="0"/>
          <c:showPercent val="0"/>
          <c:showBubbleSize val="0"/>
        </c:dLbls>
        <c:marker val="1"/>
        <c:smooth val="0"/>
        <c:axId val="1568361664"/>
        <c:axId val="1568360224"/>
      </c:lineChart>
      <c:scatterChart>
        <c:scatterStyle val="lineMarker"/>
        <c:varyColors val="0"/>
        <c:ser>
          <c:idx val="0"/>
          <c:order val="0"/>
          <c:tx>
            <c:strRef>
              <c:f>Plastic!$G$1</c:f>
              <c:strCache>
                <c:ptCount val="1"/>
                <c:pt idx="0">
                  <c:v>Actual In Session Utilisation %</c:v>
                </c:pt>
              </c:strCache>
            </c:strRef>
          </c:tx>
          <c:spPr>
            <a:ln w="25400" cap="rnd">
              <a:noFill/>
              <a:round/>
            </a:ln>
            <a:effectLst/>
          </c:spPr>
          <c:marker>
            <c:symbol val="circle"/>
            <c:size val="5"/>
            <c:spPr>
              <a:solidFill>
                <a:schemeClr val="accent1"/>
              </a:solidFill>
              <a:ln w="9525" cap="flat" cmpd="sng" algn="ctr">
                <a:solidFill>
                  <a:schemeClr val="accent1">
                    <a:shade val="95000"/>
                  </a:schemeClr>
                </a:solidFill>
                <a:round/>
              </a:ln>
              <a:effectLst/>
            </c:spPr>
          </c:marker>
          <c:xVal>
            <c:numRef>
              <c:f>Plastic!$D$2:$D$97</c:f>
              <c:numCache>
                <c:formatCode>m/d/yyyy</c:formatCode>
                <c:ptCount val="96"/>
                <c:pt idx="0">
                  <c:v>44927</c:v>
                </c:pt>
                <c:pt idx="1">
                  <c:v>44934</c:v>
                </c:pt>
                <c:pt idx="2">
                  <c:v>44941</c:v>
                </c:pt>
                <c:pt idx="3">
                  <c:v>44948</c:v>
                </c:pt>
                <c:pt idx="4">
                  <c:v>44955</c:v>
                </c:pt>
                <c:pt idx="5">
                  <c:v>44962</c:v>
                </c:pt>
                <c:pt idx="6">
                  <c:v>44969</c:v>
                </c:pt>
                <c:pt idx="7">
                  <c:v>44976</c:v>
                </c:pt>
                <c:pt idx="8">
                  <c:v>44983</c:v>
                </c:pt>
                <c:pt idx="9">
                  <c:v>44990</c:v>
                </c:pt>
                <c:pt idx="10">
                  <c:v>44997</c:v>
                </c:pt>
                <c:pt idx="11">
                  <c:v>45004</c:v>
                </c:pt>
                <c:pt idx="12">
                  <c:v>45011</c:v>
                </c:pt>
                <c:pt idx="13">
                  <c:v>45018</c:v>
                </c:pt>
                <c:pt idx="14">
                  <c:v>45025</c:v>
                </c:pt>
                <c:pt idx="15">
                  <c:v>45032</c:v>
                </c:pt>
                <c:pt idx="16">
                  <c:v>45039</c:v>
                </c:pt>
                <c:pt idx="17">
                  <c:v>45046</c:v>
                </c:pt>
                <c:pt idx="18">
                  <c:v>45053</c:v>
                </c:pt>
                <c:pt idx="19">
                  <c:v>45060</c:v>
                </c:pt>
                <c:pt idx="20">
                  <c:v>45067</c:v>
                </c:pt>
                <c:pt idx="21">
                  <c:v>45074</c:v>
                </c:pt>
                <c:pt idx="22">
                  <c:v>45081</c:v>
                </c:pt>
                <c:pt idx="23">
                  <c:v>45088</c:v>
                </c:pt>
                <c:pt idx="24">
                  <c:v>45095</c:v>
                </c:pt>
                <c:pt idx="25">
                  <c:v>45102</c:v>
                </c:pt>
                <c:pt idx="26">
                  <c:v>45109</c:v>
                </c:pt>
                <c:pt idx="27">
                  <c:v>45116</c:v>
                </c:pt>
                <c:pt idx="28">
                  <c:v>45123</c:v>
                </c:pt>
                <c:pt idx="29">
                  <c:v>45130</c:v>
                </c:pt>
                <c:pt idx="30">
                  <c:v>45137</c:v>
                </c:pt>
                <c:pt idx="31">
                  <c:v>45144</c:v>
                </c:pt>
                <c:pt idx="32">
                  <c:v>45151</c:v>
                </c:pt>
                <c:pt idx="33">
                  <c:v>45158</c:v>
                </c:pt>
                <c:pt idx="34">
                  <c:v>45165</c:v>
                </c:pt>
                <c:pt idx="35">
                  <c:v>45172</c:v>
                </c:pt>
                <c:pt idx="36">
                  <c:v>45179</c:v>
                </c:pt>
                <c:pt idx="37">
                  <c:v>45186</c:v>
                </c:pt>
                <c:pt idx="38">
                  <c:v>45193</c:v>
                </c:pt>
                <c:pt idx="39">
                  <c:v>45200</c:v>
                </c:pt>
                <c:pt idx="40">
                  <c:v>45207</c:v>
                </c:pt>
                <c:pt idx="41">
                  <c:v>45214</c:v>
                </c:pt>
                <c:pt idx="42">
                  <c:v>45221</c:v>
                </c:pt>
                <c:pt idx="43">
                  <c:v>45228</c:v>
                </c:pt>
                <c:pt idx="44">
                  <c:v>45235</c:v>
                </c:pt>
                <c:pt idx="45">
                  <c:v>45242</c:v>
                </c:pt>
                <c:pt idx="46">
                  <c:v>45249</c:v>
                </c:pt>
                <c:pt idx="47">
                  <c:v>45256</c:v>
                </c:pt>
                <c:pt idx="48">
                  <c:v>45263</c:v>
                </c:pt>
                <c:pt idx="49">
                  <c:v>45270</c:v>
                </c:pt>
                <c:pt idx="50">
                  <c:v>45277</c:v>
                </c:pt>
                <c:pt idx="51">
                  <c:v>45284</c:v>
                </c:pt>
                <c:pt idx="52">
                  <c:v>45291</c:v>
                </c:pt>
                <c:pt idx="53">
                  <c:v>45298</c:v>
                </c:pt>
                <c:pt idx="54">
                  <c:v>45305</c:v>
                </c:pt>
                <c:pt idx="55">
                  <c:v>45312</c:v>
                </c:pt>
                <c:pt idx="56">
                  <c:v>45319</c:v>
                </c:pt>
                <c:pt idx="57">
                  <c:v>45326</c:v>
                </c:pt>
                <c:pt idx="58">
                  <c:v>45333</c:v>
                </c:pt>
                <c:pt idx="59">
                  <c:v>45340</c:v>
                </c:pt>
                <c:pt idx="60">
                  <c:v>45347</c:v>
                </c:pt>
                <c:pt idx="61">
                  <c:v>45354</c:v>
                </c:pt>
                <c:pt idx="62">
                  <c:v>45361</c:v>
                </c:pt>
                <c:pt idx="63">
                  <c:v>45368</c:v>
                </c:pt>
                <c:pt idx="64">
                  <c:v>45375</c:v>
                </c:pt>
                <c:pt idx="65">
                  <c:v>45382</c:v>
                </c:pt>
                <c:pt idx="66">
                  <c:v>45389</c:v>
                </c:pt>
                <c:pt idx="67">
                  <c:v>45396</c:v>
                </c:pt>
                <c:pt idx="68">
                  <c:v>45403</c:v>
                </c:pt>
                <c:pt idx="69">
                  <c:v>45410</c:v>
                </c:pt>
                <c:pt idx="70">
                  <c:v>45417</c:v>
                </c:pt>
                <c:pt idx="71">
                  <c:v>45424</c:v>
                </c:pt>
                <c:pt idx="72">
                  <c:v>45431</c:v>
                </c:pt>
                <c:pt idx="73">
                  <c:v>45438</c:v>
                </c:pt>
                <c:pt idx="74">
                  <c:v>45445</c:v>
                </c:pt>
                <c:pt idx="75">
                  <c:v>45452</c:v>
                </c:pt>
                <c:pt idx="76">
                  <c:v>45459</c:v>
                </c:pt>
                <c:pt idx="77">
                  <c:v>45466</c:v>
                </c:pt>
                <c:pt idx="78">
                  <c:v>45473</c:v>
                </c:pt>
                <c:pt idx="79">
                  <c:v>45480</c:v>
                </c:pt>
                <c:pt idx="80">
                  <c:v>45487</c:v>
                </c:pt>
                <c:pt idx="81">
                  <c:v>45494</c:v>
                </c:pt>
                <c:pt idx="82">
                  <c:v>45501</c:v>
                </c:pt>
                <c:pt idx="83">
                  <c:v>45508</c:v>
                </c:pt>
                <c:pt idx="84">
                  <c:v>45515</c:v>
                </c:pt>
                <c:pt idx="85">
                  <c:v>45522</c:v>
                </c:pt>
                <c:pt idx="86">
                  <c:v>45529</c:v>
                </c:pt>
                <c:pt idx="87">
                  <c:v>45536</c:v>
                </c:pt>
                <c:pt idx="88">
                  <c:v>45543</c:v>
                </c:pt>
                <c:pt idx="89">
                  <c:v>45550</c:v>
                </c:pt>
                <c:pt idx="90">
                  <c:v>45557</c:v>
                </c:pt>
                <c:pt idx="91">
                  <c:v>45564</c:v>
                </c:pt>
                <c:pt idx="92">
                  <c:v>45571</c:v>
                </c:pt>
                <c:pt idx="93">
                  <c:v>45578</c:v>
                </c:pt>
                <c:pt idx="94">
                  <c:v>45585</c:v>
                </c:pt>
                <c:pt idx="95">
                  <c:v>45592</c:v>
                </c:pt>
              </c:numCache>
            </c:numRef>
          </c:xVal>
          <c:yVal>
            <c:numRef>
              <c:f>Plastic!$G$2:$G$97</c:f>
              <c:numCache>
                <c:formatCode>0.00</c:formatCode>
                <c:ptCount val="96"/>
                <c:pt idx="0">
                  <c:v>79.629629634920633</c:v>
                </c:pt>
                <c:pt idx="1">
                  <c:v>69.020715627118648</c:v>
                </c:pt>
                <c:pt idx="2">
                  <c:v>75.21568627058825</c:v>
                </c:pt>
                <c:pt idx="3">
                  <c:v>83.312883435582833</c:v>
                </c:pt>
                <c:pt idx="4">
                  <c:v>74.588235294117638</c:v>
                </c:pt>
                <c:pt idx="5">
                  <c:v>78.289703319371739</c:v>
                </c:pt>
                <c:pt idx="6">
                  <c:v>71.634920638095238</c:v>
                </c:pt>
                <c:pt idx="7">
                  <c:v>85.277777773809532</c:v>
                </c:pt>
                <c:pt idx="8">
                  <c:v>76.421267889570558</c:v>
                </c:pt>
                <c:pt idx="9">
                  <c:v>87.756097560975604</c:v>
                </c:pt>
                <c:pt idx="10">
                  <c:v>89.494949494949495</c:v>
                </c:pt>
                <c:pt idx="11">
                  <c:v>74.960784317647068</c:v>
                </c:pt>
                <c:pt idx="12">
                  <c:v>74.964912284210513</c:v>
                </c:pt>
                <c:pt idx="13">
                  <c:v>78.450980388235294</c:v>
                </c:pt>
                <c:pt idx="14">
                  <c:v>88.595238099999989</c:v>
                </c:pt>
                <c:pt idx="15">
                  <c:v>80.018115945652184</c:v>
                </c:pt>
                <c:pt idx="16">
                  <c:v>75.452898554347826</c:v>
                </c:pt>
                <c:pt idx="17">
                  <c:v>88.935574235294112</c:v>
                </c:pt>
                <c:pt idx="18">
                  <c:v>76.285714285714278</c:v>
                </c:pt>
                <c:pt idx="19">
                  <c:v>78.384458085889577</c:v>
                </c:pt>
                <c:pt idx="20">
                  <c:v>69.455782312925166</c:v>
                </c:pt>
                <c:pt idx="21">
                  <c:v>79.588744584415579</c:v>
                </c:pt>
                <c:pt idx="22">
                  <c:v>74.612794616161608</c:v>
                </c:pt>
                <c:pt idx="23">
                  <c:v>100.77651514772728</c:v>
                </c:pt>
                <c:pt idx="24">
                  <c:v>52.138047141414148</c:v>
                </c:pt>
                <c:pt idx="25">
                  <c:v>79.08450704225352</c:v>
                </c:pt>
                <c:pt idx="26">
                  <c:v>60.50847457627119</c:v>
                </c:pt>
                <c:pt idx="27">
                  <c:v>72.706935127516786</c:v>
                </c:pt>
                <c:pt idx="28">
                  <c:v>75.572390575757581</c:v>
                </c:pt>
                <c:pt idx="29">
                  <c:v>66.56862744705883</c:v>
                </c:pt>
                <c:pt idx="30">
                  <c:v>63.839441539267014</c:v>
                </c:pt>
                <c:pt idx="31">
                  <c:v>73.14393939772728</c:v>
                </c:pt>
                <c:pt idx="32">
                  <c:v>76.447811454545459</c:v>
                </c:pt>
                <c:pt idx="33">
                  <c:v>77.558922555555569</c:v>
                </c:pt>
                <c:pt idx="34">
                  <c:v>76.616161616161619</c:v>
                </c:pt>
                <c:pt idx="35">
                  <c:v>78.656195465968594</c:v>
                </c:pt>
                <c:pt idx="36">
                  <c:v>71.882352941176478</c:v>
                </c:pt>
                <c:pt idx="37">
                  <c:v>86.888888895238097</c:v>
                </c:pt>
                <c:pt idx="38">
                  <c:v>65.190156604026839</c:v>
                </c:pt>
                <c:pt idx="39">
                  <c:v>81.314285714285717</c:v>
                </c:pt>
                <c:pt idx="40">
                  <c:v>84.580498870748301</c:v>
                </c:pt>
                <c:pt idx="41">
                  <c:v>66.352530544502613</c:v>
                </c:pt>
                <c:pt idx="42">
                  <c:v>70.621118012422357</c:v>
                </c:pt>
                <c:pt idx="43">
                  <c:v>90.037664779661014</c:v>
                </c:pt>
                <c:pt idx="44">
                  <c:v>68.931159423913044</c:v>
                </c:pt>
                <c:pt idx="45">
                  <c:v>70.436300178010484</c:v>
                </c:pt>
                <c:pt idx="46">
                  <c:v>55.452898554347826</c:v>
                </c:pt>
                <c:pt idx="47">
                  <c:v>67.60626398657719</c:v>
                </c:pt>
                <c:pt idx="48">
                  <c:v>75.942028985507235</c:v>
                </c:pt>
                <c:pt idx="49">
                  <c:v>84.069529656441716</c:v>
                </c:pt>
                <c:pt idx="50">
                  <c:v>74.312617706214695</c:v>
                </c:pt>
                <c:pt idx="51">
                  <c:v>58.134920642857146</c:v>
                </c:pt>
                <c:pt idx="52">
                  <c:v>63.809523809523817</c:v>
                </c:pt>
                <c:pt idx="53">
                  <c:v>86.745098035294106</c:v>
                </c:pt>
                <c:pt idx="54">
                  <c:v>68.694968556603769</c:v>
                </c:pt>
                <c:pt idx="55">
                  <c:v>66.9019607882353</c:v>
                </c:pt>
                <c:pt idx="56">
                  <c:v>62.37373737373737</c:v>
                </c:pt>
                <c:pt idx="57">
                  <c:v>78.773584905660371</c:v>
                </c:pt>
                <c:pt idx="58">
                  <c:v>75.317460314285711</c:v>
                </c:pt>
                <c:pt idx="59">
                  <c:v>71.450980388235294</c:v>
                </c:pt>
                <c:pt idx="60">
                  <c:v>69.739837395121938</c:v>
                </c:pt>
                <c:pt idx="61">
                  <c:v>65.738993707547166</c:v>
                </c:pt>
                <c:pt idx="62">
                  <c:v>69.024390243902431</c:v>
                </c:pt>
                <c:pt idx="63">
                  <c:v>59.899856944206007</c:v>
                </c:pt>
                <c:pt idx="64">
                  <c:v>76.358695652173907</c:v>
                </c:pt>
                <c:pt idx="65">
                  <c:v>76.300366296703288</c:v>
                </c:pt>
                <c:pt idx="66">
                  <c:v>71.62698413095238</c:v>
                </c:pt>
                <c:pt idx="67">
                  <c:v>75.283018867924525</c:v>
                </c:pt>
                <c:pt idx="68">
                  <c:v>85.804878048780481</c:v>
                </c:pt>
                <c:pt idx="69">
                  <c:v>72.942097023474176</c:v>
                </c:pt>
                <c:pt idx="70">
                  <c:v>95.674603178571431</c:v>
                </c:pt>
                <c:pt idx="71">
                  <c:v>73.369565217391312</c:v>
                </c:pt>
                <c:pt idx="72">
                  <c:v>82.288984266094417</c:v>
                </c:pt>
                <c:pt idx="73">
                  <c:v>73.625731000000002</c:v>
                </c:pt>
                <c:pt idx="74">
                  <c:v>66.649831646464648</c:v>
                </c:pt>
                <c:pt idx="75">
                  <c:v>56.754385964912281</c:v>
                </c:pt>
                <c:pt idx="76">
                  <c:v>64.048780487804876</c:v>
                </c:pt>
                <c:pt idx="77">
                  <c:v>73.691056917073169</c:v>
                </c:pt>
                <c:pt idx="78">
                  <c:v>70.101010101010104</c:v>
                </c:pt>
                <c:pt idx="79">
                  <c:v>74.973753283464561</c:v>
                </c:pt>
                <c:pt idx="80">
                  <c:v>66.726190473214274</c:v>
                </c:pt>
                <c:pt idx="81">
                  <c:v>74.031413612565444</c:v>
                </c:pt>
                <c:pt idx="82">
                  <c:v>63.319027184549356</c:v>
                </c:pt>
                <c:pt idx="83">
                  <c:v>73.790123459259263</c:v>
                </c:pt>
                <c:pt idx="84">
                  <c:v>78.392330380530979</c:v>
                </c:pt>
                <c:pt idx="85">
                  <c:v>80.078740157480325</c:v>
                </c:pt>
                <c:pt idx="86">
                  <c:v>77.408906882591083</c:v>
                </c:pt>
                <c:pt idx="87">
                  <c:v>67.225950778523497</c:v>
                </c:pt>
                <c:pt idx="88">
                  <c:v>65.00872600000001</c:v>
                </c:pt>
                <c:pt idx="89">
                  <c:v>97.428571428571431</c:v>
                </c:pt>
                <c:pt idx="90">
                  <c:v>78.080808080808069</c:v>
                </c:pt>
                <c:pt idx="91">
                  <c:v>86.517094012820507</c:v>
                </c:pt>
                <c:pt idx="92">
                  <c:v>73.298429319371721</c:v>
                </c:pt>
                <c:pt idx="93">
                  <c:v>82.246445497630333</c:v>
                </c:pt>
              </c:numCache>
            </c:numRef>
          </c:yVal>
          <c:smooth val="0"/>
          <c:extLst>
            <c:ext xmlns:c16="http://schemas.microsoft.com/office/drawing/2014/chart" uri="{C3380CC4-5D6E-409C-BE32-E72D297353CC}">
              <c16:uniqueId val="{00000002-1F0F-4E10-B05C-9FE2EA363FAC}"/>
            </c:ext>
          </c:extLst>
        </c:ser>
        <c:dLbls>
          <c:showLegendKey val="0"/>
          <c:showVal val="0"/>
          <c:showCatName val="0"/>
          <c:showSerName val="0"/>
          <c:showPercent val="0"/>
          <c:showBubbleSize val="0"/>
        </c:dLbls>
        <c:axId val="1568361664"/>
        <c:axId val="1568360224"/>
      </c:scatterChart>
      <c:dateAx>
        <c:axId val="1568361664"/>
        <c:scaling>
          <c:orientation val="minMax"/>
          <c:max val="45577"/>
          <c:min val="44934"/>
        </c:scaling>
        <c:delete val="1"/>
        <c:axPos val="b"/>
        <c:numFmt formatCode="m/d/yyyy" sourceLinked="1"/>
        <c:majorTickMark val="none"/>
        <c:minorTickMark val="none"/>
        <c:tickLblPos val="nextTo"/>
        <c:crossAx val="1568360224"/>
        <c:crosses val="autoZero"/>
        <c:auto val="1"/>
        <c:lblOffset val="100"/>
        <c:baseTimeUnit val="days"/>
        <c:majorUnit val="7"/>
        <c:majorTimeUnit val="days"/>
      </c:dateAx>
      <c:valAx>
        <c:axId val="1568360224"/>
        <c:scaling>
          <c:orientation val="minMax"/>
          <c:max val="150"/>
          <c:min val="0"/>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crossAx val="1568361664"/>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GB" b="1">
                <a:solidFill>
                  <a:schemeClr val="tx1"/>
                </a:solidFill>
                <a:latin typeface="+mj-lt"/>
              </a:rPr>
              <a:t>Max-</a:t>
            </a:r>
            <a:r>
              <a:rPr lang="en-GB" b="1" err="1">
                <a:solidFill>
                  <a:schemeClr val="tx1"/>
                </a:solidFill>
                <a:latin typeface="+mj-lt"/>
              </a:rPr>
              <a:t>Fac</a:t>
            </a:r>
            <a:r>
              <a:rPr lang="en-GB" b="1" baseline="0">
                <a:solidFill>
                  <a:schemeClr val="tx1"/>
                </a:solidFill>
                <a:latin typeface="+mj-lt"/>
              </a:rPr>
              <a:t> booking (%)</a:t>
            </a:r>
            <a:r>
              <a:rPr lang="en-GB" b="1">
                <a:solidFill>
                  <a:schemeClr val="tx1"/>
                </a:solidFill>
                <a:latin typeface="+mj-lt"/>
              </a:rPr>
              <a:t> </a:t>
            </a:r>
          </a:p>
        </c:rich>
      </c:tx>
      <c:overlay val="1"/>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lineChart>
        <c:grouping val="standard"/>
        <c:varyColors val="0"/>
        <c:ser>
          <c:idx val="1"/>
          <c:order val="1"/>
          <c:tx>
            <c:strRef>
              <c:f>MaxFacs!$O$1</c:f>
              <c:strCache>
                <c:ptCount val="1"/>
                <c:pt idx="0">
                  <c:v>WLO Booked %</c:v>
                </c:pt>
              </c:strCache>
            </c:strRef>
          </c:tx>
          <c:spPr>
            <a:ln w="15875" cap="rnd">
              <a:solidFill>
                <a:schemeClr val="accent3"/>
              </a:solidFill>
              <a:round/>
            </a:ln>
            <a:effectLst/>
          </c:spPr>
          <c:marker>
            <c:symbol val="none"/>
          </c:marker>
          <c:cat>
            <c:numRef>
              <c:f>MaxFacs!$D$2:$D$97</c:f>
              <c:numCache>
                <c:formatCode>m/d/yyyy</c:formatCode>
                <c:ptCount val="96"/>
                <c:pt idx="0">
                  <c:v>44927</c:v>
                </c:pt>
                <c:pt idx="1">
                  <c:v>44934</c:v>
                </c:pt>
                <c:pt idx="2">
                  <c:v>44941</c:v>
                </c:pt>
                <c:pt idx="3">
                  <c:v>44948</c:v>
                </c:pt>
                <c:pt idx="4">
                  <c:v>44955</c:v>
                </c:pt>
                <c:pt idx="5">
                  <c:v>44962</c:v>
                </c:pt>
                <c:pt idx="6">
                  <c:v>44969</c:v>
                </c:pt>
                <c:pt idx="7">
                  <c:v>44976</c:v>
                </c:pt>
                <c:pt idx="8">
                  <c:v>44983</c:v>
                </c:pt>
                <c:pt idx="9">
                  <c:v>44990</c:v>
                </c:pt>
                <c:pt idx="10">
                  <c:v>44997</c:v>
                </c:pt>
                <c:pt idx="11">
                  <c:v>45004</c:v>
                </c:pt>
                <c:pt idx="12">
                  <c:v>45011</c:v>
                </c:pt>
                <c:pt idx="13">
                  <c:v>45018</c:v>
                </c:pt>
                <c:pt idx="14">
                  <c:v>45025</c:v>
                </c:pt>
                <c:pt idx="15">
                  <c:v>45032</c:v>
                </c:pt>
                <c:pt idx="16">
                  <c:v>45039</c:v>
                </c:pt>
                <c:pt idx="17">
                  <c:v>45046</c:v>
                </c:pt>
                <c:pt idx="18">
                  <c:v>45053</c:v>
                </c:pt>
                <c:pt idx="19">
                  <c:v>45060</c:v>
                </c:pt>
                <c:pt idx="20">
                  <c:v>45067</c:v>
                </c:pt>
                <c:pt idx="21">
                  <c:v>45074</c:v>
                </c:pt>
                <c:pt idx="22">
                  <c:v>45081</c:v>
                </c:pt>
                <c:pt idx="23">
                  <c:v>45088</c:v>
                </c:pt>
                <c:pt idx="24">
                  <c:v>45095</c:v>
                </c:pt>
                <c:pt idx="25">
                  <c:v>45102</c:v>
                </c:pt>
                <c:pt idx="26">
                  <c:v>45109</c:v>
                </c:pt>
                <c:pt idx="27">
                  <c:v>45116</c:v>
                </c:pt>
                <c:pt idx="28">
                  <c:v>45123</c:v>
                </c:pt>
                <c:pt idx="29">
                  <c:v>45130</c:v>
                </c:pt>
                <c:pt idx="30">
                  <c:v>45137</c:v>
                </c:pt>
                <c:pt idx="31">
                  <c:v>45144</c:v>
                </c:pt>
                <c:pt idx="32">
                  <c:v>45151</c:v>
                </c:pt>
                <c:pt idx="33">
                  <c:v>45158</c:v>
                </c:pt>
                <c:pt idx="34">
                  <c:v>45165</c:v>
                </c:pt>
                <c:pt idx="35">
                  <c:v>45172</c:v>
                </c:pt>
                <c:pt idx="36">
                  <c:v>45179</c:v>
                </c:pt>
                <c:pt idx="37">
                  <c:v>45186</c:v>
                </c:pt>
                <c:pt idx="38">
                  <c:v>45193</c:v>
                </c:pt>
                <c:pt idx="39">
                  <c:v>45200</c:v>
                </c:pt>
                <c:pt idx="40">
                  <c:v>45207</c:v>
                </c:pt>
                <c:pt idx="41">
                  <c:v>45214</c:v>
                </c:pt>
                <c:pt idx="42">
                  <c:v>45221</c:v>
                </c:pt>
                <c:pt idx="43">
                  <c:v>45228</c:v>
                </c:pt>
                <c:pt idx="44">
                  <c:v>45235</c:v>
                </c:pt>
                <c:pt idx="45">
                  <c:v>45242</c:v>
                </c:pt>
                <c:pt idx="46">
                  <c:v>45249</c:v>
                </c:pt>
                <c:pt idx="47">
                  <c:v>45256</c:v>
                </c:pt>
                <c:pt idx="48">
                  <c:v>45263</c:v>
                </c:pt>
                <c:pt idx="49">
                  <c:v>45270</c:v>
                </c:pt>
                <c:pt idx="50">
                  <c:v>45277</c:v>
                </c:pt>
                <c:pt idx="51">
                  <c:v>45284</c:v>
                </c:pt>
                <c:pt idx="52">
                  <c:v>45291</c:v>
                </c:pt>
                <c:pt idx="53">
                  <c:v>45298</c:v>
                </c:pt>
                <c:pt idx="54">
                  <c:v>45305</c:v>
                </c:pt>
                <c:pt idx="55">
                  <c:v>45312</c:v>
                </c:pt>
                <c:pt idx="56">
                  <c:v>45319</c:v>
                </c:pt>
                <c:pt idx="57">
                  <c:v>45326</c:v>
                </c:pt>
                <c:pt idx="58">
                  <c:v>45333</c:v>
                </c:pt>
                <c:pt idx="59">
                  <c:v>45340</c:v>
                </c:pt>
                <c:pt idx="60">
                  <c:v>45347</c:v>
                </c:pt>
                <c:pt idx="61">
                  <c:v>45354</c:v>
                </c:pt>
                <c:pt idx="62">
                  <c:v>45361</c:v>
                </c:pt>
                <c:pt idx="63">
                  <c:v>45368</c:v>
                </c:pt>
                <c:pt idx="64">
                  <c:v>45375</c:v>
                </c:pt>
                <c:pt idx="65">
                  <c:v>45382</c:v>
                </c:pt>
                <c:pt idx="66">
                  <c:v>45389</c:v>
                </c:pt>
                <c:pt idx="67">
                  <c:v>45396</c:v>
                </c:pt>
                <c:pt idx="68">
                  <c:v>45403</c:v>
                </c:pt>
                <c:pt idx="69">
                  <c:v>45410</c:v>
                </c:pt>
                <c:pt idx="70">
                  <c:v>45417</c:v>
                </c:pt>
                <c:pt idx="71">
                  <c:v>45424</c:v>
                </c:pt>
                <c:pt idx="72">
                  <c:v>45431</c:v>
                </c:pt>
                <c:pt idx="73">
                  <c:v>45438</c:v>
                </c:pt>
                <c:pt idx="74">
                  <c:v>45445</c:v>
                </c:pt>
                <c:pt idx="75">
                  <c:v>45452</c:v>
                </c:pt>
                <c:pt idx="76">
                  <c:v>45459</c:v>
                </c:pt>
                <c:pt idx="77">
                  <c:v>45466</c:v>
                </c:pt>
                <c:pt idx="78">
                  <c:v>45473</c:v>
                </c:pt>
                <c:pt idx="79">
                  <c:v>45480</c:v>
                </c:pt>
                <c:pt idx="80">
                  <c:v>45487</c:v>
                </c:pt>
                <c:pt idx="81">
                  <c:v>45494</c:v>
                </c:pt>
                <c:pt idx="82">
                  <c:v>45501</c:v>
                </c:pt>
                <c:pt idx="83">
                  <c:v>45508</c:v>
                </c:pt>
                <c:pt idx="84">
                  <c:v>45515</c:v>
                </c:pt>
                <c:pt idx="85">
                  <c:v>45522</c:v>
                </c:pt>
                <c:pt idx="86">
                  <c:v>45529</c:v>
                </c:pt>
                <c:pt idx="87">
                  <c:v>45536</c:v>
                </c:pt>
                <c:pt idx="88">
                  <c:v>45543</c:v>
                </c:pt>
                <c:pt idx="89">
                  <c:v>45550</c:v>
                </c:pt>
                <c:pt idx="90">
                  <c:v>45557</c:v>
                </c:pt>
                <c:pt idx="91">
                  <c:v>45564</c:v>
                </c:pt>
                <c:pt idx="92">
                  <c:v>45571</c:v>
                </c:pt>
                <c:pt idx="93">
                  <c:v>45578</c:v>
                </c:pt>
                <c:pt idx="94">
                  <c:v>45585</c:v>
                </c:pt>
                <c:pt idx="95">
                  <c:v>45592</c:v>
                </c:pt>
              </c:numCache>
            </c:numRef>
          </c:cat>
          <c:val>
            <c:numRef>
              <c:f>MaxFacs!$O$2:$O$97</c:f>
              <c:numCache>
                <c:formatCode>0.00</c:formatCode>
                <c:ptCount val="96"/>
                <c:pt idx="1">
                  <c:v>35.102040816326529</c:v>
                </c:pt>
                <c:pt idx="2">
                  <c:v>71.607142857142861</c:v>
                </c:pt>
                <c:pt idx="3">
                  <c:v>95.918367346938766</c:v>
                </c:pt>
                <c:pt idx="4">
                  <c:v>49.863945578231295</c:v>
                </c:pt>
                <c:pt idx="5">
                  <c:v>29.268292682926827</c:v>
                </c:pt>
                <c:pt idx="6">
                  <c:v>42.585034013605444</c:v>
                </c:pt>
                <c:pt idx="7">
                  <c:v>30.357142857142854</c:v>
                </c:pt>
                <c:pt idx="8">
                  <c:v>37.074829931972793</c:v>
                </c:pt>
                <c:pt idx="9">
                  <c:v>91.768707482993207</c:v>
                </c:pt>
                <c:pt idx="10">
                  <c:v>62.38095238095238</c:v>
                </c:pt>
                <c:pt idx="11">
                  <c:v>92.857142857142861</c:v>
                </c:pt>
                <c:pt idx="12">
                  <c:v>76.734693877551024</c:v>
                </c:pt>
                <c:pt idx="13">
                  <c:v>50.884353741496604</c:v>
                </c:pt>
                <c:pt idx="14">
                  <c:v>46.428571428571431</c:v>
                </c:pt>
                <c:pt idx="15">
                  <c:v>90.476190476190482</c:v>
                </c:pt>
                <c:pt idx="16">
                  <c:v>50.612244897959179</c:v>
                </c:pt>
                <c:pt idx="17">
                  <c:v>91.666666666666671</c:v>
                </c:pt>
                <c:pt idx="18">
                  <c:v>17.261904761904763</c:v>
                </c:pt>
                <c:pt idx="19">
                  <c:v>92.592592592592595</c:v>
                </c:pt>
                <c:pt idx="20">
                  <c:v>18.333333333333332</c:v>
                </c:pt>
                <c:pt idx="21">
                  <c:v>20.136054421768709</c:v>
                </c:pt>
                <c:pt idx="22">
                  <c:v>60</c:v>
                </c:pt>
                <c:pt idx="23">
                  <c:v>92.857142857142861</c:v>
                </c:pt>
                <c:pt idx="24">
                  <c:v>50.27210884353741</c:v>
                </c:pt>
                <c:pt idx="25">
                  <c:v>96.4625850340136</c:v>
                </c:pt>
                <c:pt idx="26">
                  <c:v>84.772727272727266</c:v>
                </c:pt>
                <c:pt idx="27">
                  <c:v>71.515151515151516</c:v>
                </c:pt>
                <c:pt idx="28">
                  <c:v>81.088435374149654</c:v>
                </c:pt>
                <c:pt idx="29">
                  <c:v>80.833333333333343</c:v>
                </c:pt>
                <c:pt idx="30">
                  <c:v>77.272727272727266</c:v>
                </c:pt>
                <c:pt idx="31">
                  <c:v>87.755102040816325</c:v>
                </c:pt>
                <c:pt idx="32">
                  <c:v>94.217687074829925</c:v>
                </c:pt>
                <c:pt idx="33">
                  <c:v>107.21088435374149</c:v>
                </c:pt>
                <c:pt idx="34">
                  <c:v>58.163265306122447</c:v>
                </c:pt>
                <c:pt idx="35">
                  <c:v>84.232804232804241</c:v>
                </c:pt>
                <c:pt idx="36">
                  <c:v>98.163265306122454</c:v>
                </c:pt>
                <c:pt idx="37">
                  <c:v>89.523809523809533</c:v>
                </c:pt>
                <c:pt idx="38">
                  <c:v>78.677248677248684</c:v>
                </c:pt>
                <c:pt idx="39">
                  <c:v>102.14285714285714</c:v>
                </c:pt>
                <c:pt idx="40">
                  <c:v>94.353741496598644</c:v>
                </c:pt>
                <c:pt idx="41">
                  <c:v>97.80952380952381</c:v>
                </c:pt>
                <c:pt idx="42">
                  <c:v>102.97619047619047</c:v>
                </c:pt>
                <c:pt idx="43">
                  <c:v>117.38095238095238</c:v>
                </c:pt>
                <c:pt idx="44">
                  <c:v>122</c:v>
                </c:pt>
                <c:pt idx="45">
                  <c:v>115.51020408163266</c:v>
                </c:pt>
                <c:pt idx="46">
                  <c:v>124.64285714285714</c:v>
                </c:pt>
                <c:pt idx="47">
                  <c:v>141.6931216931217</c:v>
                </c:pt>
                <c:pt idx="48">
                  <c:v>121.96428571428571</c:v>
                </c:pt>
                <c:pt idx="49">
                  <c:v>136.53061224489798</c:v>
                </c:pt>
                <c:pt idx="50">
                  <c:v>81.798941798941797</c:v>
                </c:pt>
                <c:pt idx="51">
                  <c:v>160</c:v>
                </c:pt>
                <c:pt idx="52">
                  <c:v>101.21428571428572</c:v>
                </c:pt>
                <c:pt idx="53">
                  <c:v>140.53061224489795</c:v>
                </c:pt>
                <c:pt idx="54">
                  <c:v>150.47619047619048</c:v>
                </c:pt>
                <c:pt idx="55">
                  <c:v>156.03174603174602</c:v>
                </c:pt>
                <c:pt idx="56">
                  <c:v>103.09090909090909</c:v>
                </c:pt>
                <c:pt idx="57">
                  <c:v>92.16326530612244</c:v>
                </c:pt>
                <c:pt idx="58">
                  <c:v>89.642857142857153</c:v>
                </c:pt>
                <c:pt idx="59">
                  <c:v>117.55555555555557</c:v>
                </c:pt>
                <c:pt idx="60">
                  <c:v>114.81632653061224</c:v>
                </c:pt>
                <c:pt idx="61">
                  <c:v>101.3469387755102</c:v>
                </c:pt>
                <c:pt idx="62">
                  <c:v>112.85714285714286</c:v>
                </c:pt>
                <c:pt idx="63">
                  <c:v>119.36507936507937</c:v>
                </c:pt>
                <c:pt idx="64">
                  <c:v>89.30158730158729</c:v>
                </c:pt>
                <c:pt idx="65">
                  <c:v>85.357142857142847</c:v>
                </c:pt>
                <c:pt idx="66">
                  <c:v>87.079365079365076</c:v>
                </c:pt>
                <c:pt idx="67">
                  <c:v>89.936507936507923</c:v>
                </c:pt>
                <c:pt idx="68">
                  <c:v>102.71428571428571</c:v>
                </c:pt>
                <c:pt idx="69">
                  <c:v>99.904761904761912</c:v>
                </c:pt>
                <c:pt idx="70">
                  <c:v>57.000000000000007</c:v>
                </c:pt>
                <c:pt idx="71">
                  <c:v>99.673469387755105</c:v>
                </c:pt>
                <c:pt idx="72">
                  <c:v>97.777777777777771</c:v>
                </c:pt>
                <c:pt idx="73">
                  <c:v>101.25714285714284</c:v>
                </c:pt>
                <c:pt idx="74">
                  <c:v>90.457142857142856</c:v>
                </c:pt>
                <c:pt idx="75">
                  <c:v>106.37931034482759</c:v>
                </c:pt>
                <c:pt idx="76">
                  <c:v>52.734693877551017</c:v>
                </c:pt>
                <c:pt idx="77">
                  <c:v>102.04081632653062</c:v>
                </c:pt>
                <c:pt idx="78">
                  <c:v>89.65517241379311</c:v>
                </c:pt>
                <c:pt idx="79">
                  <c:v>97.714285714285722</c:v>
                </c:pt>
                <c:pt idx="80">
                  <c:v>39.885714285714286</c:v>
                </c:pt>
                <c:pt idx="81">
                  <c:v>97.877551020408163</c:v>
                </c:pt>
                <c:pt idx="82">
                  <c:v>81.632653061224488</c:v>
                </c:pt>
                <c:pt idx="83">
                  <c:v>94.117647058823522</c:v>
                </c:pt>
                <c:pt idx="84">
                  <c:v>83.206896551724128</c:v>
                </c:pt>
                <c:pt idx="85">
                  <c:v>86.122448979591852</c:v>
                </c:pt>
                <c:pt idx="86">
                  <c:v>91.428571428571431</c:v>
                </c:pt>
                <c:pt idx="87">
                  <c:v>103.23809523809524</c:v>
                </c:pt>
                <c:pt idx="88">
                  <c:v>164.28571428571428</c:v>
                </c:pt>
                <c:pt idx="89">
                  <c:v>96.071428571428569</c:v>
                </c:pt>
                <c:pt idx="90">
                  <c:v>47.058823529411761</c:v>
                </c:pt>
                <c:pt idx="91">
                  <c:v>100.41935483870968</c:v>
                </c:pt>
                <c:pt idx="92">
                  <c:v>95.918367346938766</c:v>
                </c:pt>
                <c:pt idx="93">
                  <c:v>100</c:v>
                </c:pt>
              </c:numCache>
            </c:numRef>
          </c:val>
          <c:smooth val="0"/>
          <c:extLst>
            <c:ext xmlns:c16="http://schemas.microsoft.com/office/drawing/2014/chart" uri="{C3380CC4-5D6E-409C-BE32-E72D297353CC}">
              <c16:uniqueId val="{00000000-6454-4404-B66B-0096FC4E9B03}"/>
            </c:ext>
          </c:extLst>
        </c:ser>
        <c:ser>
          <c:idx val="2"/>
          <c:order val="2"/>
          <c:tx>
            <c:strRef>
              <c:f>MaxFacs!$P$1</c:f>
              <c:strCache>
                <c:ptCount val="1"/>
                <c:pt idx="0">
                  <c:v>Infix Booked %</c:v>
                </c:pt>
              </c:strCache>
            </c:strRef>
          </c:tx>
          <c:spPr>
            <a:ln w="15875" cap="rnd">
              <a:solidFill>
                <a:schemeClr val="accent2"/>
              </a:solidFill>
              <a:round/>
            </a:ln>
            <a:effectLst/>
          </c:spPr>
          <c:marker>
            <c:symbol val="none"/>
          </c:marker>
          <c:cat>
            <c:numRef>
              <c:f>MaxFacs!$D$2:$D$97</c:f>
              <c:numCache>
                <c:formatCode>m/d/yyyy</c:formatCode>
                <c:ptCount val="96"/>
                <c:pt idx="0">
                  <c:v>44927</c:v>
                </c:pt>
                <c:pt idx="1">
                  <c:v>44934</c:v>
                </c:pt>
                <c:pt idx="2">
                  <c:v>44941</c:v>
                </c:pt>
                <c:pt idx="3">
                  <c:v>44948</c:v>
                </c:pt>
                <c:pt idx="4">
                  <c:v>44955</c:v>
                </c:pt>
                <c:pt idx="5">
                  <c:v>44962</c:v>
                </c:pt>
                <c:pt idx="6">
                  <c:v>44969</c:v>
                </c:pt>
                <c:pt idx="7">
                  <c:v>44976</c:v>
                </c:pt>
                <c:pt idx="8">
                  <c:v>44983</c:v>
                </c:pt>
                <c:pt idx="9">
                  <c:v>44990</c:v>
                </c:pt>
                <c:pt idx="10">
                  <c:v>44997</c:v>
                </c:pt>
                <c:pt idx="11">
                  <c:v>45004</c:v>
                </c:pt>
                <c:pt idx="12">
                  <c:v>45011</c:v>
                </c:pt>
                <c:pt idx="13">
                  <c:v>45018</c:v>
                </c:pt>
                <c:pt idx="14">
                  <c:v>45025</c:v>
                </c:pt>
                <c:pt idx="15">
                  <c:v>45032</c:v>
                </c:pt>
                <c:pt idx="16">
                  <c:v>45039</c:v>
                </c:pt>
                <c:pt idx="17">
                  <c:v>45046</c:v>
                </c:pt>
                <c:pt idx="18">
                  <c:v>45053</c:v>
                </c:pt>
                <c:pt idx="19">
                  <c:v>45060</c:v>
                </c:pt>
                <c:pt idx="20">
                  <c:v>45067</c:v>
                </c:pt>
                <c:pt idx="21">
                  <c:v>45074</c:v>
                </c:pt>
                <c:pt idx="22">
                  <c:v>45081</c:v>
                </c:pt>
                <c:pt idx="23">
                  <c:v>45088</c:v>
                </c:pt>
                <c:pt idx="24">
                  <c:v>45095</c:v>
                </c:pt>
                <c:pt idx="25">
                  <c:v>45102</c:v>
                </c:pt>
                <c:pt idx="26">
                  <c:v>45109</c:v>
                </c:pt>
                <c:pt idx="27">
                  <c:v>45116</c:v>
                </c:pt>
                <c:pt idx="28">
                  <c:v>45123</c:v>
                </c:pt>
                <c:pt idx="29">
                  <c:v>45130</c:v>
                </c:pt>
                <c:pt idx="30">
                  <c:v>45137</c:v>
                </c:pt>
                <c:pt idx="31">
                  <c:v>45144</c:v>
                </c:pt>
                <c:pt idx="32">
                  <c:v>45151</c:v>
                </c:pt>
                <c:pt idx="33">
                  <c:v>45158</c:v>
                </c:pt>
                <c:pt idx="34">
                  <c:v>45165</c:v>
                </c:pt>
                <c:pt idx="35">
                  <c:v>45172</c:v>
                </c:pt>
                <c:pt idx="36">
                  <c:v>45179</c:v>
                </c:pt>
                <c:pt idx="37">
                  <c:v>45186</c:v>
                </c:pt>
                <c:pt idx="38">
                  <c:v>45193</c:v>
                </c:pt>
                <c:pt idx="39">
                  <c:v>45200</c:v>
                </c:pt>
                <c:pt idx="40">
                  <c:v>45207</c:v>
                </c:pt>
                <c:pt idx="41">
                  <c:v>45214</c:v>
                </c:pt>
                <c:pt idx="42">
                  <c:v>45221</c:v>
                </c:pt>
                <c:pt idx="43">
                  <c:v>45228</c:v>
                </c:pt>
                <c:pt idx="44">
                  <c:v>45235</c:v>
                </c:pt>
                <c:pt idx="45">
                  <c:v>45242</c:v>
                </c:pt>
                <c:pt idx="46">
                  <c:v>45249</c:v>
                </c:pt>
                <c:pt idx="47">
                  <c:v>45256</c:v>
                </c:pt>
                <c:pt idx="48">
                  <c:v>45263</c:v>
                </c:pt>
                <c:pt idx="49">
                  <c:v>45270</c:v>
                </c:pt>
                <c:pt idx="50">
                  <c:v>45277</c:v>
                </c:pt>
                <c:pt idx="51">
                  <c:v>45284</c:v>
                </c:pt>
                <c:pt idx="52">
                  <c:v>45291</c:v>
                </c:pt>
                <c:pt idx="53">
                  <c:v>45298</c:v>
                </c:pt>
                <c:pt idx="54">
                  <c:v>45305</c:v>
                </c:pt>
                <c:pt idx="55">
                  <c:v>45312</c:v>
                </c:pt>
                <c:pt idx="56">
                  <c:v>45319</c:v>
                </c:pt>
                <c:pt idx="57">
                  <c:v>45326</c:v>
                </c:pt>
                <c:pt idx="58">
                  <c:v>45333</c:v>
                </c:pt>
                <c:pt idx="59">
                  <c:v>45340</c:v>
                </c:pt>
                <c:pt idx="60">
                  <c:v>45347</c:v>
                </c:pt>
                <c:pt idx="61">
                  <c:v>45354</c:v>
                </c:pt>
                <c:pt idx="62">
                  <c:v>45361</c:v>
                </c:pt>
                <c:pt idx="63">
                  <c:v>45368</c:v>
                </c:pt>
                <c:pt idx="64">
                  <c:v>45375</c:v>
                </c:pt>
                <c:pt idx="65">
                  <c:v>45382</c:v>
                </c:pt>
                <c:pt idx="66">
                  <c:v>45389</c:v>
                </c:pt>
                <c:pt idx="67">
                  <c:v>45396</c:v>
                </c:pt>
                <c:pt idx="68">
                  <c:v>45403</c:v>
                </c:pt>
                <c:pt idx="69">
                  <c:v>45410</c:v>
                </c:pt>
                <c:pt idx="70">
                  <c:v>45417</c:v>
                </c:pt>
                <c:pt idx="71">
                  <c:v>45424</c:v>
                </c:pt>
                <c:pt idx="72">
                  <c:v>45431</c:v>
                </c:pt>
                <c:pt idx="73">
                  <c:v>45438</c:v>
                </c:pt>
                <c:pt idx="74">
                  <c:v>45445</c:v>
                </c:pt>
                <c:pt idx="75">
                  <c:v>45452</c:v>
                </c:pt>
                <c:pt idx="76">
                  <c:v>45459</c:v>
                </c:pt>
                <c:pt idx="77">
                  <c:v>45466</c:v>
                </c:pt>
                <c:pt idx="78">
                  <c:v>45473</c:v>
                </c:pt>
                <c:pt idx="79">
                  <c:v>45480</c:v>
                </c:pt>
                <c:pt idx="80">
                  <c:v>45487</c:v>
                </c:pt>
                <c:pt idx="81">
                  <c:v>45494</c:v>
                </c:pt>
                <c:pt idx="82">
                  <c:v>45501</c:v>
                </c:pt>
                <c:pt idx="83">
                  <c:v>45508</c:v>
                </c:pt>
                <c:pt idx="84">
                  <c:v>45515</c:v>
                </c:pt>
                <c:pt idx="85">
                  <c:v>45522</c:v>
                </c:pt>
                <c:pt idx="86">
                  <c:v>45529</c:v>
                </c:pt>
                <c:pt idx="87">
                  <c:v>45536</c:v>
                </c:pt>
                <c:pt idx="88">
                  <c:v>45543</c:v>
                </c:pt>
                <c:pt idx="89">
                  <c:v>45550</c:v>
                </c:pt>
                <c:pt idx="90">
                  <c:v>45557</c:v>
                </c:pt>
                <c:pt idx="91">
                  <c:v>45564</c:v>
                </c:pt>
                <c:pt idx="92">
                  <c:v>45571</c:v>
                </c:pt>
                <c:pt idx="93">
                  <c:v>45578</c:v>
                </c:pt>
                <c:pt idx="94">
                  <c:v>45585</c:v>
                </c:pt>
                <c:pt idx="95">
                  <c:v>45592</c:v>
                </c:pt>
              </c:numCache>
            </c:numRef>
          </c:cat>
          <c:val>
            <c:numRef>
              <c:f>MaxFacs!$P$2:$P$97</c:f>
              <c:numCache>
                <c:formatCode>0.00</c:formatCode>
                <c:ptCount val="96"/>
                <c:pt idx="1">
                  <c:v>17.142857142857142</c:v>
                </c:pt>
                <c:pt idx="2">
                  <c:v>22.976190476190478</c:v>
                </c:pt>
                <c:pt idx="3">
                  <c:v>22.789115646258502</c:v>
                </c:pt>
                <c:pt idx="4">
                  <c:v>36.734693877551024</c:v>
                </c:pt>
                <c:pt idx="5">
                  <c:v>15.365853658536585</c:v>
                </c:pt>
                <c:pt idx="6">
                  <c:v>30.204081632653061</c:v>
                </c:pt>
                <c:pt idx="7">
                  <c:v>16.845238095238095</c:v>
                </c:pt>
                <c:pt idx="8">
                  <c:v>32.721088435374149</c:v>
                </c:pt>
                <c:pt idx="9">
                  <c:v>35.91836734693878</c:v>
                </c:pt>
                <c:pt idx="10">
                  <c:v>43.492063492063487</c:v>
                </c:pt>
                <c:pt idx="11">
                  <c:v>25.476190476190482</c:v>
                </c:pt>
                <c:pt idx="12">
                  <c:v>27.61904761904762</c:v>
                </c:pt>
                <c:pt idx="13">
                  <c:v>36.802721088435376</c:v>
                </c:pt>
                <c:pt idx="14">
                  <c:v>22.5</c:v>
                </c:pt>
                <c:pt idx="15">
                  <c:v>33.280423280423278</c:v>
                </c:pt>
                <c:pt idx="16">
                  <c:v>12.040816326530612</c:v>
                </c:pt>
                <c:pt idx="17">
                  <c:v>40.833333333333336</c:v>
                </c:pt>
                <c:pt idx="18">
                  <c:v>13.333333333333334</c:v>
                </c:pt>
                <c:pt idx="19">
                  <c:v>33.492063492063494</c:v>
                </c:pt>
                <c:pt idx="20">
                  <c:v>18.333333333333332</c:v>
                </c:pt>
                <c:pt idx="21">
                  <c:v>22.448979591836736</c:v>
                </c:pt>
                <c:pt idx="22">
                  <c:v>43.673469387755098</c:v>
                </c:pt>
                <c:pt idx="23">
                  <c:v>35.873015873015873</c:v>
                </c:pt>
                <c:pt idx="24">
                  <c:v>26.258503401360546</c:v>
                </c:pt>
                <c:pt idx="25">
                  <c:v>40.680272108843539</c:v>
                </c:pt>
                <c:pt idx="26">
                  <c:v>65.530303030303031</c:v>
                </c:pt>
                <c:pt idx="27">
                  <c:v>41.13636363636364</c:v>
                </c:pt>
                <c:pt idx="28">
                  <c:v>91.292517006802726</c:v>
                </c:pt>
                <c:pt idx="29">
                  <c:v>55.303030303030297</c:v>
                </c:pt>
                <c:pt idx="30">
                  <c:v>52.121212121212125</c:v>
                </c:pt>
                <c:pt idx="31">
                  <c:v>35.442176870748298</c:v>
                </c:pt>
                <c:pt idx="32">
                  <c:v>44.42176870748299</c:v>
                </c:pt>
                <c:pt idx="33">
                  <c:v>41.700680272108841</c:v>
                </c:pt>
                <c:pt idx="34">
                  <c:v>31.564625850340139</c:v>
                </c:pt>
                <c:pt idx="35">
                  <c:v>37.089947089947088</c:v>
                </c:pt>
                <c:pt idx="36">
                  <c:v>38.503401360544217</c:v>
                </c:pt>
                <c:pt idx="37">
                  <c:v>62.619047619047628</c:v>
                </c:pt>
                <c:pt idx="38">
                  <c:v>37.195767195767196</c:v>
                </c:pt>
                <c:pt idx="39">
                  <c:v>67.063492063492063</c:v>
                </c:pt>
                <c:pt idx="40">
                  <c:v>43.741496598639458</c:v>
                </c:pt>
                <c:pt idx="41">
                  <c:v>60.857142857142854</c:v>
                </c:pt>
                <c:pt idx="42">
                  <c:v>77.5</c:v>
                </c:pt>
                <c:pt idx="43">
                  <c:v>98.63095238095238</c:v>
                </c:pt>
                <c:pt idx="44">
                  <c:v>81.444444444444443</c:v>
                </c:pt>
                <c:pt idx="45">
                  <c:v>106.25850340136056</c:v>
                </c:pt>
                <c:pt idx="46">
                  <c:v>73.988095238095227</c:v>
                </c:pt>
                <c:pt idx="47">
                  <c:v>108.83597883597882</c:v>
                </c:pt>
                <c:pt idx="48">
                  <c:v>85.357142857142847</c:v>
                </c:pt>
                <c:pt idx="49">
                  <c:v>57.210884353741498</c:v>
                </c:pt>
                <c:pt idx="50">
                  <c:v>64.391534391534407</c:v>
                </c:pt>
                <c:pt idx="51">
                  <c:v>108.4126984126984</c:v>
                </c:pt>
                <c:pt idx="52">
                  <c:v>70.142857142857139</c:v>
                </c:pt>
                <c:pt idx="53">
                  <c:v>66.448979591836746</c:v>
                </c:pt>
                <c:pt idx="54">
                  <c:v>76.523809523809533</c:v>
                </c:pt>
                <c:pt idx="55">
                  <c:v>93.333333333333329</c:v>
                </c:pt>
                <c:pt idx="56">
                  <c:v>86.909090909090907</c:v>
                </c:pt>
                <c:pt idx="57">
                  <c:v>36.938775510204088</c:v>
                </c:pt>
                <c:pt idx="58">
                  <c:v>63.464285714285715</c:v>
                </c:pt>
                <c:pt idx="59">
                  <c:v>60.412698412698418</c:v>
                </c:pt>
                <c:pt idx="60">
                  <c:v>68.08163265306122</c:v>
                </c:pt>
                <c:pt idx="61">
                  <c:v>49.102040816326529</c:v>
                </c:pt>
                <c:pt idx="62">
                  <c:v>68.825396825396822</c:v>
                </c:pt>
                <c:pt idx="63">
                  <c:v>75.555555555555557</c:v>
                </c:pt>
                <c:pt idx="64">
                  <c:v>45.80952380952381</c:v>
                </c:pt>
                <c:pt idx="65">
                  <c:v>39.785714285714285</c:v>
                </c:pt>
                <c:pt idx="66">
                  <c:v>43.873015873015873</c:v>
                </c:pt>
                <c:pt idx="67">
                  <c:v>44.603174603174608</c:v>
                </c:pt>
                <c:pt idx="68">
                  <c:v>81.80952380952381</c:v>
                </c:pt>
                <c:pt idx="69">
                  <c:v>45.476190476190482</c:v>
                </c:pt>
                <c:pt idx="70">
                  <c:v>40.095238095238095</c:v>
                </c:pt>
                <c:pt idx="71">
                  <c:v>58.65306122448979</c:v>
                </c:pt>
                <c:pt idx="72">
                  <c:v>61.111111111111114</c:v>
                </c:pt>
                <c:pt idx="73">
                  <c:v>84.685714285714283</c:v>
                </c:pt>
                <c:pt idx="74">
                  <c:v>39.599999999999994</c:v>
                </c:pt>
                <c:pt idx="75">
                  <c:v>50.758620689655174</c:v>
                </c:pt>
                <c:pt idx="76">
                  <c:v>38.653061224489797</c:v>
                </c:pt>
                <c:pt idx="77">
                  <c:v>36.326530612244902</c:v>
                </c:pt>
                <c:pt idx="78">
                  <c:v>54.931034482758619</c:v>
                </c:pt>
                <c:pt idx="79">
                  <c:v>65.314285714285717</c:v>
                </c:pt>
                <c:pt idx="80">
                  <c:v>40.685714285714283</c:v>
                </c:pt>
                <c:pt idx="81">
                  <c:v>78.040816326530617</c:v>
                </c:pt>
                <c:pt idx="82">
                  <c:v>44.897959183673471</c:v>
                </c:pt>
                <c:pt idx="83">
                  <c:v>37.647058823529413</c:v>
                </c:pt>
                <c:pt idx="84">
                  <c:v>46.96551724137931</c:v>
                </c:pt>
                <c:pt idx="85">
                  <c:v>32.04081632653061</c:v>
                </c:pt>
                <c:pt idx="86">
                  <c:v>26</c:v>
                </c:pt>
                <c:pt idx="87">
                  <c:v>54.920634920634924</c:v>
                </c:pt>
                <c:pt idx="88">
                  <c:v>73.314285714285717</c:v>
                </c:pt>
                <c:pt idx="89">
                  <c:v>43.571428571428569</c:v>
                </c:pt>
                <c:pt idx="90">
                  <c:v>32.235294117647065</c:v>
                </c:pt>
                <c:pt idx="91">
                  <c:v>59.612903225806456</c:v>
                </c:pt>
                <c:pt idx="92">
                  <c:v>31.142857142857146</c:v>
                </c:pt>
                <c:pt idx="93">
                  <c:v>55.000000000000007</c:v>
                </c:pt>
              </c:numCache>
            </c:numRef>
          </c:val>
          <c:smooth val="0"/>
          <c:extLst>
            <c:ext xmlns:c16="http://schemas.microsoft.com/office/drawing/2014/chart" uri="{C3380CC4-5D6E-409C-BE32-E72D297353CC}">
              <c16:uniqueId val="{00000001-6454-4404-B66B-0096FC4E9B03}"/>
            </c:ext>
          </c:extLst>
        </c:ser>
        <c:dLbls>
          <c:showLegendKey val="0"/>
          <c:showVal val="0"/>
          <c:showCatName val="0"/>
          <c:showSerName val="0"/>
          <c:showPercent val="0"/>
          <c:showBubbleSize val="0"/>
        </c:dLbls>
        <c:marker val="1"/>
        <c:smooth val="0"/>
        <c:axId val="1568361664"/>
        <c:axId val="1568360224"/>
      </c:lineChart>
      <c:scatterChart>
        <c:scatterStyle val="lineMarker"/>
        <c:varyColors val="0"/>
        <c:ser>
          <c:idx val="0"/>
          <c:order val="0"/>
          <c:tx>
            <c:strRef>
              <c:f>MaxFacs!$G$1</c:f>
              <c:strCache>
                <c:ptCount val="1"/>
                <c:pt idx="0">
                  <c:v>In Session Utilisation %</c:v>
                </c:pt>
              </c:strCache>
            </c:strRef>
          </c:tx>
          <c:spPr>
            <a:ln w="25400" cap="rnd">
              <a:noFill/>
              <a:round/>
            </a:ln>
            <a:effectLst/>
          </c:spPr>
          <c:marker>
            <c:symbol val="circle"/>
            <c:size val="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xVal>
            <c:numRef>
              <c:f>MaxFacs!$D$2:$D$97</c:f>
              <c:numCache>
                <c:formatCode>m/d/yyyy</c:formatCode>
                <c:ptCount val="96"/>
                <c:pt idx="0">
                  <c:v>44927</c:v>
                </c:pt>
                <c:pt idx="1">
                  <c:v>44934</c:v>
                </c:pt>
                <c:pt idx="2">
                  <c:v>44941</c:v>
                </c:pt>
                <c:pt idx="3">
                  <c:v>44948</c:v>
                </c:pt>
                <c:pt idx="4">
                  <c:v>44955</c:v>
                </c:pt>
                <c:pt idx="5">
                  <c:v>44962</c:v>
                </c:pt>
                <c:pt idx="6">
                  <c:v>44969</c:v>
                </c:pt>
                <c:pt idx="7">
                  <c:v>44976</c:v>
                </c:pt>
                <c:pt idx="8">
                  <c:v>44983</c:v>
                </c:pt>
                <c:pt idx="9">
                  <c:v>44990</c:v>
                </c:pt>
                <c:pt idx="10">
                  <c:v>44997</c:v>
                </c:pt>
                <c:pt idx="11">
                  <c:v>45004</c:v>
                </c:pt>
                <c:pt idx="12">
                  <c:v>45011</c:v>
                </c:pt>
                <c:pt idx="13">
                  <c:v>45018</c:v>
                </c:pt>
                <c:pt idx="14">
                  <c:v>45025</c:v>
                </c:pt>
                <c:pt idx="15">
                  <c:v>45032</c:v>
                </c:pt>
                <c:pt idx="16">
                  <c:v>45039</c:v>
                </c:pt>
                <c:pt idx="17">
                  <c:v>45046</c:v>
                </c:pt>
                <c:pt idx="18">
                  <c:v>45053</c:v>
                </c:pt>
                <c:pt idx="19">
                  <c:v>45060</c:v>
                </c:pt>
                <c:pt idx="20">
                  <c:v>45067</c:v>
                </c:pt>
                <c:pt idx="21">
                  <c:v>45074</c:v>
                </c:pt>
                <c:pt idx="22">
                  <c:v>45081</c:v>
                </c:pt>
                <c:pt idx="23">
                  <c:v>45088</c:v>
                </c:pt>
                <c:pt idx="24">
                  <c:v>45095</c:v>
                </c:pt>
                <c:pt idx="25">
                  <c:v>45102</c:v>
                </c:pt>
                <c:pt idx="26">
                  <c:v>45109</c:v>
                </c:pt>
                <c:pt idx="27">
                  <c:v>45116</c:v>
                </c:pt>
                <c:pt idx="28">
                  <c:v>45123</c:v>
                </c:pt>
                <c:pt idx="29">
                  <c:v>45130</c:v>
                </c:pt>
                <c:pt idx="30">
                  <c:v>45137</c:v>
                </c:pt>
                <c:pt idx="31">
                  <c:v>45144</c:v>
                </c:pt>
                <c:pt idx="32">
                  <c:v>45151</c:v>
                </c:pt>
                <c:pt idx="33">
                  <c:v>45158</c:v>
                </c:pt>
                <c:pt idx="34">
                  <c:v>45165</c:v>
                </c:pt>
                <c:pt idx="35">
                  <c:v>45172</c:v>
                </c:pt>
                <c:pt idx="36">
                  <c:v>45179</c:v>
                </c:pt>
                <c:pt idx="37">
                  <c:v>45186</c:v>
                </c:pt>
                <c:pt idx="38">
                  <c:v>45193</c:v>
                </c:pt>
                <c:pt idx="39">
                  <c:v>45200</c:v>
                </c:pt>
                <c:pt idx="40">
                  <c:v>45207</c:v>
                </c:pt>
                <c:pt idx="41">
                  <c:v>45214</c:v>
                </c:pt>
                <c:pt idx="42">
                  <c:v>45221</c:v>
                </c:pt>
                <c:pt idx="43">
                  <c:v>45228</c:v>
                </c:pt>
                <c:pt idx="44">
                  <c:v>45235</c:v>
                </c:pt>
                <c:pt idx="45">
                  <c:v>45242</c:v>
                </c:pt>
                <c:pt idx="46">
                  <c:v>45249</c:v>
                </c:pt>
                <c:pt idx="47">
                  <c:v>45256</c:v>
                </c:pt>
                <c:pt idx="48">
                  <c:v>45263</c:v>
                </c:pt>
                <c:pt idx="49">
                  <c:v>45270</c:v>
                </c:pt>
                <c:pt idx="50">
                  <c:v>45277</c:v>
                </c:pt>
                <c:pt idx="51">
                  <c:v>45284</c:v>
                </c:pt>
                <c:pt idx="52">
                  <c:v>45291</c:v>
                </c:pt>
                <c:pt idx="53">
                  <c:v>45298</c:v>
                </c:pt>
                <c:pt idx="54">
                  <c:v>45305</c:v>
                </c:pt>
                <c:pt idx="55">
                  <c:v>45312</c:v>
                </c:pt>
                <c:pt idx="56">
                  <c:v>45319</c:v>
                </c:pt>
                <c:pt idx="57">
                  <c:v>45326</c:v>
                </c:pt>
                <c:pt idx="58">
                  <c:v>45333</c:v>
                </c:pt>
                <c:pt idx="59">
                  <c:v>45340</c:v>
                </c:pt>
                <c:pt idx="60">
                  <c:v>45347</c:v>
                </c:pt>
                <c:pt idx="61">
                  <c:v>45354</c:v>
                </c:pt>
                <c:pt idx="62">
                  <c:v>45361</c:v>
                </c:pt>
                <c:pt idx="63">
                  <c:v>45368</c:v>
                </c:pt>
                <c:pt idx="64">
                  <c:v>45375</c:v>
                </c:pt>
                <c:pt idx="65">
                  <c:v>45382</c:v>
                </c:pt>
                <c:pt idx="66">
                  <c:v>45389</c:v>
                </c:pt>
                <c:pt idx="67">
                  <c:v>45396</c:v>
                </c:pt>
                <c:pt idx="68">
                  <c:v>45403</c:v>
                </c:pt>
                <c:pt idx="69">
                  <c:v>45410</c:v>
                </c:pt>
                <c:pt idx="70">
                  <c:v>45417</c:v>
                </c:pt>
                <c:pt idx="71">
                  <c:v>45424</c:v>
                </c:pt>
                <c:pt idx="72">
                  <c:v>45431</c:v>
                </c:pt>
                <c:pt idx="73">
                  <c:v>45438</c:v>
                </c:pt>
                <c:pt idx="74">
                  <c:v>45445</c:v>
                </c:pt>
                <c:pt idx="75">
                  <c:v>45452</c:v>
                </c:pt>
                <c:pt idx="76">
                  <c:v>45459</c:v>
                </c:pt>
                <c:pt idx="77">
                  <c:v>45466</c:v>
                </c:pt>
                <c:pt idx="78">
                  <c:v>45473</c:v>
                </c:pt>
                <c:pt idx="79">
                  <c:v>45480</c:v>
                </c:pt>
                <c:pt idx="80">
                  <c:v>45487</c:v>
                </c:pt>
                <c:pt idx="81">
                  <c:v>45494</c:v>
                </c:pt>
                <c:pt idx="82">
                  <c:v>45501</c:v>
                </c:pt>
                <c:pt idx="83">
                  <c:v>45508</c:v>
                </c:pt>
                <c:pt idx="84">
                  <c:v>45515</c:v>
                </c:pt>
                <c:pt idx="85">
                  <c:v>45522</c:v>
                </c:pt>
                <c:pt idx="86">
                  <c:v>45529</c:v>
                </c:pt>
                <c:pt idx="87">
                  <c:v>45536</c:v>
                </c:pt>
                <c:pt idx="88">
                  <c:v>45543</c:v>
                </c:pt>
                <c:pt idx="89">
                  <c:v>45550</c:v>
                </c:pt>
                <c:pt idx="90">
                  <c:v>45557</c:v>
                </c:pt>
                <c:pt idx="91">
                  <c:v>45564</c:v>
                </c:pt>
                <c:pt idx="92">
                  <c:v>45571</c:v>
                </c:pt>
                <c:pt idx="93">
                  <c:v>45578</c:v>
                </c:pt>
                <c:pt idx="94">
                  <c:v>45585</c:v>
                </c:pt>
                <c:pt idx="95">
                  <c:v>45592</c:v>
                </c:pt>
              </c:numCache>
            </c:numRef>
          </c:xVal>
          <c:yVal>
            <c:numRef>
              <c:f>MaxFacs!$G$2:$G$97</c:f>
              <c:numCache>
                <c:formatCode>0.0</c:formatCode>
                <c:ptCount val="96"/>
                <c:pt idx="0">
                  <c:v>89.761904757142858</c:v>
                </c:pt>
                <c:pt idx="1">
                  <c:v>99.455782326530624</c:v>
                </c:pt>
                <c:pt idx="2">
                  <c:v>60</c:v>
                </c:pt>
                <c:pt idx="3">
                  <c:v>99.659863959183681</c:v>
                </c:pt>
                <c:pt idx="4">
                  <c:v>77.210884367346949</c:v>
                </c:pt>
                <c:pt idx="5">
                  <c:v>143.98373985365853</c:v>
                </c:pt>
                <c:pt idx="6">
                  <c:v>97.891156448979601</c:v>
                </c:pt>
                <c:pt idx="7">
                  <c:v>87.321428571428569</c:v>
                </c:pt>
                <c:pt idx="8">
                  <c:v>81.088435387755112</c:v>
                </c:pt>
                <c:pt idx="9">
                  <c:v>95.034013591836739</c:v>
                </c:pt>
                <c:pt idx="10">
                  <c:v>89.920634904761897</c:v>
                </c:pt>
                <c:pt idx="11">
                  <c:v>93.095238071428568</c:v>
                </c:pt>
                <c:pt idx="12">
                  <c:v>85.850340122448983</c:v>
                </c:pt>
                <c:pt idx="13">
                  <c:v>92.993197265306122</c:v>
                </c:pt>
                <c:pt idx="14">
                  <c:v>163.21428571428572</c:v>
                </c:pt>
                <c:pt idx="15">
                  <c:v>109.47089946031747</c:v>
                </c:pt>
                <c:pt idx="16">
                  <c:v>152.44897959183675</c:v>
                </c:pt>
                <c:pt idx="17">
                  <c:v>60.119047614285712</c:v>
                </c:pt>
                <c:pt idx="18">
                  <c:v>159.64285714285717</c:v>
                </c:pt>
                <c:pt idx="19">
                  <c:v>102.11640212698411</c:v>
                </c:pt>
                <c:pt idx="20">
                  <c:v>74.621212136363653</c:v>
                </c:pt>
                <c:pt idx="21">
                  <c:v>108.29931971428573</c:v>
                </c:pt>
                <c:pt idx="22">
                  <c:v>77.551020408163268</c:v>
                </c:pt>
                <c:pt idx="23">
                  <c:v>95.925925936507923</c:v>
                </c:pt>
                <c:pt idx="24">
                  <c:v>68.911564612244888</c:v>
                </c:pt>
                <c:pt idx="25">
                  <c:v>59.659863959183681</c:v>
                </c:pt>
                <c:pt idx="26">
                  <c:v>32.424242422727275</c:v>
                </c:pt>
                <c:pt idx="27">
                  <c:v>47.575757590909092</c:v>
                </c:pt>
                <c:pt idx="28">
                  <c:v>78.367346938775512</c:v>
                </c:pt>
                <c:pt idx="29">
                  <c:v>70.984848500000012</c:v>
                </c:pt>
                <c:pt idx="30">
                  <c:v>78.106060590909081</c:v>
                </c:pt>
                <c:pt idx="31">
                  <c:v>104.6258503265306</c:v>
                </c:pt>
                <c:pt idx="32">
                  <c:v>100.13605440816326</c:v>
                </c:pt>
                <c:pt idx="33">
                  <c:v>51.020408163265309</c:v>
                </c:pt>
                <c:pt idx="34">
                  <c:v>93.605442163265309</c:v>
                </c:pt>
                <c:pt idx="35">
                  <c:v>90.687830698412697</c:v>
                </c:pt>
                <c:pt idx="36">
                  <c:v>77.891156448979586</c:v>
                </c:pt>
                <c:pt idx="37">
                  <c:v>39.76190476428571</c:v>
                </c:pt>
                <c:pt idx="38">
                  <c:v>30.529100526984127</c:v>
                </c:pt>
                <c:pt idx="39">
                  <c:v>56.904761904761905</c:v>
                </c:pt>
                <c:pt idx="40">
                  <c:v>77.142857142857139</c:v>
                </c:pt>
                <c:pt idx="41">
                  <c:v>87.428571428571431</c:v>
                </c:pt>
                <c:pt idx="42">
                  <c:v>87.261904749999999</c:v>
                </c:pt>
                <c:pt idx="43">
                  <c:v>83.392857142857153</c:v>
                </c:pt>
                <c:pt idx="44">
                  <c:v>59.888888886666656</c:v>
                </c:pt>
                <c:pt idx="45">
                  <c:v>98.299319714285701</c:v>
                </c:pt>
                <c:pt idx="46">
                  <c:v>77.083333321428569</c:v>
                </c:pt>
                <c:pt idx="47">
                  <c:v>56.402116412698412</c:v>
                </c:pt>
                <c:pt idx="48">
                  <c:v>73.809523821428584</c:v>
                </c:pt>
                <c:pt idx="49">
                  <c:v>105.10204081632652</c:v>
                </c:pt>
                <c:pt idx="50">
                  <c:v>63.015873015873026</c:v>
                </c:pt>
                <c:pt idx="51">
                  <c:v>82.53968253333332</c:v>
                </c:pt>
                <c:pt idx="52">
                  <c:v>65.476190478571425</c:v>
                </c:pt>
                <c:pt idx="53">
                  <c:v>103.60544216326531</c:v>
                </c:pt>
                <c:pt idx="54">
                  <c:v>79.841269857142848</c:v>
                </c:pt>
                <c:pt idx="55">
                  <c:v>117.93650793650794</c:v>
                </c:pt>
                <c:pt idx="56">
                  <c:v>77.954545454545439</c:v>
                </c:pt>
                <c:pt idx="57">
                  <c:v>101.97278910204082</c:v>
                </c:pt>
                <c:pt idx="58">
                  <c:v>70</c:v>
                </c:pt>
                <c:pt idx="59">
                  <c:v>85.132275142857139</c:v>
                </c:pt>
                <c:pt idx="60">
                  <c:v>81.904761918367356</c:v>
                </c:pt>
                <c:pt idx="61">
                  <c:v>103.80952379591837</c:v>
                </c:pt>
                <c:pt idx="62">
                  <c:v>92.75132276190476</c:v>
                </c:pt>
                <c:pt idx="63">
                  <c:v>100.52910053968253</c:v>
                </c:pt>
                <c:pt idx="64">
                  <c:v>97.037037047619052</c:v>
                </c:pt>
                <c:pt idx="65">
                  <c:v>51.309523807142853</c:v>
                </c:pt>
                <c:pt idx="66">
                  <c:v>96.984126984126988</c:v>
                </c:pt>
                <c:pt idx="67">
                  <c:v>108.4126984126984</c:v>
                </c:pt>
                <c:pt idx="68">
                  <c:v>78.412698428571431</c:v>
                </c:pt>
                <c:pt idx="69">
                  <c:v>83.730158714285707</c:v>
                </c:pt>
                <c:pt idx="70">
                  <c:v>50.714285714285708</c:v>
                </c:pt>
                <c:pt idx="71">
                  <c:v>75.91836734693878</c:v>
                </c:pt>
                <c:pt idx="72">
                  <c:v>75.343915333333328</c:v>
                </c:pt>
                <c:pt idx="73">
                  <c:v>96.571428571428569</c:v>
                </c:pt>
                <c:pt idx="74">
                  <c:v>69.523809542857137</c:v>
                </c:pt>
                <c:pt idx="75">
                  <c:v>108.7356321724138</c:v>
                </c:pt>
                <c:pt idx="76">
                  <c:v>91.632653061224488</c:v>
                </c:pt>
                <c:pt idx="77">
                  <c:v>115.37414967346939</c:v>
                </c:pt>
                <c:pt idx="78">
                  <c:v>80.632183896551723</c:v>
                </c:pt>
                <c:pt idx="79">
                  <c:v>77.33333331428571</c:v>
                </c:pt>
                <c:pt idx="80">
                  <c:v>99.619047600000002</c:v>
                </c:pt>
                <c:pt idx="81">
                  <c:v>59.523809510204082</c:v>
                </c:pt>
                <c:pt idx="82">
                  <c:v>69.727891142857132</c:v>
                </c:pt>
                <c:pt idx="83">
                  <c:v>81.111111098039217</c:v>
                </c:pt>
                <c:pt idx="84">
                  <c:v>76.321839068965517</c:v>
                </c:pt>
                <c:pt idx="85">
                  <c:v>89.115646244897945</c:v>
                </c:pt>
                <c:pt idx="86">
                  <c:v>105.6190476</c:v>
                </c:pt>
                <c:pt idx="87">
                  <c:v>90.634920634920633</c:v>
                </c:pt>
                <c:pt idx="88">
                  <c:v>92.476190457142863</c:v>
                </c:pt>
                <c:pt idx="89">
                  <c:v>94.166666642857138</c:v>
                </c:pt>
                <c:pt idx="90">
                  <c:v>55.816993450980391</c:v>
                </c:pt>
                <c:pt idx="91">
                  <c:v>92.903225806451616</c:v>
                </c:pt>
                <c:pt idx="92">
                  <c:v>104.2176870612245</c:v>
                </c:pt>
                <c:pt idx="93">
                  <c:v>56.428571428571431</c:v>
                </c:pt>
              </c:numCache>
            </c:numRef>
          </c:yVal>
          <c:smooth val="0"/>
          <c:extLst>
            <c:ext xmlns:c16="http://schemas.microsoft.com/office/drawing/2014/chart" uri="{C3380CC4-5D6E-409C-BE32-E72D297353CC}">
              <c16:uniqueId val="{00000002-6454-4404-B66B-0096FC4E9B03}"/>
            </c:ext>
          </c:extLst>
        </c:ser>
        <c:dLbls>
          <c:showLegendKey val="0"/>
          <c:showVal val="0"/>
          <c:showCatName val="0"/>
          <c:showSerName val="0"/>
          <c:showPercent val="0"/>
          <c:showBubbleSize val="0"/>
        </c:dLbls>
        <c:axId val="1568361664"/>
        <c:axId val="1568360224"/>
      </c:scatterChart>
      <c:dateAx>
        <c:axId val="1568361664"/>
        <c:scaling>
          <c:orientation val="minMax"/>
          <c:max val="45577"/>
          <c:min val="44934"/>
        </c:scaling>
        <c:delete val="1"/>
        <c:axPos val="b"/>
        <c:numFmt formatCode="m/d/yyyy" sourceLinked="1"/>
        <c:majorTickMark val="none"/>
        <c:minorTickMark val="none"/>
        <c:tickLblPos val="nextTo"/>
        <c:crossAx val="1568360224"/>
        <c:crosses val="autoZero"/>
        <c:auto val="1"/>
        <c:lblOffset val="100"/>
        <c:baseTimeUnit val="days"/>
        <c:majorUnit val="7"/>
        <c:majorTimeUnit val="days"/>
      </c:dateAx>
      <c:valAx>
        <c:axId val="1568360224"/>
        <c:scaling>
          <c:orientation val="minMax"/>
          <c:max val="180"/>
          <c:min val="0"/>
        </c:scaling>
        <c:delete val="0"/>
        <c:axPos val="l"/>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568361664"/>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Export!$A$5</c:f>
              <c:strCache>
                <c:ptCount val="1"/>
                <c:pt idx="0">
                  <c:v>ENT - Baseline national times</c:v>
                </c:pt>
              </c:strCache>
            </c:strRef>
          </c:tx>
          <c:spPr>
            <a:ln w="28575" cap="rnd">
              <a:solidFill>
                <a:srgbClr val="00A3FF"/>
              </a:solidFill>
              <a:round/>
            </a:ln>
            <a:effectLst/>
          </c:spPr>
          <c:marker>
            <c:symbol val="circle"/>
            <c:size val="5"/>
            <c:spPr>
              <a:solidFill>
                <a:srgbClr val="00A3FF"/>
              </a:solidFill>
              <a:ln w="9525">
                <a:noFill/>
              </a:ln>
              <a:effectLst/>
            </c:spPr>
          </c:marker>
          <c:val>
            <c:numRef>
              <c:f>Export!$B$5:$E$5</c:f>
              <c:numCache>
                <c:formatCode>0.0</c:formatCode>
                <c:ptCount val="4"/>
                <c:pt idx="0">
                  <c:v>94.4</c:v>
                </c:pt>
                <c:pt idx="1">
                  <c:v>85.8</c:v>
                </c:pt>
                <c:pt idx="2">
                  <c:v>81.599999999999994</c:v>
                </c:pt>
                <c:pt idx="3">
                  <c:v>75.2</c:v>
                </c:pt>
              </c:numCache>
            </c:numRef>
          </c:val>
          <c:smooth val="0"/>
          <c:extLst>
            <c:ext xmlns:c16="http://schemas.microsoft.com/office/drawing/2014/chart" uri="{C3380CC4-5D6E-409C-BE32-E72D297353CC}">
              <c16:uniqueId val="{00000000-9EFD-44BC-86E8-BAEB92408298}"/>
            </c:ext>
          </c:extLst>
        </c:ser>
        <c:ser>
          <c:idx val="2"/>
          <c:order val="1"/>
          <c:tx>
            <c:strRef>
              <c:f>Export!$A$6</c:f>
              <c:strCache>
                <c:ptCount val="1"/>
                <c:pt idx="0">
                  <c:v>ENT - AI local variant modelling</c:v>
                </c:pt>
              </c:strCache>
            </c:strRef>
          </c:tx>
          <c:spPr>
            <a:ln w="28575" cap="rnd">
              <a:solidFill>
                <a:srgbClr val="33D6B0"/>
              </a:solidFill>
              <a:round/>
            </a:ln>
            <a:effectLst/>
          </c:spPr>
          <c:marker>
            <c:symbol val="circle"/>
            <c:size val="5"/>
            <c:spPr>
              <a:solidFill>
                <a:srgbClr val="33D6B0"/>
              </a:solidFill>
              <a:ln w="9525">
                <a:noFill/>
              </a:ln>
              <a:effectLst/>
            </c:spPr>
          </c:marker>
          <c:val>
            <c:numRef>
              <c:f>Export!$B$6:$E$6</c:f>
              <c:numCache>
                <c:formatCode>0.0</c:formatCode>
                <c:ptCount val="4"/>
                <c:pt idx="0">
                  <c:v>93.6</c:v>
                </c:pt>
                <c:pt idx="1">
                  <c:v>96.9</c:v>
                </c:pt>
                <c:pt idx="2">
                  <c:v>94.8</c:v>
                </c:pt>
                <c:pt idx="3">
                  <c:v>91.2</c:v>
                </c:pt>
              </c:numCache>
            </c:numRef>
          </c:val>
          <c:smooth val="0"/>
          <c:extLst>
            <c:ext xmlns:c16="http://schemas.microsoft.com/office/drawing/2014/chart" uri="{C3380CC4-5D6E-409C-BE32-E72D297353CC}">
              <c16:uniqueId val="{00000001-9EFD-44BC-86E8-BAEB92408298}"/>
            </c:ext>
          </c:extLst>
        </c:ser>
        <c:dLbls>
          <c:showLegendKey val="0"/>
          <c:showVal val="0"/>
          <c:showCatName val="0"/>
          <c:showSerName val="0"/>
          <c:showPercent val="0"/>
          <c:showBubbleSize val="0"/>
        </c:dLbls>
        <c:marker val="1"/>
        <c:smooth val="0"/>
        <c:axId val="1676475423"/>
        <c:axId val="1611221007"/>
      </c:lineChart>
      <c:catAx>
        <c:axId val="1676475423"/>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r>
                  <a:rPr lang="en-GB" sz="900">
                    <a:solidFill>
                      <a:schemeClr val="tx1"/>
                    </a:solidFill>
                  </a:rPr>
                  <a:t>Month</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11221007"/>
        <c:crosses val="autoZero"/>
        <c:auto val="1"/>
        <c:lblAlgn val="ctr"/>
        <c:lblOffset val="100"/>
        <c:noMultiLvlLbl val="0"/>
      </c:catAx>
      <c:valAx>
        <c:axId val="1611221007"/>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r>
                  <a:rPr lang="en-GB" sz="900">
                    <a:solidFill>
                      <a:schemeClr val="tx1"/>
                    </a:solidFill>
                  </a:rPr>
                  <a:t>% Accuracy</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764754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303872684077656"/>
          <c:y val="5.0962059348728959E-2"/>
          <c:w val="0.82656569329010499"/>
          <c:h val="0.50995438220814915"/>
        </c:manualLayout>
      </c:layout>
      <c:lineChart>
        <c:grouping val="standard"/>
        <c:varyColors val="0"/>
        <c:ser>
          <c:idx val="1"/>
          <c:order val="0"/>
          <c:tx>
            <c:strRef>
              <c:f>Export!$N$4</c:f>
              <c:strCache>
                <c:ptCount val="1"/>
                <c:pt idx="0">
                  <c:v>Urology - AI modelling for surgical code improvement</c:v>
                </c:pt>
              </c:strCache>
            </c:strRef>
          </c:tx>
          <c:spPr>
            <a:ln w="28575" cap="rnd">
              <a:solidFill>
                <a:schemeClr val="accent2"/>
              </a:solidFill>
              <a:round/>
            </a:ln>
            <a:effectLst/>
          </c:spPr>
          <c:marker>
            <c:symbol val="circle"/>
            <c:size val="5"/>
            <c:spPr>
              <a:solidFill>
                <a:schemeClr val="accent2"/>
              </a:solidFill>
              <a:ln w="9525">
                <a:noFill/>
              </a:ln>
              <a:effectLst/>
            </c:spPr>
          </c:marker>
          <c:val>
            <c:numRef>
              <c:f>Export!$O$4:$S$4</c:f>
              <c:numCache>
                <c:formatCode>General</c:formatCode>
                <c:ptCount val="5"/>
                <c:pt idx="0">
                  <c:v>92.5</c:v>
                </c:pt>
                <c:pt idx="1">
                  <c:v>92.5</c:v>
                </c:pt>
                <c:pt idx="2">
                  <c:v>71.900000000000006</c:v>
                </c:pt>
                <c:pt idx="3">
                  <c:v>86.5</c:v>
                </c:pt>
                <c:pt idx="4">
                  <c:v>89.8</c:v>
                </c:pt>
              </c:numCache>
            </c:numRef>
          </c:val>
          <c:smooth val="0"/>
          <c:extLst>
            <c:ext xmlns:c16="http://schemas.microsoft.com/office/drawing/2014/chart" uri="{C3380CC4-5D6E-409C-BE32-E72D297353CC}">
              <c16:uniqueId val="{00000000-B170-434E-87BD-2E12398D3A52}"/>
            </c:ext>
          </c:extLst>
        </c:ser>
        <c:ser>
          <c:idx val="2"/>
          <c:order val="1"/>
          <c:tx>
            <c:strRef>
              <c:f>Export!$N$5</c:f>
              <c:strCache>
                <c:ptCount val="1"/>
                <c:pt idx="0">
                  <c:v>Urology - national baseline times</c:v>
                </c:pt>
              </c:strCache>
            </c:strRef>
          </c:tx>
          <c:spPr>
            <a:ln w="28575" cap="rnd">
              <a:solidFill>
                <a:schemeClr val="accent1"/>
              </a:solidFill>
              <a:round/>
            </a:ln>
            <a:effectLst/>
          </c:spPr>
          <c:marker>
            <c:symbol val="circle"/>
            <c:size val="5"/>
            <c:spPr>
              <a:solidFill>
                <a:schemeClr val="accent1"/>
              </a:solidFill>
              <a:ln w="9525">
                <a:noFill/>
              </a:ln>
              <a:effectLst/>
            </c:spPr>
          </c:marker>
          <c:val>
            <c:numRef>
              <c:f>Export!$O$5:$S$5</c:f>
              <c:numCache>
                <c:formatCode>General</c:formatCode>
                <c:ptCount val="5"/>
                <c:pt idx="0">
                  <c:v>86.6</c:v>
                </c:pt>
                <c:pt idx="1">
                  <c:v>83.8</c:v>
                </c:pt>
                <c:pt idx="2">
                  <c:v>65.8</c:v>
                </c:pt>
                <c:pt idx="3">
                  <c:v>75.099999999999994</c:v>
                </c:pt>
                <c:pt idx="4">
                  <c:v>84.2</c:v>
                </c:pt>
              </c:numCache>
            </c:numRef>
          </c:val>
          <c:smooth val="0"/>
          <c:extLst>
            <c:ext xmlns:c16="http://schemas.microsoft.com/office/drawing/2014/chart" uri="{C3380CC4-5D6E-409C-BE32-E72D297353CC}">
              <c16:uniqueId val="{00000001-B170-434E-87BD-2E12398D3A52}"/>
            </c:ext>
          </c:extLst>
        </c:ser>
        <c:dLbls>
          <c:showLegendKey val="0"/>
          <c:showVal val="0"/>
          <c:showCatName val="0"/>
          <c:showSerName val="0"/>
          <c:showPercent val="0"/>
          <c:showBubbleSize val="0"/>
        </c:dLbls>
        <c:marker val="1"/>
        <c:smooth val="0"/>
        <c:axId val="1676475423"/>
        <c:axId val="1611221007"/>
      </c:lineChart>
      <c:catAx>
        <c:axId val="1676475423"/>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r>
                  <a:rPr lang="en-GB" sz="900">
                    <a:solidFill>
                      <a:schemeClr val="tx1"/>
                    </a:solidFill>
                  </a:rPr>
                  <a:t>Month</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11221007"/>
        <c:crosses val="autoZero"/>
        <c:auto val="1"/>
        <c:lblAlgn val="ctr"/>
        <c:lblOffset val="100"/>
        <c:noMultiLvlLbl val="0"/>
      </c:catAx>
      <c:valAx>
        <c:axId val="1611221007"/>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r>
                  <a:rPr lang="en-GB" sz="900">
                    <a:solidFill>
                      <a:schemeClr val="tx1"/>
                    </a:solidFill>
                  </a:rPr>
                  <a:t>% Accuracy</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76475423"/>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25">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5"/>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75000"/>
            <a:lumOff val="25000"/>
          </a:schemeClr>
        </a:solidFill>
      </a:ln>
    </cs:spPr>
  </cs:downBar>
  <cs:dropLine>
    <cs:lnRef idx="0"/>
    <cs:fillRef idx="0"/>
    <cs:effectRef idx="0"/>
    <cs:fontRef idx="minor">
      <a:schemeClr val="dk1"/>
    </cs:fontRef>
    <cs:spPr>
      <a:ln w="9525">
        <a:solidFill>
          <a:schemeClr val="tx1">
            <a:lumMod val="75000"/>
            <a:lumOff val="25000"/>
          </a:schemeClr>
        </a:solidFill>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75000"/>
            <a:lumOff val="25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25">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5"/>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75000"/>
            <a:lumOff val="25000"/>
          </a:schemeClr>
        </a:solidFill>
      </a:ln>
    </cs:spPr>
  </cs:downBar>
  <cs:dropLine>
    <cs:lnRef idx="0"/>
    <cs:fillRef idx="0"/>
    <cs:effectRef idx="0"/>
    <cs:fontRef idx="minor">
      <a:schemeClr val="dk1"/>
    </cs:fontRef>
    <cs:spPr>
      <a:ln w="9525">
        <a:solidFill>
          <a:schemeClr val="tx1">
            <a:lumMod val="75000"/>
            <a:lumOff val="25000"/>
          </a:schemeClr>
        </a:solidFill>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75000"/>
            <a:lumOff val="25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30_0.xml><?xml version="1.0" encoding="utf-8"?>
<p188:cmLst xmlns:a="http://schemas.openxmlformats.org/drawingml/2006/main" xmlns:r="http://schemas.openxmlformats.org/officeDocument/2006/relationships" xmlns:p188="http://schemas.microsoft.com/office/powerpoint/2018/8/main">
  <p188:cm id="{07661D71-A3D8-4F82-AF20-37CCD21353FC}" authorId="{70BDC9DD-D4EA-6664-E3FE-31E1997CDB59}" created="2025-01-16T14:32:59.081">
    <ac:txMkLst xmlns:ac="http://schemas.microsoft.com/office/drawing/2013/main/command">
      <pc:docMk xmlns:pc="http://schemas.microsoft.com/office/powerpoint/2013/main/command"/>
      <pc:sldMk xmlns:pc="http://schemas.microsoft.com/office/powerpoint/2013/main/command" cId="0" sldId="304"/>
      <ac:spMk id="94" creationId="{00000000-0000-0000-0000-000000000000}"/>
      <ac:txMk cp="8">
        <ac:context len="30" hash="1627273100"/>
      </ac:txMk>
    </ac:txMkLst>
    <p188:pos x="6084414" y="247982"/>
    <p188:replyLst>
      <p188:reply id="{947ABCC5-C849-4535-96F9-64F6A7F20B52}" authorId="{5D122E5D-3FDA-1187-D908-C0508CF89EB7}" created="2025-01-20T08:20:14.981">
        <p188:txBody>
          <a:bodyPr/>
          <a:lstStyle/>
          <a:p>
            <a:r>
              <a:rPr lang="en-GB"/>
              <a:t>The main reason we are doing this is for feedback for GG&amp;C to demonstrate the results/benefits</a:t>
            </a:r>
          </a:p>
        </p188:txBody>
      </p188:reply>
    </p188:replyLst>
    <p188:txBody>
      <a:bodyPr/>
      <a:lstStyle/>
      <a:p>
        <a:r>
          <a:rPr lang="en-GB"/>
          <a:t>How do we want to title this pack as there are several themes to it</a:t>
        </a:r>
      </a:p>
    </p188:txBody>
  </p188:cm>
</p188:cmLst>
</file>

<file path=ppt/drawings/drawing1.xml><?xml version="1.0" encoding="utf-8"?>
<c:userShapes xmlns:c="http://schemas.openxmlformats.org/drawingml/2006/chart">
  <cdr:relSizeAnchor xmlns:cdr="http://schemas.openxmlformats.org/drawingml/2006/chartDrawing">
    <cdr:from>
      <cdr:x>0.06027</cdr:x>
      <cdr:y>0.08013</cdr:y>
    </cdr:from>
    <cdr:to>
      <cdr:x>0.3278</cdr:x>
      <cdr:y>0.91987</cdr:y>
    </cdr:to>
    <cdr:sp macro="" textlink="">
      <cdr:nvSpPr>
        <cdr:cNvPr id="2" name="Rectangle 1">
          <a:extLst xmlns:a="http://schemas.openxmlformats.org/drawingml/2006/main">
            <a:ext uri="{FF2B5EF4-FFF2-40B4-BE49-F238E27FC236}">
              <a16:creationId xmlns:a16="http://schemas.microsoft.com/office/drawing/2014/main" id="{FA783EC3-C0E8-2192-1C6A-60E7F657EE0A}"/>
            </a:ext>
          </a:extLst>
        </cdr:cNvPr>
        <cdr:cNvSpPr/>
      </cdr:nvSpPr>
      <cdr:spPr>
        <a:xfrm xmlns:a="http://schemas.openxmlformats.org/drawingml/2006/main">
          <a:off x="536922" y="380982"/>
          <a:ext cx="2383438" cy="3992597"/>
        </a:xfrm>
        <a:prstGeom xmlns:a="http://schemas.openxmlformats.org/drawingml/2006/main" prst="rect">
          <a:avLst/>
        </a:prstGeom>
        <a:solidFill xmlns:a="http://schemas.openxmlformats.org/drawingml/2006/main">
          <a:schemeClr val="accent2">
            <a:alpha val="20000"/>
          </a:schemeClr>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relSizeAnchor>
  <cdr:relSizeAnchor xmlns:cdr="http://schemas.openxmlformats.org/drawingml/2006/chartDrawing">
    <cdr:from>
      <cdr:x>0.08781</cdr:x>
      <cdr:y>0.08938</cdr:y>
    </cdr:from>
    <cdr:to>
      <cdr:x>0.29297</cdr:x>
      <cdr:y>0.19619</cdr:y>
    </cdr:to>
    <cdr:sp macro="" textlink="">
      <cdr:nvSpPr>
        <cdr:cNvPr id="3" name="TextBox 4">
          <a:extLst xmlns:a="http://schemas.openxmlformats.org/drawingml/2006/main">
            <a:ext uri="{FF2B5EF4-FFF2-40B4-BE49-F238E27FC236}">
              <a16:creationId xmlns:a16="http://schemas.microsoft.com/office/drawing/2014/main" id="{77CED1C8-3EEE-9EA2-A02F-09B916B8ABCD}"/>
            </a:ext>
          </a:extLst>
        </cdr:cNvPr>
        <cdr:cNvSpPr txBox="1"/>
      </cdr:nvSpPr>
      <cdr:spPr>
        <a:xfrm xmlns:a="http://schemas.openxmlformats.org/drawingml/2006/main">
          <a:off x="782302" y="424945"/>
          <a:ext cx="1827748" cy="507831"/>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GB" sz="1100" dirty="0">
              <a:latin typeface="Lexend"/>
            </a:rPr>
            <a:t>4-month work on adding additional booking procedure codes to reduce variation</a:t>
          </a:r>
        </a:p>
      </cdr:txBody>
    </cdr:sp>
  </cdr:relSizeAnchor>
  <cdr:relSizeAnchor xmlns:cdr="http://schemas.openxmlformats.org/drawingml/2006/chartDrawing">
    <cdr:from>
      <cdr:x>0.35252</cdr:x>
      <cdr:y>0.0788</cdr:y>
    </cdr:from>
    <cdr:to>
      <cdr:x>0.97147</cdr:x>
      <cdr:y>0.92078</cdr:y>
    </cdr:to>
    <cdr:sp macro="" textlink="">
      <cdr:nvSpPr>
        <cdr:cNvPr id="4" name="Rectangle 3">
          <a:extLst xmlns:a="http://schemas.openxmlformats.org/drawingml/2006/main">
            <a:ext uri="{FF2B5EF4-FFF2-40B4-BE49-F238E27FC236}">
              <a16:creationId xmlns:a16="http://schemas.microsoft.com/office/drawing/2014/main" id="{00911D03-1D40-1B17-E51D-F0C4649960AE}"/>
            </a:ext>
          </a:extLst>
        </cdr:cNvPr>
        <cdr:cNvSpPr/>
      </cdr:nvSpPr>
      <cdr:spPr>
        <a:xfrm xmlns:a="http://schemas.openxmlformats.org/drawingml/2006/main">
          <a:off x="3140638" y="374650"/>
          <a:ext cx="5514212" cy="4003271"/>
        </a:xfrm>
        <a:prstGeom xmlns:a="http://schemas.openxmlformats.org/drawingml/2006/main" prst="rect">
          <a:avLst/>
        </a:prstGeom>
        <a:solidFill xmlns:a="http://schemas.openxmlformats.org/drawingml/2006/main">
          <a:schemeClr val="accent1">
            <a:lumMod val="40000"/>
            <a:lumOff val="60000"/>
            <a:alpha val="20000"/>
          </a:schemeClr>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indent="0" algn="l" defTabSz="914400" rtl="0" eaLnBrk="1" latinLnBrk="0" hangingPunct="1">
            <a:defRPr sz="1800" kern="1200">
              <a:solidFill>
                <a:schemeClr val="lt1"/>
              </a:solidFill>
              <a:latin typeface="+mn-lt"/>
              <a:ea typeface="+mn-ea"/>
              <a:cs typeface="+mn-cs"/>
            </a:defRPr>
          </a:lvl1pPr>
          <a:lvl2pPr marL="457200" indent="0" algn="l" defTabSz="914400" rtl="0" eaLnBrk="1" latinLnBrk="0" hangingPunct="1">
            <a:defRPr sz="1800" kern="1200">
              <a:solidFill>
                <a:schemeClr val="lt1"/>
              </a:solidFill>
              <a:latin typeface="+mn-lt"/>
              <a:ea typeface="+mn-ea"/>
              <a:cs typeface="+mn-cs"/>
            </a:defRPr>
          </a:lvl2pPr>
          <a:lvl3pPr marL="914400" indent="0" algn="l" defTabSz="914400" rtl="0" eaLnBrk="1" latinLnBrk="0" hangingPunct="1">
            <a:defRPr sz="1800" kern="1200">
              <a:solidFill>
                <a:schemeClr val="lt1"/>
              </a:solidFill>
              <a:latin typeface="+mn-lt"/>
              <a:ea typeface="+mn-ea"/>
              <a:cs typeface="+mn-cs"/>
            </a:defRPr>
          </a:lvl3pPr>
          <a:lvl4pPr marL="1371600" indent="0" algn="l" defTabSz="914400" rtl="0" eaLnBrk="1" latinLnBrk="0" hangingPunct="1">
            <a:defRPr sz="1800" kern="1200">
              <a:solidFill>
                <a:schemeClr val="lt1"/>
              </a:solidFill>
              <a:latin typeface="+mn-lt"/>
              <a:ea typeface="+mn-ea"/>
              <a:cs typeface="+mn-cs"/>
            </a:defRPr>
          </a:lvl4pPr>
          <a:lvl5pPr marL="1828800" indent="0" algn="l" defTabSz="914400" rtl="0" eaLnBrk="1" latinLnBrk="0" hangingPunct="1">
            <a:defRPr sz="1800" kern="1200">
              <a:solidFill>
                <a:schemeClr val="lt1"/>
              </a:solidFill>
              <a:latin typeface="+mn-lt"/>
              <a:ea typeface="+mn-ea"/>
              <a:cs typeface="+mn-cs"/>
            </a:defRPr>
          </a:lvl5pPr>
          <a:lvl6pPr marL="2286000" indent="0" algn="l" defTabSz="914400" rtl="0" eaLnBrk="1" latinLnBrk="0" hangingPunct="1">
            <a:defRPr sz="1800" kern="1200">
              <a:solidFill>
                <a:schemeClr val="lt1"/>
              </a:solidFill>
              <a:latin typeface="+mn-lt"/>
              <a:ea typeface="+mn-ea"/>
              <a:cs typeface="+mn-cs"/>
            </a:defRPr>
          </a:lvl6pPr>
          <a:lvl7pPr marL="2743200" indent="0" algn="l" defTabSz="914400" rtl="0" eaLnBrk="1" latinLnBrk="0" hangingPunct="1">
            <a:defRPr sz="1800" kern="1200">
              <a:solidFill>
                <a:schemeClr val="lt1"/>
              </a:solidFill>
              <a:latin typeface="+mn-lt"/>
              <a:ea typeface="+mn-ea"/>
              <a:cs typeface="+mn-cs"/>
            </a:defRPr>
          </a:lvl7pPr>
          <a:lvl8pPr marL="3200400" indent="0" algn="l" defTabSz="914400" rtl="0" eaLnBrk="1" latinLnBrk="0" hangingPunct="1">
            <a:defRPr sz="1800" kern="1200">
              <a:solidFill>
                <a:schemeClr val="lt1"/>
              </a:solidFill>
              <a:latin typeface="+mn-lt"/>
              <a:ea typeface="+mn-ea"/>
              <a:cs typeface="+mn-cs"/>
            </a:defRPr>
          </a:lvl8pPr>
          <a:lvl9pPr marL="3657600" indent="0" algn="l" defTabSz="9144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relSizeAnchor>
  <cdr:relSizeAnchor xmlns:cdr="http://schemas.openxmlformats.org/drawingml/2006/chartDrawing">
    <cdr:from>
      <cdr:x>0.65517</cdr:x>
      <cdr:y>0.07335</cdr:y>
    </cdr:from>
    <cdr:to>
      <cdr:x>0.86032</cdr:x>
      <cdr:y>0.28697</cdr:y>
    </cdr:to>
    <cdr:sp macro="" textlink="">
      <cdr:nvSpPr>
        <cdr:cNvPr id="5" name="TextBox 4">
          <a:extLst xmlns:a="http://schemas.openxmlformats.org/drawingml/2006/main">
            <a:ext uri="{FF2B5EF4-FFF2-40B4-BE49-F238E27FC236}">
              <a16:creationId xmlns:a16="http://schemas.microsoft.com/office/drawing/2014/main" id="{C1B87C18-AC4B-6265-0DB4-BB1DD1228D49}"/>
            </a:ext>
          </a:extLst>
        </cdr:cNvPr>
        <cdr:cNvSpPr txBox="1"/>
      </cdr:nvSpPr>
      <cdr:spPr>
        <a:xfrm xmlns:a="http://schemas.openxmlformats.org/drawingml/2006/main">
          <a:off x="5836902" y="348745"/>
          <a:ext cx="1827748" cy="1015663"/>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xmlns:a="http://schemas.openxmlformats.org/drawingml/2006/main">
          <a:r>
            <a:rPr lang="en-GB" sz="1100" dirty="0">
              <a:latin typeface="Lexend"/>
            </a:rPr>
            <a:t>Despite more procedure codes made available to admin, many continued old behaviour in process. More generic codes used in this speciality compared to others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3A841D-E6DA-4D8B-B0F7-A84C92F69FE8}" type="datetimeFigureOut">
              <a:rPr lang="en-GB" smtClean="0"/>
              <a:t>26/05/2026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A2F36-51AE-4B98-ABC5-CA04B5887A43}" type="slidenum">
              <a:rPr lang="en-GB" smtClean="0"/>
              <a:t>‹#›</a:t>
            </a:fld>
            <a:endParaRPr lang="en-GB"/>
          </a:p>
        </p:txBody>
      </p:sp>
    </p:spTree>
    <p:extLst>
      <p:ext uri="{BB962C8B-B14F-4D97-AF65-F5344CB8AC3E}">
        <p14:creationId xmlns:p14="http://schemas.microsoft.com/office/powerpoint/2010/main" val="291408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e2fa411b9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91" name="Google Shape;91;g2e2fa411b9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g2e2fa411b95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GB"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105" name="Google Shape;10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A89100E0-9F26-FD19-6497-786D36DEC28D}"/>
            </a:ext>
          </a:extLst>
        </p:cNvPr>
        <p:cNvGrpSpPr/>
        <p:nvPr/>
      </p:nvGrpSpPr>
      <p:grpSpPr>
        <a:xfrm>
          <a:off x="0" y="0"/>
          <a:ext cx="0" cy="0"/>
          <a:chOff x="0" y="0"/>
          <a:chExt cx="0" cy="0"/>
        </a:xfrm>
      </p:grpSpPr>
      <p:sp>
        <p:nvSpPr>
          <p:cNvPr id="104" name="Google Shape;104;p1:notes">
            <a:extLst>
              <a:ext uri="{FF2B5EF4-FFF2-40B4-BE49-F238E27FC236}">
                <a16:creationId xmlns:a16="http://schemas.microsoft.com/office/drawing/2014/main" id="{2DE4D762-92E8-822F-57C4-A588FA3D31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105" name="Google Shape;105;p1:notes">
            <a:extLst>
              <a:ext uri="{FF2B5EF4-FFF2-40B4-BE49-F238E27FC236}">
                <a16:creationId xmlns:a16="http://schemas.microsoft.com/office/drawing/2014/main" id="{9AAD38BD-83EA-A953-D1B5-4D781EAD0A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1:notes">
            <a:extLst>
              <a:ext uri="{FF2B5EF4-FFF2-40B4-BE49-F238E27FC236}">
                <a16:creationId xmlns:a16="http://schemas.microsoft.com/office/drawing/2014/main" id="{47816D50-0F19-73EF-1C0C-DFCCC0B70C2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6315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br>
              <a:rPr lang="en-GB" dirty="0"/>
            </a:br>
            <a:endParaRPr lang="en-GB" dirty="0"/>
          </a:p>
          <a:p>
            <a:pPr fontAlgn="base"/>
            <a:r>
              <a:rPr lang="en-GB" sz="1200" b="0" i="0" kern="1200" dirty="0">
                <a:solidFill>
                  <a:schemeClr val="tx1"/>
                </a:solidFill>
                <a:effectLst/>
                <a:latin typeface="+mn-lt"/>
                <a:ea typeface="+mn-ea"/>
                <a:cs typeface="+mn-cs"/>
              </a:rPr>
              <a:t>Specialty</a:t>
            </a:r>
          </a:p>
          <a:p>
            <a:pPr fontAlgn="base"/>
            <a:r>
              <a:rPr lang="en-GB" sz="1200" b="0" i="0" kern="1200" dirty="0">
                <a:solidFill>
                  <a:schemeClr val="tx1"/>
                </a:solidFill>
                <a:effectLst/>
                <a:latin typeface="+mn-lt"/>
                <a:ea typeface="+mn-ea"/>
                <a:cs typeface="+mn-cs"/>
              </a:rPr>
              <a:t>Months</a:t>
            </a:r>
          </a:p>
          <a:p>
            <a:pPr fontAlgn="base"/>
            <a:r>
              <a:rPr lang="en-GB" sz="1200" b="0" i="0" kern="1200" dirty="0">
                <a:solidFill>
                  <a:schemeClr val="tx1"/>
                </a:solidFill>
                <a:effectLst/>
                <a:latin typeface="+mn-lt"/>
                <a:ea typeface="+mn-ea"/>
                <a:cs typeface="+mn-cs"/>
              </a:rPr>
              <a:t>% Increase</a:t>
            </a:r>
          </a:p>
          <a:p>
            <a:pPr fontAlgn="base"/>
            <a:r>
              <a:rPr lang="en-GB" sz="1200" b="0" i="0" kern="1200" dirty="0">
                <a:solidFill>
                  <a:schemeClr val="tx1"/>
                </a:solidFill>
                <a:effectLst/>
                <a:latin typeface="+mn-lt"/>
                <a:ea typeface="+mn-ea"/>
                <a:cs typeface="+mn-cs"/>
              </a:rPr>
              <a:t>ENT</a:t>
            </a:r>
          </a:p>
          <a:p>
            <a:pPr fontAlgn="base"/>
            <a:r>
              <a:rPr lang="en-GB" sz="1200" b="0" i="0" kern="1200" dirty="0">
                <a:solidFill>
                  <a:schemeClr val="tx1"/>
                </a:solidFill>
                <a:effectLst/>
                <a:latin typeface="+mn-lt"/>
                <a:ea typeface="+mn-ea"/>
                <a:cs typeface="+mn-cs"/>
              </a:rPr>
              <a:t>24</a:t>
            </a:r>
          </a:p>
          <a:p>
            <a:pPr fontAlgn="base"/>
            <a:r>
              <a:rPr lang="en-GB" sz="1200" b="0" i="0" kern="1200" dirty="0">
                <a:solidFill>
                  <a:schemeClr val="tx1"/>
                </a:solidFill>
                <a:effectLst/>
                <a:latin typeface="+mn-lt"/>
                <a:ea typeface="+mn-ea"/>
                <a:cs typeface="+mn-cs"/>
              </a:rPr>
              <a:t>24.35</a:t>
            </a:r>
          </a:p>
          <a:p>
            <a:pPr fontAlgn="base"/>
            <a:r>
              <a:rPr lang="en-GB" sz="1200" b="0" i="0" kern="1200" dirty="0">
                <a:solidFill>
                  <a:schemeClr val="tx1"/>
                </a:solidFill>
                <a:effectLst/>
                <a:latin typeface="+mn-lt"/>
                <a:ea typeface="+mn-ea"/>
                <a:cs typeface="+mn-cs"/>
              </a:rPr>
              <a:t>Gynae</a:t>
            </a:r>
          </a:p>
          <a:p>
            <a:pPr fontAlgn="base"/>
            <a:r>
              <a:rPr lang="en-GB" sz="1200" b="0" i="0" kern="1200" dirty="0">
                <a:solidFill>
                  <a:schemeClr val="tx1"/>
                </a:solidFill>
                <a:effectLst/>
                <a:latin typeface="+mn-lt"/>
                <a:ea typeface="+mn-ea"/>
                <a:cs typeface="+mn-cs"/>
              </a:rPr>
              <a:t>15</a:t>
            </a:r>
          </a:p>
          <a:p>
            <a:pPr fontAlgn="base"/>
            <a:r>
              <a:rPr lang="en-GB" sz="1200" b="0" i="0" kern="1200" dirty="0">
                <a:solidFill>
                  <a:schemeClr val="tx1"/>
                </a:solidFill>
                <a:effectLst/>
                <a:latin typeface="+mn-lt"/>
                <a:ea typeface="+mn-ea"/>
                <a:cs typeface="+mn-cs"/>
              </a:rPr>
              <a:t>11.82</a:t>
            </a:r>
          </a:p>
          <a:p>
            <a:pPr fontAlgn="base"/>
            <a:r>
              <a:rPr lang="en-GB" sz="1200" b="0" i="0" kern="1200" dirty="0">
                <a:solidFill>
                  <a:schemeClr val="tx1"/>
                </a:solidFill>
                <a:effectLst/>
                <a:latin typeface="+mn-lt"/>
                <a:ea typeface="+mn-ea"/>
                <a:cs typeface="+mn-cs"/>
              </a:rPr>
              <a:t>Plastics</a:t>
            </a:r>
          </a:p>
          <a:p>
            <a:pPr fontAlgn="base"/>
            <a:r>
              <a:rPr lang="en-GB" sz="1200" b="0" i="0" kern="1200" dirty="0">
                <a:solidFill>
                  <a:schemeClr val="tx1"/>
                </a:solidFill>
                <a:effectLst/>
                <a:latin typeface="+mn-lt"/>
                <a:ea typeface="+mn-ea"/>
                <a:cs typeface="+mn-cs"/>
              </a:rPr>
              <a:t>30</a:t>
            </a:r>
          </a:p>
          <a:p>
            <a:pPr fontAlgn="base"/>
            <a:r>
              <a:rPr lang="en-GB" sz="1200" b="0" i="0" kern="1200" dirty="0">
                <a:solidFill>
                  <a:schemeClr val="tx1"/>
                </a:solidFill>
                <a:effectLst/>
                <a:latin typeface="+mn-lt"/>
                <a:ea typeface="+mn-ea"/>
                <a:cs typeface="+mn-cs"/>
              </a:rPr>
              <a:t>18.25</a:t>
            </a:r>
          </a:p>
          <a:p>
            <a:pPr fontAlgn="base"/>
            <a:r>
              <a:rPr lang="en-GB" sz="1200" b="0" i="0" kern="1200" dirty="0">
                <a:solidFill>
                  <a:schemeClr val="tx1"/>
                </a:solidFill>
                <a:effectLst/>
                <a:latin typeface="+mn-lt"/>
                <a:ea typeface="+mn-ea"/>
                <a:cs typeface="+mn-cs"/>
              </a:rPr>
              <a:t>Urology</a:t>
            </a:r>
          </a:p>
          <a:p>
            <a:pPr fontAlgn="base"/>
            <a:r>
              <a:rPr lang="en-GB" sz="1200" b="0" i="0" kern="1200" dirty="0">
                <a:solidFill>
                  <a:schemeClr val="tx1"/>
                </a:solidFill>
                <a:effectLst/>
                <a:latin typeface="+mn-lt"/>
                <a:ea typeface="+mn-ea"/>
                <a:cs typeface="+mn-cs"/>
              </a:rPr>
              <a:t>21</a:t>
            </a:r>
          </a:p>
          <a:p>
            <a:pPr fontAlgn="base"/>
            <a:r>
              <a:rPr lang="en-GB" sz="1200" b="0" i="0" kern="1200" dirty="0">
                <a:solidFill>
                  <a:schemeClr val="tx1"/>
                </a:solidFill>
                <a:effectLst/>
                <a:latin typeface="+mn-lt"/>
                <a:ea typeface="+mn-ea"/>
                <a:cs typeface="+mn-cs"/>
              </a:rPr>
              <a:t>12.77</a:t>
            </a:r>
          </a:p>
          <a:p>
            <a:br>
              <a:rPr lang="en-GB" dirty="0"/>
            </a:br>
            <a:endParaRPr lang="en-GB" dirty="0"/>
          </a:p>
        </p:txBody>
      </p:sp>
      <p:sp>
        <p:nvSpPr>
          <p:cNvPr id="4" name="Slide Number Placeholder 3"/>
          <p:cNvSpPr>
            <a:spLocks noGrp="1"/>
          </p:cNvSpPr>
          <p:nvPr>
            <p:ph type="sldNum" sz="quarter" idx="5"/>
          </p:nvPr>
        </p:nvSpPr>
        <p:spPr/>
        <p:txBody>
          <a:bodyPr/>
          <a:lstStyle/>
          <a:p>
            <a:fld id="{8DBA2F36-51AE-4B98-ABC5-CA04B5887A43}" type="slidenum">
              <a:rPr lang="en-GB" smtClean="0"/>
              <a:t>6</a:t>
            </a:fld>
            <a:endParaRPr lang="en-GB"/>
          </a:p>
        </p:txBody>
      </p:sp>
    </p:spTree>
    <p:extLst>
      <p:ext uri="{BB962C8B-B14F-4D97-AF65-F5344CB8AC3E}">
        <p14:creationId xmlns:p14="http://schemas.microsoft.com/office/powerpoint/2010/main" val="793651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EC93F8-180B-4C67-B2BA-C604A8098EA9}" type="slidenum">
              <a:rPr lang="en-GB" smtClean="0"/>
              <a:t>11</a:t>
            </a:fld>
            <a:endParaRPr lang="en-GB"/>
          </a:p>
        </p:txBody>
      </p:sp>
    </p:spTree>
    <p:extLst>
      <p:ext uri="{BB962C8B-B14F-4D97-AF65-F5344CB8AC3E}">
        <p14:creationId xmlns:p14="http://schemas.microsoft.com/office/powerpoint/2010/main" val="20772834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0">
              <a:schemeClr val="accent2"/>
            </a:gs>
            <a:gs pos="100000">
              <a:schemeClr val="accent1"/>
            </a:gs>
          </a:gsLst>
          <a:lin ang="20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32000" y="1770004"/>
            <a:ext cx="9360000" cy="1661993"/>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431999" y="3609722"/>
            <a:ext cx="7721401" cy="1655762"/>
          </a:xfrm>
        </p:spPr>
        <p:txBody>
          <a:bodyPr/>
          <a:lstStyle>
            <a:lvl1pPr marL="0" indent="0" algn="l">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9D920C7-EB72-EA45-A345-927B013C44B6}" type="datetime4">
              <a:rPr lang="en-GB" smtClean="0"/>
              <a:t>26 May 2026</a:t>
            </a:fld>
            <a:endParaRPr lang="en-GB"/>
          </a:p>
        </p:txBody>
      </p:sp>
      <p:pic>
        <p:nvPicPr>
          <p:cNvPr id="8" name="Picture 7" descr="A white text on a black background&#10;&#10;Description automatically generated">
            <a:extLst>
              <a:ext uri="{FF2B5EF4-FFF2-40B4-BE49-F238E27FC236}">
                <a16:creationId xmlns:a16="http://schemas.microsoft.com/office/drawing/2014/main" id="{04133A88-D338-109A-FC11-663D71E7B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000" y="316341"/>
            <a:ext cx="1379327" cy="583401"/>
          </a:xfrm>
          <a:prstGeom prst="rect">
            <a:avLst/>
          </a:prstGeom>
        </p:spPr>
      </p:pic>
      <p:pic>
        <p:nvPicPr>
          <p:cNvPr id="5" name="Picture 4" descr="A white text on a black background&#10;&#10;Description automatically generated">
            <a:extLst>
              <a:ext uri="{FF2B5EF4-FFF2-40B4-BE49-F238E27FC236}">
                <a16:creationId xmlns:a16="http://schemas.microsoft.com/office/drawing/2014/main" id="{01A18FC2-B8E6-1E57-543F-F4299BCD64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000" y="316341"/>
            <a:ext cx="1379327" cy="583401"/>
          </a:xfrm>
          <a:prstGeom prst="rect">
            <a:avLst/>
          </a:prstGeom>
        </p:spPr>
      </p:pic>
    </p:spTree>
    <p:extLst>
      <p:ext uri="{BB962C8B-B14F-4D97-AF65-F5344CB8AC3E}">
        <p14:creationId xmlns:p14="http://schemas.microsoft.com/office/powerpoint/2010/main" val="3702895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32000" y="1825625"/>
            <a:ext cx="8496000" cy="4351338"/>
          </a:xfrm>
        </p:spPr>
        <p:txBody>
          <a:bodyPr/>
          <a:lstStyle>
            <a:lvl2pPr>
              <a:lnSpc>
                <a:spcPct val="100000"/>
              </a:lnSpc>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FB538A-084D-C84B-AB56-96DC16EBD987}" type="datetime4">
              <a:rPr lang="en-GB" smtClean="0"/>
              <a:t>26 May 2026</a:t>
            </a:fld>
            <a:endParaRPr lang="en-GB"/>
          </a:p>
        </p:txBody>
      </p:sp>
      <p:sp>
        <p:nvSpPr>
          <p:cNvPr id="5" name="Footer Placeholder 4"/>
          <p:cNvSpPr>
            <a:spLocks noGrp="1"/>
          </p:cNvSpPr>
          <p:nvPr>
            <p:ph type="ftr" sz="quarter" idx="11"/>
          </p:nvPr>
        </p:nvSpPr>
        <p:spPr/>
        <p:txBody>
          <a:bodyPr/>
          <a:lstStyle/>
          <a:p>
            <a:r>
              <a:rPr lang="en-GB"/>
              <a:t>Infix Schedule: Impact so far</a:t>
            </a:r>
          </a:p>
        </p:txBody>
      </p:sp>
      <p:sp>
        <p:nvSpPr>
          <p:cNvPr id="6" name="Slide Number Placeholder 5"/>
          <p:cNvSpPr>
            <a:spLocks noGrp="1"/>
          </p:cNvSpPr>
          <p:nvPr>
            <p:ph type="sldNum" sz="quarter" idx="12"/>
          </p:nvPr>
        </p:nvSpPr>
        <p:spPr/>
        <p:txBody>
          <a:bodyPr/>
          <a:lstStyle/>
          <a:p>
            <a:fld id="{9E2F006C-3F46-4694-A47B-E42E311A9BF4}" type="slidenum">
              <a:rPr lang="en-GB" smtClean="0"/>
              <a:t>‹#›</a:t>
            </a:fld>
            <a:endParaRPr lang="en-GB"/>
          </a:p>
        </p:txBody>
      </p:sp>
      <p:pic>
        <p:nvPicPr>
          <p:cNvPr id="7" name="Picture 6">
            <a:extLst>
              <a:ext uri="{FF2B5EF4-FFF2-40B4-BE49-F238E27FC236}">
                <a16:creationId xmlns:a16="http://schemas.microsoft.com/office/drawing/2014/main" id="{45683CF2-128E-81DB-DE04-532C513AA6B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3"/>
          </a:xfrm>
          <a:prstGeom prst="rect">
            <a:avLst/>
          </a:prstGeom>
        </p:spPr>
      </p:pic>
      <p:pic>
        <p:nvPicPr>
          <p:cNvPr id="8" name="Picture 7">
            <a:extLst>
              <a:ext uri="{FF2B5EF4-FFF2-40B4-BE49-F238E27FC236}">
                <a16:creationId xmlns:a16="http://schemas.microsoft.com/office/drawing/2014/main" id="{7D1F5DCF-BC6F-7C94-4F8A-C8834BB762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3"/>
          </a:xfrm>
          <a:prstGeom prst="rect">
            <a:avLst/>
          </a:prstGeom>
        </p:spPr>
      </p:pic>
    </p:spTree>
    <p:extLst>
      <p:ext uri="{BB962C8B-B14F-4D97-AF65-F5344CB8AC3E}">
        <p14:creationId xmlns:p14="http://schemas.microsoft.com/office/powerpoint/2010/main" val="462924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699BEBE-5899-5645-B93B-85F86B82DEE7}" type="datetime4">
              <a:rPr lang="en-GB" smtClean="0"/>
              <a:t>26 May 2026</a:t>
            </a:fld>
            <a:endParaRPr lang="en-GB"/>
          </a:p>
        </p:txBody>
      </p:sp>
      <p:sp>
        <p:nvSpPr>
          <p:cNvPr id="5" name="Footer Placeholder 4"/>
          <p:cNvSpPr>
            <a:spLocks noGrp="1"/>
          </p:cNvSpPr>
          <p:nvPr>
            <p:ph type="ftr" sz="quarter" idx="11"/>
          </p:nvPr>
        </p:nvSpPr>
        <p:spPr/>
        <p:txBody>
          <a:bodyPr/>
          <a:lstStyle/>
          <a:p>
            <a:r>
              <a:rPr lang="en-GB"/>
              <a:t>Infix Schedule: Impact so far</a:t>
            </a:r>
          </a:p>
        </p:txBody>
      </p:sp>
      <p:sp>
        <p:nvSpPr>
          <p:cNvPr id="6" name="Slide Number Placeholder 5"/>
          <p:cNvSpPr>
            <a:spLocks noGrp="1"/>
          </p:cNvSpPr>
          <p:nvPr>
            <p:ph type="sldNum" sz="quarter" idx="12"/>
          </p:nvPr>
        </p:nvSpPr>
        <p:spPr/>
        <p:txBody>
          <a:bodyPr/>
          <a:lstStyle/>
          <a:p>
            <a:fld id="{9E2F006C-3F46-4694-A47B-E42E311A9BF4}" type="slidenum">
              <a:rPr lang="en-GB" smtClean="0"/>
              <a:t>‹#›</a:t>
            </a:fld>
            <a:endParaRPr lang="en-GB"/>
          </a:p>
        </p:txBody>
      </p:sp>
      <p:pic>
        <p:nvPicPr>
          <p:cNvPr id="8" name="Picture 7">
            <a:extLst>
              <a:ext uri="{FF2B5EF4-FFF2-40B4-BE49-F238E27FC236}">
                <a16:creationId xmlns:a16="http://schemas.microsoft.com/office/drawing/2014/main" id="{817899BB-2F96-0771-F3F4-D23747381F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2"/>
          </a:xfrm>
          <a:prstGeom prst="rect">
            <a:avLst/>
          </a:prstGeom>
        </p:spPr>
      </p:pic>
      <p:sp>
        <p:nvSpPr>
          <p:cNvPr id="11" name="Title 1">
            <a:extLst>
              <a:ext uri="{FF2B5EF4-FFF2-40B4-BE49-F238E27FC236}">
                <a16:creationId xmlns:a16="http://schemas.microsoft.com/office/drawing/2014/main" id="{B7DF910C-E30A-F326-8B1A-6169BC7A90DF}"/>
              </a:ext>
            </a:extLst>
          </p:cNvPr>
          <p:cNvSpPr>
            <a:spLocks noGrp="1"/>
          </p:cNvSpPr>
          <p:nvPr>
            <p:ph type="ctrTitle"/>
          </p:nvPr>
        </p:nvSpPr>
        <p:spPr>
          <a:xfrm>
            <a:off x="432000" y="1770004"/>
            <a:ext cx="9360000" cy="1661993"/>
          </a:xfrm>
        </p:spPr>
        <p:txBody>
          <a:bodyPr anchor="b"/>
          <a:lstStyle>
            <a:lvl1pPr algn="l">
              <a:defRPr sz="6000"/>
            </a:lvl1pPr>
          </a:lstStyle>
          <a:p>
            <a:r>
              <a:rPr lang="en-US"/>
              <a:t>Click to edit Master title style</a:t>
            </a:r>
          </a:p>
        </p:txBody>
      </p:sp>
      <p:sp>
        <p:nvSpPr>
          <p:cNvPr id="12" name="Subtitle 2">
            <a:extLst>
              <a:ext uri="{FF2B5EF4-FFF2-40B4-BE49-F238E27FC236}">
                <a16:creationId xmlns:a16="http://schemas.microsoft.com/office/drawing/2014/main" id="{B21F5D2E-0344-B3C5-5422-96B4181624B4}"/>
              </a:ext>
            </a:extLst>
          </p:cNvPr>
          <p:cNvSpPr>
            <a:spLocks noGrp="1"/>
          </p:cNvSpPr>
          <p:nvPr>
            <p:ph type="subTitle" idx="1"/>
          </p:nvPr>
        </p:nvSpPr>
        <p:spPr>
          <a:xfrm>
            <a:off x="431999" y="3609722"/>
            <a:ext cx="7721401" cy="1655762"/>
          </a:xfrm>
        </p:spPr>
        <p:txBody>
          <a:bodyPr/>
          <a:lstStyle>
            <a:lvl1pPr marL="0" indent="0" algn="l">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2" name="Picture 1">
            <a:extLst>
              <a:ext uri="{FF2B5EF4-FFF2-40B4-BE49-F238E27FC236}">
                <a16:creationId xmlns:a16="http://schemas.microsoft.com/office/drawing/2014/main" id="{3D8EA698-C7E4-B0FE-0775-1C7D38AE35D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2"/>
          </a:xfrm>
          <a:prstGeom prst="rect">
            <a:avLst/>
          </a:prstGeom>
        </p:spPr>
      </p:pic>
    </p:spTree>
    <p:extLst>
      <p:ext uri="{BB962C8B-B14F-4D97-AF65-F5344CB8AC3E}">
        <p14:creationId xmlns:p14="http://schemas.microsoft.com/office/powerpoint/2010/main" val="3212574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Section Header">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3B0BF39-31D8-C142-91B0-63C6E936C37B}" type="datetime4">
              <a:rPr lang="en-GB" smtClean="0"/>
              <a:t>26 May 2026</a:t>
            </a:fld>
            <a:endParaRPr lang="en-GB"/>
          </a:p>
        </p:txBody>
      </p:sp>
      <p:sp>
        <p:nvSpPr>
          <p:cNvPr id="5" name="Footer Placeholder 4"/>
          <p:cNvSpPr>
            <a:spLocks noGrp="1"/>
          </p:cNvSpPr>
          <p:nvPr>
            <p:ph type="ftr" sz="quarter" idx="11"/>
          </p:nvPr>
        </p:nvSpPr>
        <p:spPr/>
        <p:txBody>
          <a:bodyPr/>
          <a:lstStyle/>
          <a:p>
            <a:r>
              <a:rPr lang="en-GB"/>
              <a:t>Infix Schedule: Impact so far</a:t>
            </a:r>
          </a:p>
        </p:txBody>
      </p:sp>
      <p:sp>
        <p:nvSpPr>
          <p:cNvPr id="6" name="Slide Number Placeholder 5"/>
          <p:cNvSpPr>
            <a:spLocks noGrp="1"/>
          </p:cNvSpPr>
          <p:nvPr>
            <p:ph type="sldNum" sz="quarter" idx="12"/>
          </p:nvPr>
        </p:nvSpPr>
        <p:spPr/>
        <p:txBody>
          <a:bodyPr/>
          <a:lstStyle/>
          <a:p>
            <a:fld id="{9E2F006C-3F46-4694-A47B-E42E311A9BF4}" type="slidenum">
              <a:rPr lang="en-GB" smtClean="0"/>
              <a:t>‹#›</a:t>
            </a:fld>
            <a:endParaRPr lang="en-GB"/>
          </a:p>
        </p:txBody>
      </p:sp>
      <p:pic>
        <p:nvPicPr>
          <p:cNvPr id="8" name="Picture 7">
            <a:extLst>
              <a:ext uri="{FF2B5EF4-FFF2-40B4-BE49-F238E27FC236}">
                <a16:creationId xmlns:a16="http://schemas.microsoft.com/office/drawing/2014/main" id="{817899BB-2F96-0771-F3F4-D23747381F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2"/>
          </a:xfrm>
          <a:prstGeom prst="rect">
            <a:avLst/>
          </a:prstGeom>
        </p:spPr>
      </p:pic>
      <p:sp>
        <p:nvSpPr>
          <p:cNvPr id="2" name="Title 1">
            <a:extLst>
              <a:ext uri="{FF2B5EF4-FFF2-40B4-BE49-F238E27FC236}">
                <a16:creationId xmlns:a16="http://schemas.microsoft.com/office/drawing/2014/main" id="{BE415E49-B30C-72E8-2F49-01A7FA37BC58}"/>
              </a:ext>
            </a:extLst>
          </p:cNvPr>
          <p:cNvSpPr>
            <a:spLocks noGrp="1"/>
          </p:cNvSpPr>
          <p:nvPr>
            <p:ph type="ctrTitle"/>
          </p:nvPr>
        </p:nvSpPr>
        <p:spPr>
          <a:xfrm>
            <a:off x="432000" y="1770004"/>
            <a:ext cx="9360000" cy="1661993"/>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B5C88871-0812-660D-0EF4-584E66D4416B}"/>
              </a:ext>
            </a:extLst>
          </p:cNvPr>
          <p:cNvSpPr>
            <a:spLocks noGrp="1"/>
          </p:cNvSpPr>
          <p:nvPr>
            <p:ph type="subTitle" idx="1"/>
          </p:nvPr>
        </p:nvSpPr>
        <p:spPr>
          <a:xfrm>
            <a:off x="431999" y="3609722"/>
            <a:ext cx="7721401" cy="1655762"/>
          </a:xfrm>
        </p:spPr>
        <p:txBody>
          <a:bodyPr/>
          <a:lstStyle>
            <a:lvl1pPr marL="0" indent="0" algn="l">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a:extLst>
              <a:ext uri="{FF2B5EF4-FFF2-40B4-BE49-F238E27FC236}">
                <a16:creationId xmlns:a16="http://schemas.microsoft.com/office/drawing/2014/main" id="{F9AE7224-FA3C-A594-90A6-94D071E44F5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2"/>
          </a:xfrm>
          <a:prstGeom prst="rect">
            <a:avLst/>
          </a:prstGeom>
        </p:spPr>
      </p:pic>
    </p:spTree>
    <p:extLst>
      <p:ext uri="{BB962C8B-B14F-4D97-AF65-F5344CB8AC3E}">
        <p14:creationId xmlns:p14="http://schemas.microsoft.com/office/powerpoint/2010/main" val="249719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5AAC4925-84D7-3640-B54C-DE710065EBFE}" type="datetime4">
              <a:rPr lang="en-GB" smtClean="0"/>
              <a:t>26 May 2026</a:t>
            </a:fld>
            <a:endParaRPr lang="en-GB"/>
          </a:p>
        </p:txBody>
      </p:sp>
      <p:sp>
        <p:nvSpPr>
          <p:cNvPr id="6" name="Footer Placeholder 5"/>
          <p:cNvSpPr>
            <a:spLocks noGrp="1"/>
          </p:cNvSpPr>
          <p:nvPr>
            <p:ph type="ftr" sz="quarter" idx="11"/>
          </p:nvPr>
        </p:nvSpPr>
        <p:spPr/>
        <p:txBody>
          <a:bodyPr/>
          <a:lstStyle/>
          <a:p>
            <a:r>
              <a:rPr lang="en-GB"/>
              <a:t>Infix Schedule: Impact so far</a:t>
            </a:r>
          </a:p>
        </p:txBody>
      </p:sp>
      <p:sp>
        <p:nvSpPr>
          <p:cNvPr id="7" name="Slide Number Placeholder 6"/>
          <p:cNvSpPr>
            <a:spLocks noGrp="1"/>
          </p:cNvSpPr>
          <p:nvPr>
            <p:ph type="sldNum" sz="quarter" idx="12"/>
          </p:nvPr>
        </p:nvSpPr>
        <p:spPr/>
        <p:txBody>
          <a:bodyPr/>
          <a:lstStyle/>
          <a:p>
            <a:fld id="{9E2F006C-3F46-4694-A47B-E42E311A9BF4}" type="slidenum">
              <a:rPr lang="en-GB" smtClean="0"/>
              <a:t>‹#›</a:t>
            </a:fld>
            <a:endParaRPr lang="en-GB"/>
          </a:p>
        </p:txBody>
      </p:sp>
      <p:pic>
        <p:nvPicPr>
          <p:cNvPr id="9" name="Picture 8">
            <a:extLst>
              <a:ext uri="{FF2B5EF4-FFF2-40B4-BE49-F238E27FC236}">
                <a16:creationId xmlns:a16="http://schemas.microsoft.com/office/drawing/2014/main" id="{5A294ACD-44DD-7623-4839-B866767F2C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3"/>
          </a:xfrm>
          <a:prstGeom prst="rect">
            <a:avLst/>
          </a:prstGeom>
        </p:spPr>
      </p:pic>
      <p:sp>
        <p:nvSpPr>
          <p:cNvPr id="10" name="Content Placeholder 2">
            <a:extLst>
              <a:ext uri="{FF2B5EF4-FFF2-40B4-BE49-F238E27FC236}">
                <a16:creationId xmlns:a16="http://schemas.microsoft.com/office/drawing/2014/main" id="{F683175B-B999-F957-F288-27C831B8B31F}"/>
              </a:ext>
            </a:extLst>
          </p:cNvPr>
          <p:cNvSpPr>
            <a:spLocks noGrp="1"/>
          </p:cNvSpPr>
          <p:nvPr>
            <p:ph sz="half" idx="13"/>
          </p:nvPr>
        </p:nvSpPr>
        <p:spPr>
          <a:xfrm>
            <a:off x="6270171" y="1825625"/>
            <a:ext cx="540102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87707571-E785-BD22-5323-8CF0CE382600}"/>
              </a:ext>
            </a:extLst>
          </p:cNvPr>
          <p:cNvSpPr>
            <a:spLocks noGrp="1"/>
          </p:cNvSpPr>
          <p:nvPr>
            <p:ph sz="half" idx="14"/>
          </p:nvPr>
        </p:nvSpPr>
        <p:spPr>
          <a:xfrm>
            <a:off x="432000" y="1825625"/>
            <a:ext cx="540102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23EB702E-2F27-B24B-3EEF-F579E17208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3"/>
          </a:xfrm>
          <a:prstGeom prst="rect">
            <a:avLst/>
          </a:prstGeom>
        </p:spPr>
      </p:pic>
    </p:spTree>
    <p:extLst>
      <p:ext uri="{BB962C8B-B14F-4D97-AF65-F5344CB8AC3E}">
        <p14:creationId xmlns:p14="http://schemas.microsoft.com/office/powerpoint/2010/main" val="1902504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8F505A-F44D-0F44-9C38-06BC75E60345}" type="datetime4">
              <a:rPr lang="en-GB" smtClean="0"/>
              <a:t>26 May 2026</a:t>
            </a:fld>
            <a:endParaRPr lang="en-GB"/>
          </a:p>
        </p:txBody>
      </p:sp>
      <p:sp>
        <p:nvSpPr>
          <p:cNvPr id="4" name="Footer Placeholder 3"/>
          <p:cNvSpPr>
            <a:spLocks noGrp="1"/>
          </p:cNvSpPr>
          <p:nvPr>
            <p:ph type="ftr" sz="quarter" idx="11"/>
          </p:nvPr>
        </p:nvSpPr>
        <p:spPr/>
        <p:txBody>
          <a:bodyPr/>
          <a:lstStyle/>
          <a:p>
            <a:r>
              <a:rPr lang="en-GB"/>
              <a:t>Infix Schedule: Impact so far</a:t>
            </a:r>
          </a:p>
        </p:txBody>
      </p:sp>
      <p:sp>
        <p:nvSpPr>
          <p:cNvPr id="5" name="Slide Number Placeholder 4"/>
          <p:cNvSpPr>
            <a:spLocks noGrp="1"/>
          </p:cNvSpPr>
          <p:nvPr>
            <p:ph type="sldNum" sz="quarter" idx="12"/>
          </p:nvPr>
        </p:nvSpPr>
        <p:spPr/>
        <p:txBody>
          <a:bodyPr/>
          <a:lstStyle/>
          <a:p>
            <a:fld id="{9E2F006C-3F46-4694-A47B-E42E311A9BF4}" type="slidenum">
              <a:rPr lang="en-GB" smtClean="0"/>
              <a:t>‹#›</a:t>
            </a:fld>
            <a:endParaRPr lang="en-GB"/>
          </a:p>
        </p:txBody>
      </p:sp>
      <p:pic>
        <p:nvPicPr>
          <p:cNvPr id="7" name="Picture 6">
            <a:extLst>
              <a:ext uri="{FF2B5EF4-FFF2-40B4-BE49-F238E27FC236}">
                <a16:creationId xmlns:a16="http://schemas.microsoft.com/office/drawing/2014/main" id="{1822621E-9287-5F7E-972B-F460AC54DF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3"/>
          </a:xfrm>
          <a:prstGeom prst="rect">
            <a:avLst/>
          </a:prstGeom>
        </p:spPr>
      </p:pic>
      <p:pic>
        <p:nvPicPr>
          <p:cNvPr id="6" name="Picture 5">
            <a:extLst>
              <a:ext uri="{FF2B5EF4-FFF2-40B4-BE49-F238E27FC236}">
                <a16:creationId xmlns:a16="http://schemas.microsoft.com/office/drawing/2014/main" id="{59E8C6A3-F967-FEAB-8737-3C53F9300C2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3"/>
          </a:xfrm>
          <a:prstGeom prst="rect">
            <a:avLst/>
          </a:prstGeom>
        </p:spPr>
      </p:pic>
    </p:spTree>
    <p:extLst>
      <p:ext uri="{BB962C8B-B14F-4D97-AF65-F5344CB8AC3E}">
        <p14:creationId xmlns:p14="http://schemas.microsoft.com/office/powerpoint/2010/main" val="3459586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898FE3-9223-094A-994A-249F63D0D355}" type="datetime4">
              <a:rPr lang="en-GB" smtClean="0"/>
              <a:t>26 May 2026</a:t>
            </a:fld>
            <a:endParaRPr lang="en-GB"/>
          </a:p>
        </p:txBody>
      </p:sp>
      <p:sp>
        <p:nvSpPr>
          <p:cNvPr id="3" name="Footer Placeholder 2"/>
          <p:cNvSpPr>
            <a:spLocks noGrp="1"/>
          </p:cNvSpPr>
          <p:nvPr>
            <p:ph type="ftr" sz="quarter" idx="11"/>
          </p:nvPr>
        </p:nvSpPr>
        <p:spPr/>
        <p:txBody>
          <a:bodyPr/>
          <a:lstStyle/>
          <a:p>
            <a:r>
              <a:rPr lang="en-GB"/>
              <a:t>Infix Schedule: Impact so far</a:t>
            </a:r>
          </a:p>
        </p:txBody>
      </p:sp>
      <p:sp>
        <p:nvSpPr>
          <p:cNvPr id="4" name="Slide Number Placeholder 3"/>
          <p:cNvSpPr>
            <a:spLocks noGrp="1"/>
          </p:cNvSpPr>
          <p:nvPr>
            <p:ph type="sldNum" sz="quarter" idx="12"/>
          </p:nvPr>
        </p:nvSpPr>
        <p:spPr/>
        <p:txBody>
          <a:bodyPr/>
          <a:lstStyle/>
          <a:p>
            <a:fld id="{9E2F006C-3F46-4694-A47B-E42E311A9BF4}" type="slidenum">
              <a:rPr lang="en-GB" smtClean="0"/>
              <a:t>‹#›</a:t>
            </a:fld>
            <a:endParaRPr lang="en-GB"/>
          </a:p>
        </p:txBody>
      </p:sp>
      <p:pic>
        <p:nvPicPr>
          <p:cNvPr id="6" name="Picture 5">
            <a:extLst>
              <a:ext uri="{FF2B5EF4-FFF2-40B4-BE49-F238E27FC236}">
                <a16:creationId xmlns:a16="http://schemas.microsoft.com/office/drawing/2014/main" id="{8B5B5317-54FA-3DAA-72E8-272C987AABB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3"/>
          </a:xfrm>
          <a:prstGeom prst="rect">
            <a:avLst/>
          </a:prstGeom>
        </p:spPr>
      </p:pic>
      <p:pic>
        <p:nvPicPr>
          <p:cNvPr id="5" name="Picture 4">
            <a:extLst>
              <a:ext uri="{FF2B5EF4-FFF2-40B4-BE49-F238E27FC236}">
                <a16:creationId xmlns:a16="http://schemas.microsoft.com/office/drawing/2014/main" id="{4D4C9B6E-1DB4-BFC7-2625-92C3A37A4D1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3"/>
          </a:xfrm>
          <a:prstGeom prst="rect">
            <a:avLst/>
          </a:prstGeom>
        </p:spPr>
      </p:pic>
    </p:spTree>
    <p:extLst>
      <p:ext uri="{BB962C8B-B14F-4D97-AF65-F5344CB8AC3E}">
        <p14:creationId xmlns:p14="http://schemas.microsoft.com/office/powerpoint/2010/main" val="36328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C73165A-E266-D047-A29E-BC859EEE945F}" type="datetime4">
              <a:rPr lang="en-GB" smtClean="0"/>
              <a:t>26 May 2026</a:t>
            </a:fld>
            <a:endParaRPr lang="en-GB"/>
          </a:p>
        </p:txBody>
      </p:sp>
      <p:sp>
        <p:nvSpPr>
          <p:cNvPr id="5" name="Footer Placeholder 4"/>
          <p:cNvSpPr>
            <a:spLocks noGrp="1"/>
          </p:cNvSpPr>
          <p:nvPr>
            <p:ph type="ftr" sz="quarter" idx="11"/>
          </p:nvPr>
        </p:nvSpPr>
        <p:spPr/>
        <p:txBody>
          <a:bodyPr/>
          <a:lstStyle/>
          <a:p>
            <a:r>
              <a:rPr lang="en-GB"/>
              <a:t>Infix Schedule: Impact so far</a:t>
            </a:r>
          </a:p>
        </p:txBody>
      </p:sp>
      <p:sp>
        <p:nvSpPr>
          <p:cNvPr id="6" name="Slide Number Placeholder 5"/>
          <p:cNvSpPr>
            <a:spLocks noGrp="1"/>
          </p:cNvSpPr>
          <p:nvPr>
            <p:ph type="sldNum" sz="quarter" idx="12"/>
          </p:nvPr>
        </p:nvSpPr>
        <p:spPr/>
        <p:txBody>
          <a:bodyPr/>
          <a:lstStyle/>
          <a:p>
            <a:fld id="{9E2F006C-3F46-4694-A47B-E42E311A9BF4}" type="slidenum">
              <a:rPr lang="en-GB" smtClean="0"/>
              <a:t>‹#›</a:t>
            </a:fld>
            <a:endParaRPr lang="en-GB"/>
          </a:p>
        </p:txBody>
      </p:sp>
      <p:pic>
        <p:nvPicPr>
          <p:cNvPr id="8" name="Picture 7">
            <a:extLst>
              <a:ext uri="{FF2B5EF4-FFF2-40B4-BE49-F238E27FC236}">
                <a16:creationId xmlns:a16="http://schemas.microsoft.com/office/drawing/2014/main" id="{817899BB-2F96-0771-F3F4-D23747381F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2"/>
          </a:xfrm>
          <a:prstGeom prst="rect">
            <a:avLst/>
          </a:prstGeom>
        </p:spPr>
      </p:pic>
      <p:sp>
        <p:nvSpPr>
          <p:cNvPr id="11" name="Title 1">
            <a:extLst>
              <a:ext uri="{FF2B5EF4-FFF2-40B4-BE49-F238E27FC236}">
                <a16:creationId xmlns:a16="http://schemas.microsoft.com/office/drawing/2014/main" id="{B7DF910C-E30A-F326-8B1A-6169BC7A90DF}"/>
              </a:ext>
            </a:extLst>
          </p:cNvPr>
          <p:cNvSpPr>
            <a:spLocks noGrp="1"/>
          </p:cNvSpPr>
          <p:nvPr>
            <p:ph type="ctrTitle"/>
          </p:nvPr>
        </p:nvSpPr>
        <p:spPr>
          <a:xfrm>
            <a:off x="432000" y="1770004"/>
            <a:ext cx="9360000" cy="1661993"/>
          </a:xfrm>
        </p:spPr>
        <p:txBody>
          <a:bodyPr anchor="b"/>
          <a:lstStyle>
            <a:lvl1pPr algn="l">
              <a:defRPr sz="6000"/>
            </a:lvl1pPr>
          </a:lstStyle>
          <a:p>
            <a:r>
              <a:rPr lang="en-US"/>
              <a:t>Click to edit Master title style</a:t>
            </a:r>
          </a:p>
        </p:txBody>
      </p:sp>
      <p:sp>
        <p:nvSpPr>
          <p:cNvPr id="12" name="Subtitle 2">
            <a:extLst>
              <a:ext uri="{FF2B5EF4-FFF2-40B4-BE49-F238E27FC236}">
                <a16:creationId xmlns:a16="http://schemas.microsoft.com/office/drawing/2014/main" id="{B21F5D2E-0344-B3C5-5422-96B4181624B4}"/>
              </a:ext>
            </a:extLst>
          </p:cNvPr>
          <p:cNvSpPr>
            <a:spLocks noGrp="1"/>
          </p:cNvSpPr>
          <p:nvPr>
            <p:ph type="subTitle" idx="1"/>
          </p:nvPr>
        </p:nvSpPr>
        <p:spPr>
          <a:xfrm>
            <a:off x="431999" y="3609722"/>
            <a:ext cx="7721401" cy="1655762"/>
          </a:xfrm>
        </p:spPr>
        <p:txBody>
          <a:bodyPr/>
          <a:lstStyle>
            <a:lvl1pPr marL="0" indent="0" algn="l">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52490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Section Header">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CC15D3B-D07D-DE4F-A065-9CE8150DF80C}" type="datetime4">
              <a:rPr lang="en-GB" smtClean="0"/>
              <a:t>26 May 2026</a:t>
            </a:fld>
            <a:endParaRPr lang="en-GB"/>
          </a:p>
        </p:txBody>
      </p:sp>
      <p:sp>
        <p:nvSpPr>
          <p:cNvPr id="5" name="Footer Placeholder 4"/>
          <p:cNvSpPr>
            <a:spLocks noGrp="1"/>
          </p:cNvSpPr>
          <p:nvPr>
            <p:ph type="ftr" sz="quarter" idx="11"/>
          </p:nvPr>
        </p:nvSpPr>
        <p:spPr/>
        <p:txBody>
          <a:bodyPr/>
          <a:lstStyle/>
          <a:p>
            <a:r>
              <a:rPr lang="en-GB"/>
              <a:t>Infix Schedule: Impact so far</a:t>
            </a:r>
          </a:p>
        </p:txBody>
      </p:sp>
      <p:sp>
        <p:nvSpPr>
          <p:cNvPr id="6" name="Slide Number Placeholder 5"/>
          <p:cNvSpPr>
            <a:spLocks noGrp="1"/>
          </p:cNvSpPr>
          <p:nvPr>
            <p:ph type="sldNum" sz="quarter" idx="12"/>
          </p:nvPr>
        </p:nvSpPr>
        <p:spPr/>
        <p:txBody>
          <a:bodyPr/>
          <a:lstStyle/>
          <a:p>
            <a:fld id="{9E2F006C-3F46-4694-A47B-E42E311A9BF4}" type="slidenum">
              <a:rPr lang="en-GB" smtClean="0"/>
              <a:t>‹#›</a:t>
            </a:fld>
            <a:endParaRPr lang="en-GB"/>
          </a:p>
        </p:txBody>
      </p:sp>
      <p:pic>
        <p:nvPicPr>
          <p:cNvPr id="8" name="Picture 7">
            <a:extLst>
              <a:ext uri="{FF2B5EF4-FFF2-40B4-BE49-F238E27FC236}">
                <a16:creationId xmlns:a16="http://schemas.microsoft.com/office/drawing/2014/main" id="{817899BB-2F96-0771-F3F4-D23747381F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2"/>
          </a:xfrm>
          <a:prstGeom prst="rect">
            <a:avLst/>
          </a:prstGeom>
        </p:spPr>
      </p:pic>
      <p:sp>
        <p:nvSpPr>
          <p:cNvPr id="2" name="Title 1">
            <a:extLst>
              <a:ext uri="{FF2B5EF4-FFF2-40B4-BE49-F238E27FC236}">
                <a16:creationId xmlns:a16="http://schemas.microsoft.com/office/drawing/2014/main" id="{BE415E49-B30C-72E8-2F49-01A7FA37BC58}"/>
              </a:ext>
            </a:extLst>
          </p:cNvPr>
          <p:cNvSpPr>
            <a:spLocks noGrp="1"/>
          </p:cNvSpPr>
          <p:nvPr>
            <p:ph type="ctrTitle"/>
          </p:nvPr>
        </p:nvSpPr>
        <p:spPr>
          <a:xfrm>
            <a:off x="432000" y="1770004"/>
            <a:ext cx="9360000" cy="1661993"/>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B5C88871-0812-660D-0EF4-584E66D4416B}"/>
              </a:ext>
            </a:extLst>
          </p:cNvPr>
          <p:cNvSpPr>
            <a:spLocks noGrp="1"/>
          </p:cNvSpPr>
          <p:nvPr>
            <p:ph type="subTitle" idx="1"/>
          </p:nvPr>
        </p:nvSpPr>
        <p:spPr>
          <a:xfrm>
            <a:off x="431999" y="3609722"/>
            <a:ext cx="7721401" cy="1655762"/>
          </a:xfrm>
        </p:spPr>
        <p:txBody>
          <a:bodyPr/>
          <a:lstStyle>
            <a:lvl1pPr marL="0" indent="0" algn="l">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254953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5541A060-D8B5-6F4F-90DD-898E971493C8}" type="datetime4">
              <a:rPr lang="en-GB" smtClean="0"/>
              <a:t>26 May 2026</a:t>
            </a:fld>
            <a:endParaRPr lang="en-GB"/>
          </a:p>
        </p:txBody>
      </p:sp>
      <p:sp>
        <p:nvSpPr>
          <p:cNvPr id="6" name="Footer Placeholder 5"/>
          <p:cNvSpPr>
            <a:spLocks noGrp="1"/>
          </p:cNvSpPr>
          <p:nvPr>
            <p:ph type="ftr" sz="quarter" idx="11"/>
          </p:nvPr>
        </p:nvSpPr>
        <p:spPr/>
        <p:txBody>
          <a:bodyPr/>
          <a:lstStyle/>
          <a:p>
            <a:r>
              <a:rPr lang="en-GB"/>
              <a:t>Infix Schedule: Impact so far</a:t>
            </a:r>
          </a:p>
        </p:txBody>
      </p:sp>
      <p:sp>
        <p:nvSpPr>
          <p:cNvPr id="7" name="Slide Number Placeholder 6"/>
          <p:cNvSpPr>
            <a:spLocks noGrp="1"/>
          </p:cNvSpPr>
          <p:nvPr>
            <p:ph type="sldNum" sz="quarter" idx="12"/>
          </p:nvPr>
        </p:nvSpPr>
        <p:spPr/>
        <p:txBody>
          <a:bodyPr/>
          <a:lstStyle/>
          <a:p>
            <a:fld id="{9E2F006C-3F46-4694-A47B-E42E311A9BF4}" type="slidenum">
              <a:rPr lang="en-GB" smtClean="0"/>
              <a:t>‹#›</a:t>
            </a:fld>
            <a:endParaRPr lang="en-GB"/>
          </a:p>
        </p:txBody>
      </p:sp>
      <p:pic>
        <p:nvPicPr>
          <p:cNvPr id="9" name="Picture 8">
            <a:extLst>
              <a:ext uri="{FF2B5EF4-FFF2-40B4-BE49-F238E27FC236}">
                <a16:creationId xmlns:a16="http://schemas.microsoft.com/office/drawing/2014/main" id="{5A294ACD-44DD-7623-4839-B866767F2C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58800" y="396000"/>
            <a:ext cx="812399" cy="343613"/>
          </a:xfrm>
          <a:prstGeom prst="rect">
            <a:avLst/>
          </a:prstGeom>
        </p:spPr>
      </p:pic>
      <p:sp>
        <p:nvSpPr>
          <p:cNvPr id="10" name="Content Placeholder 2">
            <a:extLst>
              <a:ext uri="{FF2B5EF4-FFF2-40B4-BE49-F238E27FC236}">
                <a16:creationId xmlns:a16="http://schemas.microsoft.com/office/drawing/2014/main" id="{F683175B-B999-F957-F288-27C831B8B31F}"/>
              </a:ext>
            </a:extLst>
          </p:cNvPr>
          <p:cNvSpPr>
            <a:spLocks noGrp="1"/>
          </p:cNvSpPr>
          <p:nvPr>
            <p:ph sz="half" idx="13"/>
          </p:nvPr>
        </p:nvSpPr>
        <p:spPr>
          <a:xfrm>
            <a:off x="6270171" y="1825625"/>
            <a:ext cx="540102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87707571-E785-BD22-5323-8CF0CE382600}"/>
              </a:ext>
            </a:extLst>
          </p:cNvPr>
          <p:cNvSpPr>
            <a:spLocks noGrp="1"/>
          </p:cNvSpPr>
          <p:nvPr>
            <p:ph sz="half" idx="14"/>
          </p:nvPr>
        </p:nvSpPr>
        <p:spPr>
          <a:xfrm>
            <a:off x="432000" y="1825625"/>
            <a:ext cx="540102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0013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1">
  <p:cSld name="Main point 1">
    <p:bg>
      <p:bgPr>
        <a:solidFill>
          <a:srgbClr val="00A3FF"/>
        </a:solidFill>
        <a:effectLst/>
      </p:bgPr>
    </p:bg>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480000" y="2985802"/>
            <a:ext cx="8490400" cy="886397"/>
          </a:xfrm>
          <a:prstGeom prst="rect">
            <a:avLst/>
          </a:prstGeom>
        </p:spPr>
        <p:txBody>
          <a:bodyPr spcFirstLastPara="1" wrap="square" lIns="0" tIns="0" rIns="0" bIns="0" anchor="ctr" anchorCtr="0">
            <a:spAutoFit/>
          </a:bodyPr>
          <a:lstStyle>
            <a:lvl1pPr lvl="0" rtl="0">
              <a:spcBef>
                <a:spcPts val="0"/>
              </a:spcBef>
              <a:spcAft>
                <a:spcPts val="0"/>
              </a:spcAft>
              <a:buClr>
                <a:schemeClr val="lt1"/>
              </a:buClr>
              <a:buSzPts val="4800"/>
              <a:buNone/>
              <a:defRPr sz="6400">
                <a:solidFill>
                  <a:schemeClr val="lt1"/>
                </a:solidFill>
              </a:defRPr>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28" name="Google Shape;28;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512239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000" y="396000"/>
            <a:ext cx="10058548" cy="609398"/>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432000" y="1825625"/>
            <a:ext cx="849600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32000" y="6480000"/>
            <a:ext cx="2743200" cy="138499"/>
          </a:xfrm>
          <a:prstGeom prst="rect">
            <a:avLst/>
          </a:prstGeom>
        </p:spPr>
        <p:txBody>
          <a:bodyPr vert="horz" lIns="0" tIns="0" rIns="0" bIns="0" rtlCol="0" anchor="t" anchorCtr="0">
            <a:spAutoFit/>
          </a:bodyPr>
          <a:lstStyle>
            <a:lvl1pPr algn="l">
              <a:defRPr sz="900">
                <a:solidFill>
                  <a:schemeClr val="tx1"/>
                </a:solidFill>
                <a:latin typeface="+mn-lt"/>
              </a:defRPr>
            </a:lvl1pPr>
          </a:lstStyle>
          <a:p>
            <a:fld id="{5DAC314A-45AE-BB48-99BB-557DA47ABF36}" type="datetime4">
              <a:rPr lang="en-GB" smtClean="0"/>
              <a:t>26 May 2026</a:t>
            </a:fld>
            <a:endParaRPr lang="en-GB"/>
          </a:p>
        </p:txBody>
      </p:sp>
      <p:sp>
        <p:nvSpPr>
          <p:cNvPr id="5" name="Footer Placeholder 4"/>
          <p:cNvSpPr>
            <a:spLocks noGrp="1"/>
          </p:cNvSpPr>
          <p:nvPr>
            <p:ph type="ftr" sz="quarter" idx="3"/>
          </p:nvPr>
        </p:nvSpPr>
        <p:spPr>
          <a:xfrm>
            <a:off x="4038600" y="6480000"/>
            <a:ext cx="4114800" cy="138499"/>
          </a:xfrm>
          <a:prstGeom prst="rect">
            <a:avLst/>
          </a:prstGeom>
        </p:spPr>
        <p:txBody>
          <a:bodyPr vert="horz" lIns="0" tIns="0" rIns="0" bIns="0" rtlCol="0" anchor="t" anchorCtr="0">
            <a:spAutoFit/>
          </a:bodyPr>
          <a:lstStyle>
            <a:lvl1pPr algn="ctr">
              <a:defRPr sz="900">
                <a:solidFill>
                  <a:schemeClr val="tx1"/>
                </a:solidFill>
                <a:latin typeface="+mn-lt"/>
              </a:defRPr>
            </a:lvl1pPr>
          </a:lstStyle>
          <a:p>
            <a:r>
              <a:rPr lang="en-GB"/>
              <a:t>Infix Schedule: Impact so far</a:t>
            </a:r>
          </a:p>
        </p:txBody>
      </p:sp>
      <p:sp>
        <p:nvSpPr>
          <p:cNvPr id="6" name="Slide Number Placeholder 5"/>
          <p:cNvSpPr>
            <a:spLocks noGrp="1"/>
          </p:cNvSpPr>
          <p:nvPr>
            <p:ph type="sldNum" sz="quarter" idx="4"/>
          </p:nvPr>
        </p:nvSpPr>
        <p:spPr>
          <a:xfrm>
            <a:off x="8928000" y="6480000"/>
            <a:ext cx="2743200" cy="138499"/>
          </a:xfrm>
          <a:prstGeom prst="rect">
            <a:avLst/>
          </a:prstGeom>
        </p:spPr>
        <p:txBody>
          <a:bodyPr vert="horz" lIns="0" tIns="0" rIns="0" bIns="0" rtlCol="0" anchor="t" anchorCtr="0">
            <a:spAutoFit/>
          </a:bodyPr>
          <a:lstStyle>
            <a:lvl1pPr algn="r">
              <a:defRPr sz="900">
                <a:solidFill>
                  <a:schemeClr val="tx1"/>
                </a:solidFill>
                <a:latin typeface="+mn-lt"/>
              </a:defRPr>
            </a:lvl1pPr>
          </a:lstStyle>
          <a:p>
            <a:fld id="{9E2F006C-3F46-4694-A47B-E42E311A9BF4}" type="slidenum">
              <a:rPr lang="en-GB" smtClean="0"/>
              <a:pPr/>
              <a:t>‹#›</a:t>
            </a:fld>
            <a:endParaRPr lang="en-GB"/>
          </a:p>
        </p:txBody>
      </p:sp>
    </p:spTree>
    <p:extLst>
      <p:ext uri="{BB962C8B-B14F-4D97-AF65-F5344CB8AC3E}">
        <p14:creationId xmlns:p14="http://schemas.microsoft.com/office/powerpoint/2010/main" val="1879517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713"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85000"/>
        </a:lnSpc>
        <a:spcBef>
          <a:spcPts val="1000"/>
        </a:spcBef>
        <a:buFont typeface="Arial" panose="020B0604020202020204" pitchFamily="34" charset="0"/>
        <a:buChar char="•"/>
        <a:defRPr sz="2800" kern="1200">
          <a:solidFill>
            <a:schemeClr val="tx1"/>
          </a:solidFill>
          <a:latin typeface="Lexend SemiBold" pitchFamily="2" charset="0"/>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30_0.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www.infixsupport.com/" TargetMode="External"/><Relationship Id="rId2" Type="http://schemas.openxmlformats.org/officeDocument/2006/relationships/hyperlink" Target="mailto:matt@infixsupport.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gs>
            <a:gs pos="100000">
              <a:schemeClr val="accent1"/>
            </a:gs>
          </a:gsLst>
          <a:lin ang="20399589" scaled="0"/>
        </a:gradFill>
        <a:effectLst/>
      </p:bgPr>
    </p:bg>
    <p:spTree>
      <p:nvGrpSpPr>
        <p:cNvPr id="1" name="Shape 93"/>
        <p:cNvGrpSpPr/>
        <p:nvPr/>
      </p:nvGrpSpPr>
      <p:grpSpPr>
        <a:xfrm>
          <a:off x="0" y="0"/>
          <a:ext cx="0" cy="0"/>
          <a:chOff x="0" y="0"/>
          <a:chExt cx="0" cy="0"/>
        </a:xfrm>
      </p:grpSpPr>
      <p:sp>
        <p:nvSpPr>
          <p:cNvPr id="94" name="Google Shape;94;g2e2fa411b95_0_0"/>
          <p:cNvSpPr txBox="1">
            <a:spLocks noGrp="1"/>
          </p:cNvSpPr>
          <p:nvPr>
            <p:ph type="ctrTitle"/>
          </p:nvPr>
        </p:nvSpPr>
        <p:spPr>
          <a:xfrm>
            <a:off x="432000" y="1770004"/>
            <a:ext cx="9360000" cy="1661993"/>
          </a:xfrm>
          <a:prstGeom prst="rect">
            <a:avLst/>
          </a:prstGeom>
        </p:spPr>
        <p:txBody>
          <a:bodyPr spcFirstLastPara="1" wrap="square" lIns="0" tIns="0" rIns="0" bIns="0" anchor="t" anchorCtr="0">
            <a:spAutoFit/>
          </a:bodyPr>
          <a:lstStyle/>
          <a:p>
            <a:pPr>
              <a:spcBef>
                <a:spcPts val="0"/>
              </a:spcBef>
            </a:pPr>
            <a:r>
              <a:rPr lang="en-US" dirty="0"/>
              <a:t>Infix Support:</a:t>
            </a:r>
            <a:br>
              <a:rPr lang="en-US" dirty="0"/>
            </a:br>
            <a:r>
              <a:rPr lang="en-US" dirty="0"/>
              <a:t>Impact to date</a:t>
            </a:r>
            <a:endParaRPr lang="en-GB" dirty="0"/>
          </a:p>
        </p:txBody>
      </p:sp>
      <p:sp>
        <p:nvSpPr>
          <p:cNvPr id="2" name="Subtitle 1">
            <a:extLst>
              <a:ext uri="{FF2B5EF4-FFF2-40B4-BE49-F238E27FC236}">
                <a16:creationId xmlns:a16="http://schemas.microsoft.com/office/drawing/2014/main" id="{6FC69073-705E-DE8A-5D3A-6FC8F3160B0A}"/>
              </a:ext>
            </a:extLst>
          </p:cNvPr>
          <p:cNvSpPr>
            <a:spLocks noGrp="1"/>
          </p:cNvSpPr>
          <p:nvPr>
            <p:ph type="subTitle" idx="1"/>
          </p:nvPr>
        </p:nvSpPr>
        <p:spPr/>
        <p:txBody>
          <a:bodyPr/>
          <a:lstStyle/>
          <a:p>
            <a:r>
              <a:rPr lang="en-US" sz="1800" dirty="0"/>
              <a:t>March 2026</a:t>
            </a:r>
            <a:endParaRPr lang="en-GB" sz="1800" dirty="0"/>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7F58060-682F-06A4-11CF-77D61E0730B7}"/>
              </a:ext>
            </a:extLst>
          </p:cNvPr>
          <p:cNvSpPr>
            <a:spLocks noGrp="1"/>
          </p:cNvSpPr>
          <p:nvPr>
            <p:ph type="title"/>
          </p:nvPr>
        </p:nvSpPr>
        <p:spPr>
          <a:xfrm>
            <a:off x="432000" y="396000"/>
            <a:ext cx="10058548" cy="443198"/>
          </a:xfrm>
        </p:spPr>
        <p:txBody>
          <a:bodyPr/>
          <a:lstStyle/>
          <a:p>
            <a:r>
              <a:rPr lang="en-US" sz="3200"/>
              <a:t>Current vs Infix</a:t>
            </a:r>
          </a:p>
        </p:txBody>
      </p:sp>
      <p:sp>
        <p:nvSpPr>
          <p:cNvPr id="14" name="Date Placeholder 13">
            <a:extLst>
              <a:ext uri="{FF2B5EF4-FFF2-40B4-BE49-F238E27FC236}">
                <a16:creationId xmlns:a16="http://schemas.microsoft.com/office/drawing/2014/main" id="{181ECE98-2D3F-8D95-882F-5276ECB576F3}"/>
              </a:ext>
            </a:extLst>
          </p:cNvPr>
          <p:cNvSpPr>
            <a:spLocks noGrp="1"/>
          </p:cNvSpPr>
          <p:nvPr>
            <p:ph type="dt" sz="half" idx="10"/>
          </p:nvPr>
        </p:nvSpPr>
        <p:spPr/>
        <p:txBody>
          <a:bodyPr/>
          <a:lstStyle/>
          <a:p>
            <a:fld id="{19A4F713-AFFC-7A4C-8FAD-C773EC6E63AD}" type="datetime4">
              <a:rPr lang="en-GB" smtClean="0"/>
              <a:t>26 May 2026</a:t>
            </a:fld>
            <a:endParaRPr lang="en-GB"/>
          </a:p>
        </p:txBody>
      </p:sp>
      <p:sp>
        <p:nvSpPr>
          <p:cNvPr id="15" name="Footer Placeholder 14">
            <a:extLst>
              <a:ext uri="{FF2B5EF4-FFF2-40B4-BE49-F238E27FC236}">
                <a16:creationId xmlns:a16="http://schemas.microsoft.com/office/drawing/2014/main" id="{61AA1324-4C06-C6B1-5C06-8F8560185AFC}"/>
              </a:ext>
            </a:extLst>
          </p:cNvPr>
          <p:cNvSpPr>
            <a:spLocks noGrp="1"/>
          </p:cNvSpPr>
          <p:nvPr>
            <p:ph type="ftr" sz="quarter" idx="11"/>
          </p:nvPr>
        </p:nvSpPr>
        <p:spPr/>
        <p:txBody>
          <a:bodyPr/>
          <a:lstStyle/>
          <a:p>
            <a:r>
              <a:rPr lang="en-GB"/>
              <a:t>Infix Schedule: Impact so far</a:t>
            </a:r>
          </a:p>
        </p:txBody>
      </p:sp>
      <p:sp>
        <p:nvSpPr>
          <p:cNvPr id="6" name="Slide Number Placeholder 5">
            <a:extLst>
              <a:ext uri="{FF2B5EF4-FFF2-40B4-BE49-F238E27FC236}">
                <a16:creationId xmlns:a16="http://schemas.microsoft.com/office/drawing/2014/main" id="{5D746BAD-E46E-869C-0BA0-C61880CE38FA}"/>
              </a:ext>
            </a:extLst>
          </p:cNvPr>
          <p:cNvSpPr>
            <a:spLocks noGrp="1"/>
          </p:cNvSpPr>
          <p:nvPr>
            <p:ph type="sldNum" sz="quarter" idx="12"/>
          </p:nvPr>
        </p:nvSpPr>
        <p:spPr/>
        <p:txBody>
          <a:bodyPr/>
          <a:lstStyle/>
          <a:p>
            <a:fld id="{9E2F006C-3F46-4694-A47B-E42E311A9BF4}" type="slidenum">
              <a:rPr lang="en-GB" smtClean="0"/>
              <a:t>2</a:t>
            </a:fld>
            <a:endParaRPr lang="en-GB"/>
          </a:p>
        </p:txBody>
      </p:sp>
      <p:pic>
        <p:nvPicPr>
          <p:cNvPr id="7" name="Google Shape;85;gf5e5917d9e_0_26">
            <a:extLst>
              <a:ext uri="{FF2B5EF4-FFF2-40B4-BE49-F238E27FC236}">
                <a16:creationId xmlns:a16="http://schemas.microsoft.com/office/drawing/2014/main" id="{16B6137C-3383-D633-05CB-BCE8BCBF3D60}"/>
              </a:ext>
            </a:extLst>
          </p:cNvPr>
          <p:cNvPicPr preferRelativeResize="0"/>
          <p:nvPr/>
        </p:nvPicPr>
        <p:blipFill>
          <a:blip r:embed="rId2">
            <a:alphaModFix/>
          </a:blip>
          <a:stretch>
            <a:fillRect/>
          </a:stretch>
        </p:blipFill>
        <p:spPr>
          <a:xfrm>
            <a:off x="4169921" y="4259956"/>
            <a:ext cx="7080644" cy="1698293"/>
          </a:xfrm>
          <a:prstGeom prst="rect">
            <a:avLst/>
          </a:prstGeom>
          <a:noFill/>
          <a:ln>
            <a:noFill/>
          </a:ln>
        </p:spPr>
      </p:pic>
      <p:pic>
        <p:nvPicPr>
          <p:cNvPr id="8" name="Google Shape;86;gf5e5917d9e_0_26">
            <a:extLst>
              <a:ext uri="{FF2B5EF4-FFF2-40B4-BE49-F238E27FC236}">
                <a16:creationId xmlns:a16="http://schemas.microsoft.com/office/drawing/2014/main" id="{6F334197-D7B1-AEA7-C5F3-45FC06398345}"/>
              </a:ext>
            </a:extLst>
          </p:cNvPr>
          <p:cNvPicPr preferRelativeResize="0"/>
          <p:nvPr/>
        </p:nvPicPr>
        <p:blipFill>
          <a:blip r:embed="rId3">
            <a:alphaModFix/>
          </a:blip>
          <a:stretch>
            <a:fillRect/>
          </a:stretch>
        </p:blipFill>
        <p:spPr>
          <a:xfrm>
            <a:off x="4169921" y="860739"/>
            <a:ext cx="7080658" cy="3124257"/>
          </a:xfrm>
          <a:prstGeom prst="rect">
            <a:avLst/>
          </a:prstGeom>
          <a:noFill/>
          <a:ln>
            <a:noFill/>
          </a:ln>
        </p:spPr>
      </p:pic>
      <p:sp>
        <p:nvSpPr>
          <p:cNvPr id="9" name="Google Shape;87;gf5e5917d9e_0_26">
            <a:extLst>
              <a:ext uri="{FF2B5EF4-FFF2-40B4-BE49-F238E27FC236}">
                <a16:creationId xmlns:a16="http://schemas.microsoft.com/office/drawing/2014/main" id="{857C7650-0846-B163-E55E-4453EEEB614D}"/>
              </a:ext>
            </a:extLst>
          </p:cNvPr>
          <p:cNvSpPr txBox="1"/>
          <p:nvPr/>
        </p:nvSpPr>
        <p:spPr>
          <a:xfrm>
            <a:off x="432000" y="1470980"/>
            <a:ext cx="2990335" cy="1797928"/>
          </a:xfrm>
          <a:prstGeom prst="rect">
            <a:avLst/>
          </a:prstGeom>
          <a:noFill/>
          <a:ln w="9525" cap="flat" cmpd="sng">
            <a:noFill/>
            <a:prstDash val="solid"/>
            <a:round/>
            <a:headEnd type="none" w="sm" len="sm"/>
            <a:tailEnd type="none" w="sm" len="sm"/>
          </a:ln>
        </p:spPr>
        <p:txBody>
          <a:bodyPr spcFirstLastPara="1" wrap="square" lIns="0" tIns="0" rIns="0" bIns="0" anchor="t" anchorCtr="0">
            <a:spAutoFit/>
          </a:bodyPr>
          <a:lstStyle/>
          <a:p>
            <a:pPr defTabSz="1219170">
              <a:buClr>
                <a:srgbClr val="000000"/>
              </a:buClr>
              <a:buSzPts val="1000"/>
            </a:pPr>
            <a:r>
              <a:rPr lang="en-GB" sz="1600" b="1" kern="0">
                <a:solidFill>
                  <a:schemeClr val="tx2"/>
                </a:solidFill>
                <a:latin typeface="Lexend" pitchFamily="2" charset="77"/>
                <a:ea typeface="Montserrat"/>
                <a:cs typeface="Montserrat"/>
                <a:sym typeface="Montserrat"/>
              </a:rPr>
              <a:t>Current situation</a:t>
            </a:r>
            <a:endParaRPr sz="1600" b="1" kern="0">
              <a:solidFill>
                <a:schemeClr val="tx2"/>
              </a:solidFill>
              <a:latin typeface="Lexend" pitchFamily="2" charset="77"/>
              <a:ea typeface="Montserrat"/>
              <a:cs typeface="Montserrat"/>
              <a:sym typeface="Montserrat"/>
            </a:endParaRPr>
          </a:p>
          <a:p>
            <a:pPr marL="278392" indent="-264793" defTabSz="1219170">
              <a:spcBef>
                <a:spcPts val="533"/>
              </a:spcBef>
              <a:buClr>
                <a:srgbClr val="595959"/>
              </a:buClr>
              <a:buSzPts val="1200"/>
              <a:buFont typeface="Montserrat"/>
              <a:buChar char="●"/>
            </a:pPr>
            <a:r>
              <a:rPr lang="en-GB" sz="1600" kern="0">
                <a:solidFill>
                  <a:schemeClr val="tx2"/>
                </a:solidFill>
                <a:latin typeface="Lexend" pitchFamily="2" charset="77"/>
                <a:ea typeface="Montserrat"/>
                <a:cs typeface="Montserrat"/>
                <a:sym typeface="Montserrat"/>
              </a:rPr>
              <a:t>No integration</a:t>
            </a:r>
            <a:endParaRPr sz="1600" kern="0">
              <a:solidFill>
                <a:schemeClr val="tx2"/>
              </a:solidFill>
              <a:latin typeface="Lexend" pitchFamily="2" charset="77"/>
              <a:ea typeface="Montserrat"/>
              <a:cs typeface="Montserrat"/>
              <a:sym typeface="Montserrat"/>
            </a:endParaRPr>
          </a:p>
          <a:p>
            <a:pPr marL="278392" indent="-264793" defTabSz="1219170">
              <a:spcBef>
                <a:spcPts val="533"/>
              </a:spcBef>
              <a:buClr>
                <a:srgbClr val="595959"/>
              </a:buClr>
              <a:buSzPts val="1200"/>
              <a:buFont typeface="Montserrat"/>
              <a:buChar char="●"/>
            </a:pPr>
            <a:r>
              <a:rPr lang="en-GB" sz="1600" kern="0">
                <a:solidFill>
                  <a:schemeClr val="tx2"/>
                </a:solidFill>
                <a:latin typeface="Lexend" pitchFamily="2" charset="77"/>
                <a:ea typeface="Montserrat"/>
                <a:cs typeface="Montserrat"/>
                <a:sym typeface="Montserrat"/>
              </a:rPr>
              <a:t>Variable op times</a:t>
            </a:r>
            <a:endParaRPr sz="1600" kern="0">
              <a:solidFill>
                <a:schemeClr val="tx2"/>
              </a:solidFill>
              <a:latin typeface="Lexend" pitchFamily="2" charset="77"/>
              <a:ea typeface="Montserrat"/>
              <a:cs typeface="Montserrat"/>
              <a:sym typeface="Montserrat"/>
            </a:endParaRPr>
          </a:p>
          <a:p>
            <a:pPr marL="278392" indent="-264793" defTabSz="1219170">
              <a:spcBef>
                <a:spcPts val="533"/>
              </a:spcBef>
              <a:buClr>
                <a:srgbClr val="595959"/>
              </a:buClr>
              <a:buSzPts val="1200"/>
              <a:buFont typeface="Montserrat"/>
              <a:buChar char="●"/>
            </a:pPr>
            <a:r>
              <a:rPr lang="en-GB" sz="1600" kern="0">
                <a:solidFill>
                  <a:schemeClr val="tx2"/>
                </a:solidFill>
                <a:latin typeface="Lexend" pitchFamily="2" charset="77"/>
                <a:ea typeface="Montserrat"/>
                <a:cs typeface="Montserrat"/>
                <a:sym typeface="Montserrat"/>
              </a:rPr>
              <a:t>65% theatre utilisation*</a:t>
            </a:r>
            <a:endParaRPr sz="1600" kern="0">
              <a:solidFill>
                <a:schemeClr val="tx2"/>
              </a:solidFill>
              <a:latin typeface="Lexend" pitchFamily="2" charset="77"/>
              <a:ea typeface="Montserrat"/>
              <a:cs typeface="Montserrat"/>
              <a:sym typeface="Montserrat"/>
            </a:endParaRPr>
          </a:p>
          <a:p>
            <a:pPr marL="278392" indent="-264793" defTabSz="1219170">
              <a:spcBef>
                <a:spcPts val="533"/>
              </a:spcBef>
              <a:buClr>
                <a:srgbClr val="595959"/>
              </a:buClr>
              <a:buSzPts val="1200"/>
              <a:buFont typeface="Montserrat"/>
              <a:buChar char="●"/>
            </a:pPr>
            <a:r>
              <a:rPr lang="en-GB" sz="1600" kern="0">
                <a:solidFill>
                  <a:schemeClr val="tx2"/>
                </a:solidFill>
                <a:latin typeface="Lexend" pitchFamily="2" charset="77"/>
                <a:ea typeface="Montserrat"/>
                <a:cs typeface="Montserrat"/>
                <a:sym typeface="Montserrat"/>
              </a:rPr>
              <a:t>Poor data</a:t>
            </a:r>
            <a:endParaRPr sz="1600" kern="0">
              <a:solidFill>
                <a:schemeClr val="tx2"/>
              </a:solidFill>
              <a:latin typeface="Lexend" pitchFamily="2" charset="77"/>
              <a:ea typeface="Montserrat"/>
              <a:cs typeface="Montserrat"/>
              <a:sym typeface="Montserrat"/>
            </a:endParaRPr>
          </a:p>
          <a:p>
            <a:pPr marL="278392" indent="-264793" defTabSz="1219170">
              <a:spcBef>
                <a:spcPts val="533"/>
              </a:spcBef>
              <a:buClr>
                <a:srgbClr val="595959"/>
              </a:buClr>
              <a:buSzPts val="1200"/>
              <a:buFont typeface="Montserrat"/>
              <a:buChar char="●"/>
            </a:pPr>
            <a:r>
              <a:rPr lang="en-GB" sz="1600" kern="0">
                <a:solidFill>
                  <a:schemeClr val="tx2"/>
                </a:solidFill>
                <a:latin typeface="Lexend" pitchFamily="2" charset="77"/>
                <a:ea typeface="Montserrat"/>
                <a:cs typeface="Montserrat"/>
                <a:sym typeface="Montserrat"/>
              </a:rPr>
              <a:t>Manual sharing</a:t>
            </a:r>
            <a:endParaRPr sz="1600" kern="0">
              <a:solidFill>
                <a:schemeClr val="tx2"/>
              </a:solidFill>
              <a:latin typeface="Lexend" pitchFamily="2" charset="77"/>
              <a:ea typeface="Montserrat"/>
              <a:cs typeface="Montserrat"/>
              <a:sym typeface="Montserrat"/>
            </a:endParaRPr>
          </a:p>
        </p:txBody>
      </p:sp>
      <p:sp>
        <p:nvSpPr>
          <p:cNvPr id="10" name="Google Shape;88;gf5e5917d9e_0_26">
            <a:extLst>
              <a:ext uri="{FF2B5EF4-FFF2-40B4-BE49-F238E27FC236}">
                <a16:creationId xmlns:a16="http://schemas.microsoft.com/office/drawing/2014/main" id="{90D21293-DE1C-9B89-0DCE-66ECA8CFFFD1}"/>
              </a:ext>
            </a:extLst>
          </p:cNvPr>
          <p:cNvSpPr txBox="1"/>
          <p:nvPr/>
        </p:nvSpPr>
        <p:spPr>
          <a:xfrm>
            <a:off x="432000" y="4259956"/>
            <a:ext cx="3390364" cy="1797928"/>
          </a:xfrm>
          <a:prstGeom prst="rect">
            <a:avLst/>
          </a:prstGeom>
          <a:noFill/>
          <a:ln w="9525" cap="flat" cmpd="sng">
            <a:noFill/>
            <a:prstDash val="solid"/>
            <a:round/>
            <a:headEnd type="none" w="sm" len="sm"/>
            <a:tailEnd type="none" w="sm" len="sm"/>
          </a:ln>
        </p:spPr>
        <p:txBody>
          <a:bodyPr spcFirstLastPara="1" wrap="square" lIns="0" tIns="0" rIns="0" bIns="0" anchor="t" anchorCtr="0">
            <a:spAutoFit/>
          </a:bodyPr>
          <a:lstStyle/>
          <a:p>
            <a:pPr defTabSz="1219170">
              <a:buClr>
                <a:srgbClr val="000000"/>
              </a:buClr>
              <a:buSzPts val="1000"/>
            </a:pPr>
            <a:r>
              <a:rPr lang="en-US" sz="1600" b="1" kern="0" dirty="0">
                <a:solidFill>
                  <a:schemeClr val="tx2"/>
                </a:solidFill>
                <a:latin typeface="Lexend" pitchFamily="2" charset="77"/>
                <a:ea typeface="Montserrat"/>
                <a:cs typeface="Montserrat"/>
                <a:sym typeface="Montserrat"/>
              </a:rPr>
              <a:t>With Infix Schedule</a:t>
            </a:r>
          </a:p>
          <a:p>
            <a:pPr marL="278130" indent="-264160" defTabSz="1219170">
              <a:spcBef>
                <a:spcPts val="533"/>
              </a:spcBef>
              <a:buClr>
                <a:srgbClr val="595959"/>
              </a:buClr>
              <a:buSzPts val="1200"/>
              <a:buFont typeface="Montserrat"/>
              <a:buChar char="●"/>
            </a:pPr>
            <a:r>
              <a:rPr lang="en-US" sz="1600" kern="0" dirty="0">
                <a:solidFill>
                  <a:schemeClr val="tx2"/>
                </a:solidFill>
                <a:latin typeface="Lexend" pitchFamily="2" charset="77"/>
                <a:ea typeface="Montserrat"/>
                <a:cs typeface="Montserrat"/>
                <a:sym typeface="Montserrat"/>
              </a:rPr>
              <a:t>Real-time integration</a:t>
            </a:r>
            <a:endParaRPr lang="en-US" sz="1600" kern="0" dirty="0">
              <a:solidFill>
                <a:schemeClr val="tx2"/>
              </a:solidFill>
              <a:latin typeface="Lexend" pitchFamily="2" charset="77"/>
              <a:ea typeface="Montserrat"/>
              <a:cs typeface="Montserrat"/>
            </a:endParaRPr>
          </a:p>
          <a:p>
            <a:pPr marL="278130" indent="-264160" defTabSz="1219170">
              <a:spcBef>
                <a:spcPts val="533"/>
              </a:spcBef>
              <a:buClr>
                <a:srgbClr val="595959"/>
              </a:buClr>
              <a:buSzPts val="1200"/>
              <a:buFont typeface="Montserrat"/>
              <a:buChar char="●"/>
            </a:pPr>
            <a:r>
              <a:rPr lang="en-US" sz="1600" kern="0" dirty="0">
                <a:solidFill>
                  <a:schemeClr val="tx2"/>
                </a:solidFill>
                <a:latin typeface="Lexend" pitchFamily="2" charset="77"/>
                <a:ea typeface="Montserrat"/>
                <a:cs typeface="Montserrat"/>
                <a:sym typeface="Montserrat"/>
              </a:rPr>
              <a:t>National benchmark op times</a:t>
            </a:r>
            <a:endParaRPr lang="en-US" sz="1600" kern="0" dirty="0">
              <a:solidFill>
                <a:schemeClr val="tx2"/>
              </a:solidFill>
              <a:latin typeface="Lexend" pitchFamily="2" charset="77"/>
              <a:ea typeface="Montserrat"/>
              <a:cs typeface="Montserrat"/>
            </a:endParaRPr>
          </a:p>
          <a:p>
            <a:pPr marL="278130" indent="-264160" defTabSz="1219170">
              <a:spcBef>
                <a:spcPts val="533"/>
              </a:spcBef>
              <a:buClr>
                <a:srgbClr val="595959"/>
              </a:buClr>
              <a:buSzPts val="1200"/>
              <a:buFont typeface="Montserrat"/>
              <a:buChar char="●"/>
            </a:pPr>
            <a:r>
              <a:rPr lang="en-US" sz="1600" kern="0" dirty="0">
                <a:solidFill>
                  <a:schemeClr val="tx2"/>
                </a:solidFill>
                <a:latin typeface="Lexend" pitchFamily="2" charset="77"/>
                <a:ea typeface="Montserrat"/>
                <a:cs typeface="Montserrat"/>
                <a:sym typeface="Montserrat"/>
              </a:rPr>
              <a:t>26.8% utilisation increase*</a:t>
            </a:r>
            <a:endParaRPr lang="en-US" sz="1600" kern="0" dirty="0">
              <a:solidFill>
                <a:schemeClr val="tx2"/>
              </a:solidFill>
              <a:latin typeface="Lexend" pitchFamily="2" charset="77"/>
              <a:ea typeface="Montserrat"/>
              <a:cs typeface="Montserrat"/>
            </a:endParaRPr>
          </a:p>
          <a:p>
            <a:pPr marL="278130" indent="-264160" defTabSz="1219170">
              <a:spcBef>
                <a:spcPts val="533"/>
              </a:spcBef>
              <a:buClr>
                <a:srgbClr val="595959"/>
              </a:buClr>
              <a:buSzPts val="1200"/>
              <a:buFont typeface="Montserrat"/>
              <a:buChar char="●"/>
            </a:pPr>
            <a:r>
              <a:rPr lang="en-US" sz="1600" kern="0" dirty="0">
                <a:solidFill>
                  <a:schemeClr val="tx2"/>
                </a:solidFill>
                <a:latin typeface="Lexend" pitchFamily="2" charset="77"/>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Live</a:t>
            </a:r>
            <a:r>
              <a:rPr lang="en-US" sz="1600" kern="0" dirty="0">
                <a:solidFill>
                  <a:schemeClr val="tx2"/>
                </a:solidFill>
                <a:latin typeface="Lexend" pitchFamily="2" charset="77"/>
                <a:ea typeface="Montserrat"/>
                <a:cs typeface="Montserrat"/>
                <a:sym typeface="Montserrat"/>
              </a:rPr>
              <a:t> data dashboards</a:t>
            </a:r>
            <a:endParaRPr lang="en-US" sz="1600" kern="0" dirty="0">
              <a:solidFill>
                <a:schemeClr val="tx2"/>
              </a:solidFill>
              <a:latin typeface="Lexend" pitchFamily="2" charset="77"/>
              <a:ea typeface="Montserrat"/>
              <a:cs typeface="Montserrat"/>
            </a:endParaRPr>
          </a:p>
          <a:p>
            <a:pPr marL="278130" indent="-264160" defTabSz="1219170">
              <a:spcBef>
                <a:spcPts val="533"/>
              </a:spcBef>
              <a:buClr>
                <a:srgbClr val="595959"/>
              </a:buClr>
              <a:buSzPts val="1200"/>
              <a:buFont typeface="Montserrat"/>
              <a:buChar char="●"/>
            </a:pPr>
            <a:r>
              <a:rPr lang="en-US" sz="1600" kern="0" dirty="0">
                <a:solidFill>
                  <a:schemeClr val="tx2"/>
                </a:solidFill>
                <a:latin typeface="Lexend" pitchFamily="2" charset="77"/>
                <a:ea typeface="Montserrat"/>
                <a:cs typeface="Montserrat"/>
                <a:sym typeface="Montserrat"/>
              </a:rPr>
              <a:t>Easy sharing of patients/lists</a:t>
            </a:r>
            <a:endParaRPr lang="en-US" sz="1600" kern="0" dirty="0">
              <a:solidFill>
                <a:schemeClr val="tx2"/>
              </a:solidFill>
              <a:latin typeface="Lexend" pitchFamily="2" charset="77"/>
              <a:ea typeface="Montserrat"/>
              <a:cs typeface="Montserrat"/>
            </a:endParaRPr>
          </a:p>
        </p:txBody>
      </p:sp>
      <p:sp>
        <p:nvSpPr>
          <p:cNvPr id="11" name="Google Shape;89;gf5e5917d9e_0_26">
            <a:extLst>
              <a:ext uri="{FF2B5EF4-FFF2-40B4-BE49-F238E27FC236}">
                <a16:creationId xmlns:a16="http://schemas.microsoft.com/office/drawing/2014/main" id="{D2AEFB16-4E67-4AE7-CB1B-4C3520AF5625}"/>
              </a:ext>
            </a:extLst>
          </p:cNvPr>
          <p:cNvSpPr txBox="1"/>
          <p:nvPr/>
        </p:nvSpPr>
        <p:spPr>
          <a:xfrm>
            <a:off x="432000" y="6229477"/>
            <a:ext cx="5256400" cy="123111"/>
          </a:xfrm>
          <a:prstGeom prst="rect">
            <a:avLst/>
          </a:prstGeom>
          <a:noFill/>
          <a:ln>
            <a:noFill/>
          </a:ln>
        </p:spPr>
        <p:txBody>
          <a:bodyPr spcFirstLastPara="1" wrap="square" lIns="0" tIns="0" rIns="0" bIns="0" anchor="t" anchorCtr="0">
            <a:spAutoFit/>
          </a:bodyPr>
          <a:lstStyle/>
          <a:p>
            <a:pPr defTabSz="1219170">
              <a:buClr>
                <a:srgbClr val="000000"/>
              </a:buClr>
            </a:pPr>
            <a:r>
              <a:rPr lang="en-GB" sz="800" kern="0">
                <a:solidFill>
                  <a:srgbClr val="9E9E9E"/>
                </a:solidFill>
                <a:ea typeface="Montserrat SemiBold"/>
                <a:cs typeface="Montserrat SemiBold"/>
                <a:sym typeface="Montserrat SemiBold"/>
              </a:rPr>
              <a:t> *Utilisation percentages taken from Independent evaluation report  by the University of Stirling</a:t>
            </a:r>
            <a:endParaRPr sz="800" kern="0">
              <a:solidFill>
                <a:srgbClr val="9E9E9E"/>
              </a:solidFill>
              <a:ea typeface="Montserrat SemiBold"/>
              <a:cs typeface="Montserrat SemiBold"/>
              <a:sym typeface="Montserrat SemiBold"/>
            </a:endParaRPr>
          </a:p>
        </p:txBody>
      </p:sp>
    </p:spTree>
    <p:extLst>
      <p:ext uri="{BB962C8B-B14F-4D97-AF65-F5344CB8AC3E}">
        <p14:creationId xmlns:p14="http://schemas.microsoft.com/office/powerpoint/2010/main" val="3416604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9" name="Google Shape;109;p1"/>
          <p:cNvPicPr preferRelativeResize="0"/>
          <p:nvPr/>
        </p:nvPicPr>
        <p:blipFill rotWithShape="1">
          <a:blip r:embed="rId3">
            <a:alphaModFix/>
          </a:blip>
          <a:srcRect/>
          <a:stretch/>
        </p:blipFill>
        <p:spPr>
          <a:xfrm>
            <a:off x="485548" y="1440072"/>
            <a:ext cx="1187762" cy="1511699"/>
          </a:xfrm>
          <a:prstGeom prst="rect">
            <a:avLst/>
          </a:prstGeom>
          <a:noFill/>
          <a:ln>
            <a:noFill/>
          </a:ln>
        </p:spPr>
      </p:pic>
      <p:sp>
        <p:nvSpPr>
          <p:cNvPr id="110" name="Google Shape;110;p1"/>
          <p:cNvSpPr txBox="1"/>
          <p:nvPr/>
        </p:nvSpPr>
        <p:spPr>
          <a:xfrm>
            <a:off x="466725" y="3153222"/>
            <a:ext cx="1588330" cy="35394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srgbClr val="33D6B0"/>
              </a:buClr>
              <a:buSzPts val="2000"/>
              <a:buFont typeface="Montserrat"/>
              <a:buNone/>
              <a:tabLst/>
              <a:defRPr/>
            </a:pPr>
            <a:r>
              <a:rPr kumimoji="0" lang="en-GB" sz="2000" b="1" i="0" u="none" strike="noStrike" kern="1200" cap="none" spc="0" normalizeH="0" baseline="0" noProof="0">
                <a:ln>
                  <a:noFill/>
                </a:ln>
                <a:solidFill>
                  <a:schemeClr val="tx2"/>
                </a:solidFill>
                <a:effectLst/>
                <a:uLnTx/>
                <a:uFillTx/>
                <a:latin typeface="Lexend" pitchFamily="2" charset="77"/>
                <a:ea typeface="Montserrat"/>
                <a:cs typeface="Montserrat"/>
                <a:sym typeface="Montserrat"/>
              </a:rPr>
              <a:t>Surgeons</a:t>
            </a:r>
            <a:endParaRPr kumimoji="0" sz="2000" b="1" i="0" u="none" strike="noStrike" kern="1200" cap="none" spc="0" normalizeH="0" baseline="0" noProof="0">
              <a:ln>
                <a:noFill/>
              </a:ln>
              <a:solidFill>
                <a:schemeClr val="tx2"/>
              </a:solidFill>
              <a:effectLst/>
              <a:uLnTx/>
              <a:uFillTx/>
              <a:latin typeface="Lexend" pitchFamily="2" charset="77"/>
              <a:ea typeface="Montserrat"/>
              <a:cs typeface="Montserrat"/>
              <a:sym typeface="Montserrat"/>
            </a:endParaRPr>
          </a:p>
        </p:txBody>
      </p:sp>
      <p:sp>
        <p:nvSpPr>
          <p:cNvPr id="114" name="Google Shape;114;p1"/>
          <p:cNvSpPr txBox="1"/>
          <p:nvPr/>
        </p:nvSpPr>
        <p:spPr>
          <a:xfrm>
            <a:off x="2147486" y="1345071"/>
            <a:ext cx="3067065" cy="4893607"/>
          </a:xfrm>
          <a:prstGeom prst="rect">
            <a:avLst/>
          </a:prstGeom>
          <a:noFill/>
          <a:ln>
            <a:noFill/>
          </a:ln>
        </p:spPr>
        <p:txBody>
          <a:bodyPr spcFirstLastPara="1" wrap="square" lIns="91425" tIns="45700" rIns="91425" bIns="45700" anchor="t" anchorCtr="0">
            <a:spAutoFit/>
          </a:bodyPr>
          <a:lstStyle/>
          <a:p>
            <a:pPr marL="171450" marR="0" lvl="0" indent="-171450" algn="l" defTabSz="914400" rtl="0" eaLnBrk="1" fontAlgn="auto" latinLnBrk="0" hangingPunct="1">
              <a:lnSpc>
                <a:spcPct val="100000"/>
              </a:lnSpc>
              <a:spcBef>
                <a:spcPts val="0"/>
              </a:spcBef>
              <a:spcAft>
                <a:spcPts val="0"/>
              </a:spcAft>
              <a:buClr>
                <a:prstClr val="black"/>
              </a:buClr>
              <a:buSzPts val="1400"/>
              <a:buFont typeface="Arial"/>
              <a:buChar char="•"/>
              <a:tabLst/>
              <a:defRPr/>
            </a:pPr>
            <a:r>
              <a:rPr kumimoji="0" lang="en-GB" sz="140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The only system you need to use for </a:t>
            </a:r>
            <a:r>
              <a:rPr kumimoji="0" lang="en-GB" sz="1400" b="1"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‘real-time’ visualisation of your patients </a:t>
            </a:r>
            <a:r>
              <a:rPr kumimoji="0" lang="en-GB"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and all populated surgical activity</a:t>
            </a:r>
            <a:endParaRPr kumimoji="0" sz="1400" b="0" i="0" u="none" strike="noStrike" kern="1200" cap="none" spc="0" normalizeH="0" baseline="0" noProof="0">
              <a:ln>
                <a:noFill/>
              </a:ln>
              <a:solidFill>
                <a:prstClr val="black"/>
              </a:solidFill>
              <a:effectLst/>
              <a:uLnTx/>
              <a:uFillTx/>
              <a:latin typeface="Lexend" pitchFamily="2" charset="77"/>
            </a:endParaRPr>
          </a:p>
          <a:p>
            <a:pPr marL="171450" marR="0" lvl="0" indent="-82550" algn="l" defTabSz="914400" rtl="0" eaLnBrk="1" fontAlgn="auto" latinLnBrk="0" hangingPunct="1">
              <a:lnSpc>
                <a:spcPct val="100000"/>
              </a:lnSpc>
              <a:spcBef>
                <a:spcPts val="0"/>
              </a:spcBef>
              <a:spcAft>
                <a:spcPts val="0"/>
              </a:spcAft>
              <a:buClr>
                <a:prstClr val="black"/>
              </a:buClr>
              <a:buSzPts val="1400"/>
              <a:buFont typeface="Arial"/>
              <a:buNone/>
              <a:tabLst/>
              <a:defRPr/>
            </a:pPr>
            <a:endParaRPr kumimoji="0"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endParaRPr>
          </a:p>
          <a:p>
            <a:pPr marL="171450" marR="0" lvl="0" indent="-171450" algn="l" defTabSz="914400" rtl="0" eaLnBrk="1" fontAlgn="auto" latinLnBrk="0" hangingPunct="1">
              <a:lnSpc>
                <a:spcPct val="100000"/>
              </a:lnSpc>
              <a:spcBef>
                <a:spcPts val="0"/>
              </a:spcBef>
              <a:spcAft>
                <a:spcPts val="0"/>
              </a:spcAft>
              <a:buClr>
                <a:prstClr val="black"/>
              </a:buClr>
              <a:buSzPts val="1400"/>
              <a:buFont typeface="Arial"/>
              <a:buChar char="•"/>
              <a:tabLst/>
              <a:defRPr/>
            </a:pPr>
            <a:r>
              <a:rPr kumimoji="0" lang="en-GB"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All patients’ details from </a:t>
            </a:r>
            <a:r>
              <a:rPr kumimoji="0" lang="en-GB" sz="1400" b="1"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outpatient notes </a:t>
            </a:r>
            <a:r>
              <a:rPr kumimoji="0" lang="en-GB"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are shown for easy identification</a:t>
            </a:r>
            <a:endParaRPr kumimoji="0" sz="1400" b="0" i="0" u="none" strike="noStrike" kern="1200" cap="none" spc="0" normalizeH="0" baseline="0" noProof="0">
              <a:ln>
                <a:noFill/>
              </a:ln>
              <a:solidFill>
                <a:prstClr val="black"/>
              </a:solidFill>
              <a:effectLst/>
              <a:uLnTx/>
              <a:uFillTx/>
              <a:latin typeface="Lexend" pitchFamily="2" charset="77"/>
            </a:endParaRPr>
          </a:p>
          <a:p>
            <a:pPr marL="171450" marR="0" lvl="0" indent="-82550" algn="l" defTabSz="914400" rtl="0" eaLnBrk="1" fontAlgn="auto" latinLnBrk="0" hangingPunct="1">
              <a:lnSpc>
                <a:spcPct val="100000"/>
              </a:lnSpc>
              <a:spcBef>
                <a:spcPts val="0"/>
              </a:spcBef>
              <a:spcAft>
                <a:spcPts val="0"/>
              </a:spcAft>
              <a:buClr>
                <a:prstClr val="black"/>
              </a:buClr>
              <a:buSzPts val="1400"/>
              <a:buFont typeface="Arial"/>
              <a:buNone/>
              <a:tabLst/>
              <a:defRPr/>
            </a:pPr>
            <a:endParaRPr kumimoji="0"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endParaRPr>
          </a:p>
          <a:p>
            <a:pPr marL="171450" marR="0" lvl="0" indent="-171450" algn="l" defTabSz="914400" rtl="0" eaLnBrk="1" fontAlgn="auto" latinLnBrk="0" hangingPunct="1">
              <a:lnSpc>
                <a:spcPct val="100000"/>
              </a:lnSpc>
              <a:spcBef>
                <a:spcPts val="0"/>
              </a:spcBef>
              <a:spcAft>
                <a:spcPts val="0"/>
              </a:spcAft>
              <a:buClr>
                <a:prstClr val="black"/>
              </a:buClr>
              <a:buSzPts val="1400"/>
              <a:buFont typeface="Arial"/>
              <a:buChar char="•"/>
              <a:tabLst/>
              <a:defRPr/>
            </a:pPr>
            <a:r>
              <a:rPr kumimoji="0" lang="en-GB"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A </a:t>
            </a:r>
            <a:r>
              <a:rPr kumimoji="0" lang="en-GB" sz="1400" b="1"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personalised calendar </a:t>
            </a:r>
            <a:r>
              <a:rPr kumimoji="0" lang="en-GB"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for all your activity</a:t>
            </a:r>
            <a:endParaRPr kumimoji="0" sz="1400" b="0" i="0" u="none" strike="noStrike" kern="1200" cap="none" spc="0" normalizeH="0" baseline="0" noProof="0">
              <a:ln>
                <a:noFill/>
              </a:ln>
              <a:solidFill>
                <a:prstClr val="black"/>
              </a:solidFill>
              <a:effectLst/>
              <a:uLnTx/>
              <a:uFillTx/>
              <a:latin typeface="Lexend" pitchFamily="2" charset="77"/>
            </a:endParaRPr>
          </a:p>
          <a:p>
            <a:pPr marL="171450" marR="0" lvl="0" indent="-82550" algn="l" defTabSz="914400" rtl="0" eaLnBrk="1" fontAlgn="auto" latinLnBrk="0" hangingPunct="1">
              <a:lnSpc>
                <a:spcPct val="100000"/>
              </a:lnSpc>
              <a:spcBef>
                <a:spcPts val="0"/>
              </a:spcBef>
              <a:spcAft>
                <a:spcPts val="0"/>
              </a:spcAft>
              <a:buClr>
                <a:prstClr val="black"/>
              </a:buClr>
              <a:buSzPts val="1400"/>
              <a:buFont typeface="Arial"/>
              <a:buNone/>
              <a:tabLst/>
              <a:defRPr/>
            </a:pPr>
            <a:endParaRPr kumimoji="0"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endParaRPr>
          </a:p>
          <a:p>
            <a:pPr marL="171450" marR="0" lvl="0" indent="-171450" algn="l" defTabSz="914400" rtl="0" eaLnBrk="1" fontAlgn="auto" latinLnBrk="0" hangingPunct="1">
              <a:lnSpc>
                <a:spcPct val="100000"/>
              </a:lnSpc>
              <a:spcBef>
                <a:spcPts val="0"/>
              </a:spcBef>
              <a:spcAft>
                <a:spcPts val="0"/>
              </a:spcAft>
              <a:buClr>
                <a:prstClr val="black"/>
              </a:buClr>
              <a:buSzPts val="1400"/>
              <a:buFont typeface="Arial"/>
              <a:buChar char="•"/>
              <a:tabLst/>
              <a:defRPr/>
            </a:pPr>
            <a:r>
              <a:rPr kumimoji="0" lang="en-GB"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Allows </a:t>
            </a:r>
            <a:r>
              <a:rPr kumimoji="0" lang="en-GB" sz="1400" b="1"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easy communication </a:t>
            </a:r>
            <a:r>
              <a:rPr kumimoji="0" lang="en-GB"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between you and your admin team with a visual and user-friendly interface</a:t>
            </a:r>
            <a:endParaRPr kumimoji="0" sz="1400" b="0" i="0" u="none" strike="noStrike" kern="1200" cap="none" spc="0" normalizeH="0" baseline="0" noProof="0">
              <a:ln>
                <a:noFill/>
              </a:ln>
              <a:solidFill>
                <a:prstClr val="black"/>
              </a:solidFill>
              <a:effectLst/>
              <a:uLnTx/>
              <a:uFillTx/>
              <a:latin typeface="Lexend" pitchFamily="2" charset="77"/>
            </a:endParaRPr>
          </a:p>
          <a:p>
            <a:pPr marL="171450" marR="0" lvl="0" indent="-82550" algn="l" defTabSz="914400" rtl="0" eaLnBrk="1" fontAlgn="auto" latinLnBrk="0" hangingPunct="1">
              <a:lnSpc>
                <a:spcPct val="100000"/>
              </a:lnSpc>
              <a:spcBef>
                <a:spcPts val="0"/>
              </a:spcBef>
              <a:spcAft>
                <a:spcPts val="0"/>
              </a:spcAft>
              <a:buClr>
                <a:prstClr val="black"/>
              </a:buClr>
              <a:buSzPts val="1400"/>
              <a:buFont typeface="Arial"/>
              <a:buNone/>
              <a:tabLst/>
              <a:defRPr/>
            </a:pPr>
            <a:endParaRPr kumimoji="0"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endParaRPr>
          </a:p>
          <a:p>
            <a:pPr marL="171450" marR="0" lvl="0" indent="-171450" algn="l" defTabSz="914400" rtl="0" eaLnBrk="1" fontAlgn="auto" latinLnBrk="0" hangingPunct="1">
              <a:lnSpc>
                <a:spcPct val="100000"/>
              </a:lnSpc>
              <a:spcBef>
                <a:spcPts val="0"/>
              </a:spcBef>
              <a:spcAft>
                <a:spcPts val="0"/>
              </a:spcAft>
              <a:buClr>
                <a:prstClr val="black"/>
              </a:buClr>
              <a:buSzPts val="1400"/>
              <a:buFont typeface="Arial"/>
              <a:buChar char="•"/>
              <a:tabLst/>
              <a:defRPr/>
            </a:pPr>
            <a:r>
              <a:rPr kumimoji="0" lang="en-GB"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Gives you </a:t>
            </a:r>
            <a:r>
              <a:rPr kumimoji="0" lang="en-GB" sz="1400" b="1"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more control and visibility </a:t>
            </a:r>
            <a:r>
              <a:rPr kumimoji="0" lang="en-GB" sz="1400" b="0" i="0" u="none" strike="noStrike" kern="1200" cap="none" spc="0" normalizeH="0" baseline="0" noProof="0">
                <a:ln>
                  <a:noFill/>
                </a:ln>
                <a:solidFill>
                  <a:prstClr val="black"/>
                </a:solidFill>
                <a:effectLst/>
                <a:uLnTx/>
                <a:uFillTx/>
                <a:latin typeface="Lexend" pitchFamily="2" charset="77"/>
                <a:ea typeface="Lexend Light"/>
                <a:cs typeface="Lexend Light"/>
                <a:sym typeface="Lexend Light"/>
              </a:rPr>
              <a:t>during the entire scheduling process</a:t>
            </a:r>
            <a:endParaRPr kumimoji="0" sz="1400" b="0" i="0" u="none" strike="noStrike" kern="1200" cap="none" spc="0" normalizeH="0" baseline="0" noProof="0">
              <a:ln>
                <a:noFill/>
              </a:ln>
              <a:solidFill>
                <a:prstClr val="black"/>
              </a:solidFill>
              <a:effectLst/>
              <a:uLnTx/>
              <a:uFillTx/>
              <a:latin typeface="Lexend"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srgbClr val="00DBAE"/>
              </a:solidFill>
              <a:effectLst/>
              <a:uLnTx/>
              <a:uFillTx/>
              <a:latin typeface="Lexend" pitchFamily="2" charset="77"/>
              <a:ea typeface="Lexend Light"/>
              <a:cs typeface="Lexend Light"/>
              <a:sym typeface="Lexend Light"/>
            </a:endParaRPr>
          </a:p>
        </p:txBody>
      </p:sp>
      <p:sp>
        <p:nvSpPr>
          <p:cNvPr id="2" name="Google Shape;119;p2">
            <a:extLst>
              <a:ext uri="{FF2B5EF4-FFF2-40B4-BE49-F238E27FC236}">
                <a16:creationId xmlns:a16="http://schemas.microsoft.com/office/drawing/2014/main" id="{95147439-6FC2-5C89-A64A-47A46B6657E0}"/>
              </a:ext>
            </a:extLst>
          </p:cNvPr>
          <p:cNvSpPr txBox="1"/>
          <p:nvPr/>
        </p:nvSpPr>
        <p:spPr>
          <a:xfrm>
            <a:off x="6543159" y="3153222"/>
            <a:ext cx="2147006" cy="707886"/>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srgbClr val="33D6B0"/>
              </a:buClr>
              <a:buSzPts val="2000"/>
              <a:buFont typeface="Montserrat"/>
              <a:buNone/>
              <a:tabLst/>
              <a:defRPr/>
            </a:pPr>
            <a:r>
              <a:rPr kumimoji="0" lang="en-GB" sz="2000" b="1" i="0" u="none" strike="noStrike" kern="1200" cap="none" spc="0" normalizeH="0" baseline="0" noProof="0">
                <a:ln>
                  <a:noFill/>
                </a:ln>
                <a:solidFill>
                  <a:schemeClr val="tx2"/>
                </a:solidFill>
                <a:effectLst/>
                <a:uLnTx/>
                <a:uFillTx/>
                <a:latin typeface="Lexend" pitchFamily="2" charset="77"/>
                <a:ea typeface="Montserrat"/>
                <a:cs typeface="Montserrat"/>
                <a:sym typeface="Montserrat"/>
              </a:rPr>
              <a:t>Administration teams</a:t>
            </a:r>
            <a:endParaRPr kumimoji="0" sz="2000" b="1" i="0" u="none" strike="noStrike" kern="1200" cap="none" spc="0" normalizeH="0" baseline="0" noProof="0">
              <a:ln>
                <a:noFill/>
              </a:ln>
              <a:solidFill>
                <a:schemeClr val="tx2"/>
              </a:solidFill>
              <a:effectLst/>
              <a:uLnTx/>
              <a:uFillTx/>
              <a:latin typeface="Lexend" pitchFamily="2" charset="77"/>
              <a:ea typeface="Montserrat"/>
              <a:cs typeface="Montserrat"/>
              <a:sym typeface="Montserrat"/>
            </a:endParaRPr>
          </a:p>
        </p:txBody>
      </p:sp>
      <p:pic>
        <p:nvPicPr>
          <p:cNvPr id="3" name="Google Shape;120;p2">
            <a:extLst>
              <a:ext uri="{FF2B5EF4-FFF2-40B4-BE49-F238E27FC236}">
                <a16:creationId xmlns:a16="http://schemas.microsoft.com/office/drawing/2014/main" id="{8FDC0ABD-F605-AF69-AFA6-D20CD7AA2714}"/>
              </a:ext>
            </a:extLst>
          </p:cNvPr>
          <p:cNvPicPr preferRelativeResize="0"/>
          <p:nvPr/>
        </p:nvPicPr>
        <p:blipFill rotWithShape="1">
          <a:blip r:embed="rId4">
            <a:alphaModFix/>
          </a:blip>
          <a:srcRect/>
          <a:stretch/>
        </p:blipFill>
        <p:spPr>
          <a:xfrm>
            <a:off x="6543159" y="1440072"/>
            <a:ext cx="1187751" cy="1509433"/>
          </a:xfrm>
          <a:prstGeom prst="rect">
            <a:avLst/>
          </a:prstGeom>
          <a:noFill/>
          <a:ln>
            <a:noFill/>
          </a:ln>
        </p:spPr>
      </p:pic>
      <p:sp>
        <p:nvSpPr>
          <p:cNvPr id="4" name="Google Shape;125;p2">
            <a:extLst>
              <a:ext uri="{FF2B5EF4-FFF2-40B4-BE49-F238E27FC236}">
                <a16:creationId xmlns:a16="http://schemas.microsoft.com/office/drawing/2014/main" id="{102886DC-96EA-50B7-3067-AB71035B20E7}"/>
              </a:ext>
            </a:extLst>
          </p:cNvPr>
          <p:cNvSpPr txBox="1"/>
          <p:nvPr/>
        </p:nvSpPr>
        <p:spPr>
          <a:xfrm>
            <a:off x="8690167" y="1345068"/>
            <a:ext cx="3067066" cy="4846415"/>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15000"/>
              </a:lnSpc>
              <a:spcBef>
                <a:spcPts val="0"/>
              </a:spcBef>
              <a:spcAft>
                <a:spcPts val="0"/>
              </a:spcAft>
              <a:buClr>
                <a:srgbClr val="353744"/>
              </a:buClr>
              <a:buSzPts val="1400"/>
              <a:buFont typeface="Arial"/>
              <a:buChar char="•"/>
              <a:tabLst/>
              <a:defRPr/>
            </a:pPr>
            <a:r>
              <a:rPr kumimoji="0" lang="en-GB" sz="1400" b="1"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Build operation lists in seconds</a:t>
            </a:r>
            <a:r>
              <a:rPr kumimoji="0" lang="en-GB" sz="1400" b="0"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 automatically or manually. </a:t>
            </a:r>
            <a:endParaRPr kumimoji="0" sz="1400" b="0" i="0" u="none" strike="noStrike" kern="1200" cap="none" spc="0" normalizeH="0" baseline="0" noProof="0">
              <a:ln>
                <a:noFill/>
              </a:ln>
              <a:solidFill>
                <a:prstClr val="black"/>
              </a:solidFill>
              <a:effectLst/>
              <a:uLnTx/>
              <a:uFillTx/>
              <a:latin typeface="Lexend" pitchFamily="2" charset="77"/>
            </a:endParaRPr>
          </a:p>
          <a:p>
            <a:pPr marL="285750" marR="0" lvl="0" indent="-285750" algn="l" defTabSz="914400" rtl="0" eaLnBrk="1" fontAlgn="auto" latinLnBrk="0" hangingPunct="1">
              <a:lnSpc>
                <a:spcPct val="115000"/>
              </a:lnSpc>
              <a:spcBef>
                <a:spcPts val="1000"/>
              </a:spcBef>
              <a:spcAft>
                <a:spcPts val="0"/>
              </a:spcAft>
              <a:buClr>
                <a:srgbClr val="353744"/>
              </a:buClr>
              <a:buSzPts val="1400"/>
              <a:buFont typeface="Arial"/>
              <a:buChar char="•"/>
              <a:tabLst/>
              <a:defRPr/>
            </a:pPr>
            <a:r>
              <a:rPr kumimoji="0" lang="en-GB" sz="1400" b="1"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Live patient list data </a:t>
            </a:r>
            <a:r>
              <a:rPr kumimoji="0" lang="en-GB" sz="1400" b="0"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so that changes are updated in real-time.</a:t>
            </a:r>
          </a:p>
          <a:p>
            <a:pPr marL="285750" marR="0" lvl="0" indent="-285750" algn="l" defTabSz="914400" rtl="0" eaLnBrk="1" fontAlgn="auto" latinLnBrk="0" hangingPunct="1">
              <a:lnSpc>
                <a:spcPct val="115000"/>
              </a:lnSpc>
              <a:spcBef>
                <a:spcPts val="1000"/>
              </a:spcBef>
              <a:spcAft>
                <a:spcPts val="0"/>
              </a:spcAft>
              <a:buClr>
                <a:srgbClr val="353744"/>
              </a:buClr>
              <a:buSzPts val="1400"/>
              <a:buFont typeface="Arial"/>
              <a:buChar char="•"/>
              <a:tabLst/>
              <a:defRPr/>
            </a:pPr>
            <a:r>
              <a:rPr kumimoji="0" lang="en-GB" sz="1400" b="1"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Automation </a:t>
            </a:r>
            <a:r>
              <a:rPr kumimoji="0" lang="en-GB" sz="1400" b="0"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of the data transfer will </a:t>
            </a:r>
            <a:r>
              <a:rPr kumimoji="0" lang="en-GB" sz="1400" b="1"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reduce the manual workload </a:t>
            </a:r>
            <a:endParaRPr kumimoji="0" lang="en-GB" sz="1400" b="1" i="0" u="none" strike="noStrike" kern="1200" cap="none" spc="0" normalizeH="0" baseline="0" noProof="0">
              <a:ln>
                <a:noFill/>
              </a:ln>
              <a:solidFill>
                <a:prstClr val="black"/>
              </a:solidFill>
              <a:effectLst/>
              <a:uLnTx/>
              <a:uFillTx/>
              <a:latin typeface="Lexend" pitchFamily="2" charset="77"/>
            </a:endParaRPr>
          </a:p>
          <a:p>
            <a:pPr marL="285750" marR="0" lvl="0" indent="-285750" algn="l" defTabSz="914400" rtl="0" eaLnBrk="1" fontAlgn="auto" latinLnBrk="0" hangingPunct="1">
              <a:lnSpc>
                <a:spcPct val="115000"/>
              </a:lnSpc>
              <a:spcBef>
                <a:spcPts val="1000"/>
              </a:spcBef>
              <a:spcAft>
                <a:spcPts val="0"/>
              </a:spcAft>
              <a:buClr>
                <a:srgbClr val="353744"/>
              </a:buClr>
              <a:buSzPts val="1400"/>
              <a:buFont typeface="Arial"/>
              <a:buChar char="•"/>
              <a:tabLst/>
              <a:defRPr/>
            </a:pPr>
            <a:r>
              <a:rPr kumimoji="0" lang="en-GB" sz="1400" b="0"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A </a:t>
            </a:r>
            <a:r>
              <a:rPr kumimoji="0" lang="en-GB" sz="1400" b="1"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visual and user-friendly interface </a:t>
            </a:r>
            <a:r>
              <a:rPr kumimoji="0" lang="en-GB" sz="1400" b="0"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to schedule lists with access to calendar views and a range of filters.</a:t>
            </a:r>
            <a:endParaRPr kumimoji="0" sz="1400" b="0" i="0" u="none" strike="noStrike" kern="1200" cap="none" spc="0" normalizeH="0" baseline="0" noProof="0">
              <a:ln>
                <a:noFill/>
              </a:ln>
              <a:solidFill>
                <a:prstClr val="black"/>
              </a:solidFill>
              <a:effectLst/>
              <a:uLnTx/>
              <a:uFillTx/>
              <a:latin typeface="Lexend" pitchFamily="2" charset="77"/>
            </a:endParaRPr>
          </a:p>
          <a:p>
            <a:pPr marL="285750" marR="0" lvl="0" indent="-285750" algn="l" defTabSz="914400" rtl="0" eaLnBrk="1" fontAlgn="auto" latinLnBrk="0" hangingPunct="1">
              <a:lnSpc>
                <a:spcPct val="115000"/>
              </a:lnSpc>
              <a:spcBef>
                <a:spcPts val="1000"/>
              </a:spcBef>
              <a:spcAft>
                <a:spcPts val="0"/>
              </a:spcAft>
              <a:buClr>
                <a:srgbClr val="353744"/>
              </a:buClr>
              <a:buSzPts val="1400"/>
              <a:buFont typeface="Arial"/>
              <a:buChar char="•"/>
              <a:tabLst/>
              <a:defRPr/>
            </a:pPr>
            <a:r>
              <a:rPr kumimoji="0" lang="en-GB" sz="1400" b="0"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Allows </a:t>
            </a:r>
            <a:r>
              <a:rPr kumimoji="0" lang="en-GB" sz="1400" b="1"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easy communication </a:t>
            </a:r>
            <a:r>
              <a:rPr kumimoji="0" lang="en-GB" sz="1400" b="0" i="0" u="none" strike="noStrike" kern="1200" cap="none" spc="0" normalizeH="0" baseline="0" noProof="0">
                <a:ln>
                  <a:noFill/>
                </a:ln>
                <a:solidFill>
                  <a:srgbClr val="353744"/>
                </a:solidFill>
                <a:effectLst/>
                <a:uLnTx/>
                <a:uFillTx/>
                <a:latin typeface="Lexend" pitchFamily="2" charset="77"/>
                <a:ea typeface="Lexend Light"/>
                <a:cs typeface="Lexend Light"/>
                <a:sym typeface="Lexend Light"/>
              </a:rPr>
              <a:t>between clinicians and administration</a:t>
            </a:r>
            <a:endParaRPr kumimoji="0" sz="1400" b="0" i="0" u="none" strike="noStrike" kern="1200" cap="none" spc="0" normalizeH="0" baseline="0" noProof="0">
              <a:ln>
                <a:noFill/>
              </a:ln>
              <a:solidFill>
                <a:srgbClr val="353744"/>
              </a:solidFill>
              <a:effectLst/>
              <a:uLnTx/>
              <a:uFillTx/>
              <a:latin typeface="Lexend" pitchFamily="2" charset="77"/>
              <a:ea typeface="Montserrat"/>
              <a:cs typeface="Montserrat"/>
              <a:sym typeface="Montserra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srgbClr val="00DBAE"/>
              </a:solidFill>
              <a:effectLst/>
              <a:uLnTx/>
              <a:uFillTx/>
              <a:latin typeface="Lexend" pitchFamily="2" charset="77"/>
              <a:ea typeface="Lexend Light"/>
              <a:cs typeface="Lexend Light"/>
              <a:sym typeface="Lexend Light"/>
            </a:endParaRPr>
          </a:p>
        </p:txBody>
      </p:sp>
      <p:cxnSp>
        <p:nvCxnSpPr>
          <p:cNvPr id="6" name="Straight Connector 5">
            <a:extLst>
              <a:ext uri="{FF2B5EF4-FFF2-40B4-BE49-F238E27FC236}">
                <a16:creationId xmlns:a16="http://schemas.microsoft.com/office/drawing/2014/main" id="{2A550AC9-0341-8E69-176C-B58F22655BD3}"/>
              </a:ext>
            </a:extLst>
          </p:cNvPr>
          <p:cNvCxnSpPr>
            <a:cxnSpLocks/>
          </p:cNvCxnSpPr>
          <p:nvPr/>
        </p:nvCxnSpPr>
        <p:spPr>
          <a:xfrm>
            <a:off x="6096000" y="1345068"/>
            <a:ext cx="0" cy="4546445"/>
          </a:xfrm>
          <a:prstGeom prst="line">
            <a:avLst/>
          </a:prstGeom>
          <a:ln w="3175">
            <a:solidFill>
              <a:schemeClr val="accent2"/>
            </a:solidFill>
          </a:ln>
        </p:spPr>
        <p:style>
          <a:lnRef idx="2">
            <a:schemeClr val="accent4"/>
          </a:lnRef>
          <a:fillRef idx="0">
            <a:schemeClr val="accent4"/>
          </a:fillRef>
          <a:effectRef idx="1">
            <a:schemeClr val="accent4"/>
          </a:effectRef>
          <a:fontRef idx="minor">
            <a:schemeClr val="tx1"/>
          </a:fontRef>
        </p:style>
      </p:cxnSp>
      <p:sp>
        <p:nvSpPr>
          <p:cNvPr id="11" name="Title 10">
            <a:extLst>
              <a:ext uri="{FF2B5EF4-FFF2-40B4-BE49-F238E27FC236}">
                <a16:creationId xmlns:a16="http://schemas.microsoft.com/office/drawing/2014/main" id="{35FBC1AD-C979-1C33-0F36-7D7A54E59080}"/>
              </a:ext>
            </a:extLst>
          </p:cNvPr>
          <p:cNvSpPr>
            <a:spLocks noGrp="1"/>
          </p:cNvSpPr>
          <p:nvPr>
            <p:ph type="title"/>
          </p:nvPr>
        </p:nvSpPr>
        <p:spPr>
          <a:xfrm>
            <a:off x="432000" y="396000"/>
            <a:ext cx="10058548" cy="443198"/>
          </a:xfrm>
        </p:spPr>
        <p:txBody>
          <a:bodyPr/>
          <a:lstStyle/>
          <a:p>
            <a:r>
              <a:rPr lang="en-US" sz="3200"/>
              <a:t>Benefits</a:t>
            </a:r>
          </a:p>
        </p:txBody>
      </p:sp>
      <p:sp>
        <p:nvSpPr>
          <p:cNvPr id="5" name="Date Placeholder 4">
            <a:extLst>
              <a:ext uri="{FF2B5EF4-FFF2-40B4-BE49-F238E27FC236}">
                <a16:creationId xmlns:a16="http://schemas.microsoft.com/office/drawing/2014/main" id="{0359D42A-6CA1-056F-5D06-69BA4224896D}"/>
              </a:ext>
            </a:extLst>
          </p:cNvPr>
          <p:cNvSpPr>
            <a:spLocks noGrp="1"/>
          </p:cNvSpPr>
          <p:nvPr>
            <p:ph type="dt" sz="half" idx="10"/>
          </p:nvPr>
        </p:nvSpPr>
        <p:spPr/>
        <p:txBody>
          <a:bodyPr/>
          <a:lstStyle/>
          <a:p>
            <a:fld id="{63A6BA86-A209-754D-9A0B-800B130847B4}" type="datetime4">
              <a:rPr lang="en-GB" smtClean="0"/>
              <a:t>26 May 2026</a:t>
            </a:fld>
            <a:endParaRPr lang="en-GB"/>
          </a:p>
        </p:txBody>
      </p:sp>
      <p:sp>
        <p:nvSpPr>
          <p:cNvPr id="7" name="Footer Placeholder 6">
            <a:extLst>
              <a:ext uri="{FF2B5EF4-FFF2-40B4-BE49-F238E27FC236}">
                <a16:creationId xmlns:a16="http://schemas.microsoft.com/office/drawing/2014/main" id="{D1BD3ADC-20DF-D677-8D94-CEA0FB7818B9}"/>
              </a:ext>
            </a:extLst>
          </p:cNvPr>
          <p:cNvSpPr>
            <a:spLocks noGrp="1"/>
          </p:cNvSpPr>
          <p:nvPr>
            <p:ph type="ftr" sz="quarter" idx="11"/>
          </p:nvPr>
        </p:nvSpPr>
        <p:spPr/>
        <p:txBody>
          <a:bodyPr/>
          <a:lstStyle/>
          <a:p>
            <a:r>
              <a:rPr lang="en-GB"/>
              <a:t>Infix Schedule: Impact so far</a:t>
            </a:r>
          </a:p>
        </p:txBody>
      </p:sp>
      <p:sp>
        <p:nvSpPr>
          <p:cNvPr id="9" name="Slide Number Placeholder 8">
            <a:extLst>
              <a:ext uri="{FF2B5EF4-FFF2-40B4-BE49-F238E27FC236}">
                <a16:creationId xmlns:a16="http://schemas.microsoft.com/office/drawing/2014/main" id="{CAD0A2C2-3851-E6AD-2F7F-19689E6FF496}"/>
              </a:ext>
            </a:extLst>
          </p:cNvPr>
          <p:cNvSpPr>
            <a:spLocks noGrp="1"/>
          </p:cNvSpPr>
          <p:nvPr>
            <p:ph type="sldNum" sz="quarter" idx="12"/>
          </p:nvPr>
        </p:nvSpPr>
        <p:spPr/>
        <p:txBody>
          <a:bodyPr/>
          <a:lstStyle/>
          <a:p>
            <a:fld id="{9E2F006C-3F46-4694-A47B-E42E311A9BF4}" type="slidenum">
              <a:rPr lang="en-GB" smtClean="0"/>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0BB13AB-6D11-CB68-D3FE-681BA595068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EF2D2C6-E160-F312-3ABF-2AA6267E0FD5}"/>
              </a:ext>
            </a:extLst>
          </p:cNvPr>
          <p:cNvSpPr>
            <a:spLocks noGrp="1"/>
          </p:cNvSpPr>
          <p:nvPr>
            <p:ph type="title"/>
          </p:nvPr>
        </p:nvSpPr>
        <p:spPr>
          <a:xfrm>
            <a:off x="432000" y="396000"/>
            <a:ext cx="10058548" cy="443198"/>
          </a:xfrm>
        </p:spPr>
        <p:txBody>
          <a:bodyPr/>
          <a:lstStyle/>
          <a:p>
            <a:r>
              <a:rPr lang="en-US" sz="3200"/>
              <a:t>Benefits</a:t>
            </a:r>
          </a:p>
        </p:txBody>
      </p:sp>
      <p:sp>
        <p:nvSpPr>
          <p:cNvPr id="5" name="Date Placeholder 4">
            <a:extLst>
              <a:ext uri="{FF2B5EF4-FFF2-40B4-BE49-F238E27FC236}">
                <a16:creationId xmlns:a16="http://schemas.microsoft.com/office/drawing/2014/main" id="{F57A146D-CE71-1EFF-1CD3-961F2E9DC194}"/>
              </a:ext>
            </a:extLst>
          </p:cNvPr>
          <p:cNvSpPr>
            <a:spLocks noGrp="1"/>
          </p:cNvSpPr>
          <p:nvPr>
            <p:ph type="dt" sz="half" idx="10"/>
          </p:nvPr>
        </p:nvSpPr>
        <p:spPr/>
        <p:txBody>
          <a:bodyPr/>
          <a:lstStyle/>
          <a:p>
            <a:fld id="{63A6BA86-A209-754D-9A0B-800B130847B4}" type="datetime4">
              <a:rPr lang="en-GB" smtClean="0"/>
              <a:t>26 May 2026</a:t>
            </a:fld>
            <a:endParaRPr lang="en-GB"/>
          </a:p>
        </p:txBody>
      </p:sp>
      <p:sp>
        <p:nvSpPr>
          <p:cNvPr id="7" name="Footer Placeholder 6">
            <a:extLst>
              <a:ext uri="{FF2B5EF4-FFF2-40B4-BE49-F238E27FC236}">
                <a16:creationId xmlns:a16="http://schemas.microsoft.com/office/drawing/2014/main" id="{47051334-0D35-9149-9BF6-39E7AD8A3EE7}"/>
              </a:ext>
            </a:extLst>
          </p:cNvPr>
          <p:cNvSpPr>
            <a:spLocks noGrp="1"/>
          </p:cNvSpPr>
          <p:nvPr>
            <p:ph type="ftr" sz="quarter" idx="11"/>
          </p:nvPr>
        </p:nvSpPr>
        <p:spPr/>
        <p:txBody>
          <a:bodyPr/>
          <a:lstStyle/>
          <a:p>
            <a:r>
              <a:rPr lang="en-GB"/>
              <a:t>Infix Schedule: Impact so far</a:t>
            </a:r>
          </a:p>
        </p:txBody>
      </p:sp>
      <p:sp>
        <p:nvSpPr>
          <p:cNvPr id="9" name="Slide Number Placeholder 8">
            <a:extLst>
              <a:ext uri="{FF2B5EF4-FFF2-40B4-BE49-F238E27FC236}">
                <a16:creationId xmlns:a16="http://schemas.microsoft.com/office/drawing/2014/main" id="{AA271097-739A-2EDE-D245-63D52E827E37}"/>
              </a:ext>
            </a:extLst>
          </p:cNvPr>
          <p:cNvSpPr>
            <a:spLocks noGrp="1"/>
          </p:cNvSpPr>
          <p:nvPr>
            <p:ph type="sldNum" sz="quarter" idx="12"/>
          </p:nvPr>
        </p:nvSpPr>
        <p:spPr/>
        <p:txBody>
          <a:bodyPr/>
          <a:lstStyle/>
          <a:p>
            <a:fld id="{9E2F006C-3F46-4694-A47B-E42E311A9BF4}" type="slidenum">
              <a:rPr lang="en-GB" smtClean="0"/>
              <a:t>4</a:t>
            </a:fld>
            <a:endParaRPr lang="en-GB"/>
          </a:p>
        </p:txBody>
      </p:sp>
      <p:sp>
        <p:nvSpPr>
          <p:cNvPr id="8" name="Google Shape;259;p18">
            <a:extLst>
              <a:ext uri="{FF2B5EF4-FFF2-40B4-BE49-F238E27FC236}">
                <a16:creationId xmlns:a16="http://schemas.microsoft.com/office/drawing/2014/main" id="{66200F2E-46D2-1F0D-B526-3C40EB0D51EA}"/>
              </a:ext>
            </a:extLst>
          </p:cNvPr>
          <p:cNvSpPr txBox="1"/>
          <p:nvPr/>
        </p:nvSpPr>
        <p:spPr>
          <a:xfrm>
            <a:off x="3843600" y="1136694"/>
            <a:ext cx="3736800" cy="4635628"/>
          </a:xfrm>
          <a:prstGeom prst="rect">
            <a:avLst/>
          </a:prstGeom>
          <a:noFill/>
          <a:ln>
            <a:noFill/>
          </a:ln>
        </p:spPr>
        <p:txBody>
          <a:bodyPr spcFirstLastPara="1" wrap="square" lIns="0" tIns="0" rIns="0" bIns="0" anchor="t" anchorCtr="0">
            <a:spAutoFit/>
          </a:bodyPr>
          <a:lstStyle/>
          <a:p>
            <a:pPr defTabSz="1219170">
              <a:lnSpc>
                <a:spcPct val="115000"/>
              </a:lnSpc>
              <a:spcBef>
                <a:spcPts val="1333"/>
              </a:spcBef>
              <a:buClr>
                <a:srgbClr val="000000"/>
              </a:buClr>
            </a:pPr>
            <a:r>
              <a:rPr lang="en-GB" sz="1400" b="1" kern="0" dirty="0">
                <a:solidFill>
                  <a:srgbClr val="353744"/>
                </a:solidFill>
                <a:latin typeface="Lexend" pitchFamily="2" charset="77"/>
                <a:ea typeface="Montserrat"/>
                <a:cs typeface="Montserrat"/>
                <a:sym typeface="Montserrat"/>
              </a:rPr>
              <a:t>Analytics</a:t>
            </a:r>
            <a:endParaRPr lang="en-US" sz="1400" kern="0" dirty="0">
              <a:solidFill>
                <a:srgbClr val="353744"/>
              </a:solidFill>
              <a:latin typeface="Lexend" pitchFamily="2" charset="77"/>
              <a:ea typeface="Montserrat"/>
              <a:cs typeface="Montserrat"/>
              <a:sym typeface="Montserrat"/>
            </a:endParaRPr>
          </a:p>
          <a:p>
            <a:pPr marL="285750" indent="-285750" defTabSz="1219170">
              <a:lnSpc>
                <a:spcPct val="114999"/>
              </a:lnSpc>
              <a:spcBef>
                <a:spcPts val="1333"/>
              </a:spcBef>
              <a:buFont typeface="Arial"/>
              <a:buChar char="•"/>
            </a:pPr>
            <a:r>
              <a:rPr lang="en-GB" sz="1400" b="1" kern="0" dirty="0">
                <a:solidFill>
                  <a:srgbClr val="353744"/>
                </a:solidFill>
                <a:latin typeface="Lexend" pitchFamily="2" charset="77"/>
                <a:ea typeface="Montserrat"/>
                <a:cs typeface="Montserrat"/>
                <a:sym typeface="Montserrat"/>
              </a:rPr>
              <a:t>Real-time sessions worth </a:t>
            </a:r>
            <a:r>
              <a:rPr lang="en-GB" sz="1400" kern="0" dirty="0">
                <a:solidFill>
                  <a:srgbClr val="353744"/>
                </a:solidFill>
                <a:latin typeface="Lexend" pitchFamily="2" charset="77"/>
                <a:ea typeface="Montserrat"/>
                <a:cs typeface="Montserrat"/>
                <a:sym typeface="Montserrat"/>
              </a:rPr>
              <a:t>for each department and surgeon will allow </a:t>
            </a:r>
            <a:r>
              <a:rPr lang="en-GB" sz="1400" b="1" kern="0" dirty="0">
                <a:solidFill>
                  <a:srgbClr val="353744"/>
                </a:solidFill>
                <a:latin typeface="Lexend" pitchFamily="2" charset="77"/>
                <a:ea typeface="Montserrat"/>
                <a:cs typeface="Montserrat"/>
                <a:sym typeface="Montserrat"/>
              </a:rPr>
              <a:t>more accurate planning/resourcing</a:t>
            </a:r>
          </a:p>
          <a:p>
            <a:pPr marL="285750" indent="-285750" defTabSz="1219170">
              <a:lnSpc>
                <a:spcPct val="114999"/>
              </a:lnSpc>
              <a:spcBef>
                <a:spcPts val="1333"/>
              </a:spcBef>
              <a:buFont typeface="Arial"/>
              <a:buChar char="•"/>
            </a:pPr>
            <a:r>
              <a:rPr lang="en-GB" sz="1400" b="1" kern="0" dirty="0">
                <a:solidFill>
                  <a:srgbClr val="353744"/>
                </a:solidFill>
                <a:latin typeface="Lexend" pitchFamily="2" charset="77"/>
                <a:ea typeface="Montserrat"/>
                <a:cs typeface="Montserrat"/>
                <a:sym typeface="Montserrat"/>
              </a:rPr>
              <a:t>TTG and 52 week wait targets </a:t>
            </a:r>
            <a:r>
              <a:rPr lang="en-GB" sz="1400" kern="0" dirty="0">
                <a:solidFill>
                  <a:srgbClr val="353744"/>
                </a:solidFill>
                <a:latin typeface="Lexend" pitchFamily="2" charset="77"/>
                <a:ea typeface="Montserrat"/>
                <a:cs typeface="Montserrat"/>
                <a:sym typeface="Montserrat"/>
              </a:rPr>
              <a:t>in a clean interface will again allow a proactive approach to planning and meeting these targets set out</a:t>
            </a:r>
            <a:br>
              <a:rPr lang="en-GB" sz="1400" kern="0" dirty="0">
                <a:solidFill>
                  <a:srgbClr val="353744"/>
                </a:solidFill>
                <a:latin typeface="Lexend" pitchFamily="2" charset="77"/>
                <a:ea typeface="Montserrat"/>
                <a:cs typeface="Montserrat"/>
                <a:sym typeface="Montserrat"/>
              </a:rPr>
            </a:br>
            <a:endParaRPr lang="en-GB" sz="1400" kern="0" dirty="0">
              <a:solidFill>
                <a:srgbClr val="353744"/>
              </a:solidFill>
              <a:latin typeface="Lexend" pitchFamily="2" charset="77"/>
              <a:ea typeface="Montserrat"/>
              <a:cs typeface="Montserrat"/>
              <a:sym typeface="Montserrat"/>
            </a:endParaRPr>
          </a:p>
          <a:p>
            <a:pPr defTabSz="1219170">
              <a:lnSpc>
                <a:spcPct val="115000"/>
              </a:lnSpc>
              <a:spcBef>
                <a:spcPts val="1333"/>
              </a:spcBef>
              <a:buClr>
                <a:srgbClr val="000000"/>
              </a:buClr>
            </a:pPr>
            <a:r>
              <a:rPr lang="en-GB" sz="1400" b="1" kern="0" dirty="0">
                <a:solidFill>
                  <a:srgbClr val="353744"/>
                </a:solidFill>
                <a:latin typeface="Lexend" pitchFamily="2" charset="77"/>
                <a:ea typeface="Montserrat"/>
                <a:cs typeface="Montserrat"/>
                <a:sym typeface="Montserrat"/>
              </a:rPr>
              <a:t>Capacity management</a:t>
            </a:r>
            <a:endParaRPr lang="en-GB" sz="1400" kern="0" dirty="0">
              <a:solidFill>
                <a:srgbClr val="353744"/>
              </a:solidFill>
              <a:latin typeface="Lexend" pitchFamily="2" charset="77"/>
              <a:ea typeface="Montserrat"/>
              <a:cs typeface="Montserrat"/>
              <a:sym typeface="Montserrat"/>
            </a:endParaRPr>
          </a:p>
          <a:p>
            <a:pPr marL="285750" indent="-285750" defTabSz="1219170">
              <a:lnSpc>
                <a:spcPct val="114999"/>
              </a:lnSpc>
              <a:spcBef>
                <a:spcPts val="1333"/>
              </a:spcBef>
              <a:buFont typeface="Arial"/>
              <a:buChar char="•"/>
            </a:pPr>
            <a:r>
              <a:rPr lang="en-GB" sz="1400" b="1" kern="0" dirty="0">
                <a:solidFill>
                  <a:srgbClr val="353744"/>
                </a:solidFill>
                <a:latin typeface="Lexend" pitchFamily="2" charset="77"/>
                <a:ea typeface="Montserrat"/>
                <a:cs typeface="Montserrat"/>
                <a:sym typeface="Montserrat"/>
              </a:rPr>
              <a:t>Matching demand with resource </a:t>
            </a:r>
            <a:r>
              <a:rPr lang="en-GB" sz="1400" kern="0" dirty="0">
                <a:solidFill>
                  <a:srgbClr val="353744"/>
                </a:solidFill>
                <a:latin typeface="Lexend" pitchFamily="2" charset="77"/>
                <a:ea typeface="Montserrat"/>
                <a:cs typeface="Montserrat"/>
                <a:sym typeface="Montserrat"/>
              </a:rPr>
              <a:t>availability is key to planning</a:t>
            </a:r>
          </a:p>
          <a:p>
            <a:pPr marL="285750" indent="-285750" defTabSz="1219170">
              <a:lnSpc>
                <a:spcPct val="114999"/>
              </a:lnSpc>
              <a:spcBef>
                <a:spcPts val="1333"/>
              </a:spcBef>
              <a:buFont typeface="Arial"/>
              <a:buChar char="•"/>
            </a:pPr>
            <a:r>
              <a:rPr lang="en-GB" sz="1400" kern="0" dirty="0">
                <a:solidFill>
                  <a:srgbClr val="353744"/>
                </a:solidFill>
                <a:latin typeface="Lexend" pitchFamily="2" charset="77"/>
                <a:ea typeface="Montserrat"/>
                <a:cs typeface="Montserrat"/>
                <a:sym typeface="Montserrat"/>
              </a:rPr>
              <a:t>Having the sessions will give the ability for </a:t>
            </a:r>
            <a:r>
              <a:rPr lang="en-GB" sz="1400" b="1" kern="0" dirty="0">
                <a:solidFill>
                  <a:srgbClr val="353744"/>
                </a:solidFill>
                <a:latin typeface="Lexend" pitchFamily="2" charset="77"/>
                <a:ea typeface="Montserrat"/>
                <a:cs typeface="Montserrat"/>
                <a:sym typeface="Montserrat"/>
              </a:rPr>
              <a:t>capacity</a:t>
            </a:r>
            <a:r>
              <a:rPr lang="en-GB" sz="1400" kern="0" dirty="0">
                <a:solidFill>
                  <a:srgbClr val="353744"/>
                </a:solidFill>
                <a:latin typeface="Lexend" pitchFamily="2" charset="77"/>
                <a:ea typeface="Montserrat"/>
                <a:cs typeface="Montserrat"/>
                <a:sym typeface="Montserrat"/>
              </a:rPr>
              <a:t> to be </a:t>
            </a:r>
            <a:r>
              <a:rPr lang="en-GB" sz="1400" b="1" kern="0" dirty="0">
                <a:solidFill>
                  <a:srgbClr val="353744"/>
                </a:solidFill>
                <a:latin typeface="Lexend" pitchFamily="2" charset="77"/>
                <a:ea typeface="Montserrat"/>
                <a:cs typeface="Montserrat"/>
                <a:sym typeface="Montserrat"/>
              </a:rPr>
              <a:t>delivered to the most in need</a:t>
            </a:r>
            <a:endParaRPr lang="en-GB" sz="1400" b="1" kern="0" dirty="0">
              <a:solidFill>
                <a:srgbClr val="353744"/>
              </a:solidFill>
              <a:latin typeface="Lexend" pitchFamily="2" charset="77"/>
              <a:ea typeface="Montserrat"/>
              <a:cs typeface="Montserrat"/>
            </a:endParaRPr>
          </a:p>
          <a:p>
            <a:pPr marL="285750" indent="-285750" defTabSz="1219170">
              <a:lnSpc>
                <a:spcPct val="114999"/>
              </a:lnSpc>
              <a:spcBef>
                <a:spcPts val="1333"/>
              </a:spcBef>
              <a:buFont typeface="Arial"/>
              <a:buChar char="•"/>
            </a:pPr>
            <a:endParaRPr sz="1400" kern="0" dirty="0">
              <a:solidFill>
                <a:srgbClr val="353744"/>
              </a:solidFill>
              <a:latin typeface="Lexend" pitchFamily="2" charset="77"/>
              <a:ea typeface="Montserrat"/>
              <a:cs typeface="Montserrat"/>
            </a:endParaRPr>
          </a:p>
        </p:txBody>
      </p:sp>
      <p:sp>
        <p:nvSpPr>
          <p:cNvPr id="12" name="Google Shape;261;p18">
            <a:extLst>
              <a:ext uri="{FF2B5EF4-FFF2-40B4-BE49-F238E27FC236}">
                <a16:creationId xmlns:a16="http://schemas.microsoft.com/office/drawing/2014/main" id="{390EE5E8-A923-758A-CC30-D613A84EF3EC}"/>
              </a:ext>
            </a:extLst>
          </p:cNvPr>
          <p:cNvSpPr txBox="1"/>
          <p:nvPr/>
        </p:nvSpPr>
        <p:spPr>
          <a:xfrm>
            <a:off x="7967908" y="1136694"/>
            <a:ext cx="3736800" cy="3639971"/>
          </a:xfrm>
          <a:prstGeom prst="rect">
            <a:avLst/>
          </a:prstGeom>
          <a:noFill/>
          <a:ln>
            <a:noFill/>
          </a:ln>
        </p:spPr>
        <p:txBody>
          <a:bodyPr spcFirstLastPara="1" wrap="square" lIns="0" tIns="0" rIns="0" bIns="0" anchor="t" anchorCtr="0">
            <a:spAutoFit/>
          </a:bodyPr>
          <a:lstStyle/>
          <a:p>
            <a:pPr defTabSz="1219170">
              <a:lnSpc>
                <a:spcPct val="115000"/>
              </a:lnSpc>
              <a:spcBef>
                <a:spcPts val="1333"/>
              </a:spcBef>
              <a:buClr>
                <a:srgbClr val="000000"/>
              </a:buClr>
            </a:pPr>
            <a:r>
              <a:rPr lang="en-GB" sz="1400" b="1" kern="0" dirty="0">
                <a:solidFill>
                  <a:srgbClr val="353744"/>
                </a:solidFill>
                <a:latin typeface="Lexend" pitchFamily="2" charset="77"/>
                <a:ea typeface="Montserrat"/>
                <a:cs typeface="Montserrat"/>
                <a:sym typeface="Montserrat"/>
              </a:rPr>
              <a:t>Performance</a:t>
            </a:r>
            <a:endParaRPr lang="en-US" sz="1400" kern="0" dirty="0">
              <a:solidFill>
                <a:srgbClr val="353744"/>
              </a:solidFill>
              <a:latin typeface="Lexend" pitchFamily="2" charset="77"/>
              <a:ea typeface="Montserrat"/>
              <a:cs typeface="Montserrat"/>
              <a:sym typeface="Montserrat"/>
            </a:endParaRPr>
          </a:p>
          <a:p>
            <a:pPr marL="285750" indent="-285750" defTabSz="1219170">
              <a:lnSpc>
                <a:spcPct val="114999"/>
              </a:lnSpc>
              <a:spcBef>
                <a:spcPts val="1333"/>
              </a:spcBef>
              <a:buFont typeface="Arial"/>
              <a:buChar char="•"/>
            </a:pPr>
            <a:r>
              <a:rPr lang="en-GB" sz="1400" b="1" kern="0" dirty="0">
                <a:solidFill>
                  <a:srgbClr val="353744"/>
                </a:solidFill>
                <a:latin typeface="Lexend" pitchFamily="2" charset="77"/>
                <a:ea typeface="Montserrat"/>
                <a:cs typeface="Montserrat"/>
                <a:sym typeface="Montserrat"/>
              </a:rPr>
              <a:t>Benchmarking operation times </a:t>
            </a:r>
            <a:r>
              <a:rPr lang="en-GB" sz="1400" kern="0" dirty="0">
                <a:solidFill>
                  <a:srgbClr val="353744"/>
                </a:solidFill>
                <a:latin typeface="Lexend" pitchFamily="2" charset="77"/>
                <a:ea typeface="Montserrat"/>
                <a:cs typeface="Montserrat"/>
                <a:sym typeface="Montserrat"/>
              </a:rPr>
              <a:t>will allow an accurate booking utilisation to be determined. This together with the actual theatre utilisation will </a:t>
            </a:r>
            <a:r>
              <a:rPr lang="en-GB" sz="1400" b="1" kern="0" dirty="0">
                <a:solidFill>
                  <a:srgbClr val="353744"/>
                </a:solidFill>
                <a:latin typeface="Lexend" pitchFamily="2" charset="77"/>
                <a:ea typeface="Montserrat"/>
                <a:cs typeface="Montserrat"/>
                <a:sym typeface="Montserrat"/>
              </a:rPr>
              <a:t>identify the areas of high and low performance</a:t>
            </a:r>
            <a:endParaRPr lang="en-GB" sz="1400" b="1" kern="0" dirty="0">
              <a:solidFill>
                <a:srgbClr val="353744"/>
              </a:solidFill>
              <a:latin typeface="Lexend" pitchFamily="2" charset="77"/>
              <a:ea typeface="Montserrat"/>
              <a:cs typeface="Montserrat"/>
            </a:endParaRPr>
          </a:p>
          <a:p>
            <a:pPr marL="285750" indent="-285750" defTabSz="1219170">
              <a:lnSpc>
                <a:spcPct val="114999"/>
              </a:lnSpc>
              <a:spcBef>
                <a:spcPts val="1333"/>
              </a:spcBef>
              <a:buFont typeface="Arial"/>
              <a:buChar char="•"/>
            </a:pPr>
            <a:r>
              <a:rPr lang="en-GB" sz="1400" b="1" kern="0" dirty="0">
                <a:solidFill>
                  <a:srgbClr val="353744"/>
                </a:solidFill>
                <a:latin typeface="Lexend" pitchFamily="2" charset="77"/>
                <a:ea typeface="Montserrat"/>
                <a:cs typeface="Montserrat"/>
                <a:sym typeface="Montserrat"/>
              </a:rPr>
              <a:t>Knowledge sharing </a:t>
            </a:r>
            <a:r>
              <a:rPr lang="en-GB" sz="1400" kern="0" dirty="0">
                <a:solidFill>
                  <a:srgbClr val="353744"/>
                </a:solidFill>
                <a:latin typeface="Lexend" pitchFamily="2" charset="77"/>
                <a:ea typeface="Montserrat"/>
                <a:cs typeface="Montserrat"/>
                <a:sym typeface="Montserrat"/>
              </a:rPr>
              <a:t>of how some areas perform higher can be adopted in other areas to improve the hospitals output</a:t>
            </a:r>
            <a:endParaRPr lang="en-GB" sz="1400" kern="0" dirty="0">
              <a:solidFill>
                <a:srgbClr val="353744"/>
              </a:solidFill>
              <a:latin typeface="Lexend" pitchFamily="2" charset="77"/>
              <a:ea typeface="Montserrat"/>
              <a:cs typeface="Montserrat"/>
            </a:endParaRPr>
          </a:p>
          <a:p>
            <a:pPr marL="285750" indent="-285750" defTabSz="1219170">
              <a:lnSpc>
                <a:spcPct val="114999"/>
              </a:lnSpc>
              <a:spcBef>
                <a:spcPts val="1333"/>
              </a:spcBef>
              <a:buFont typeface="Arial"/>
              <a:buChar char="•"/>
            </a:pPr>
            <a:r>
              <a:rPr lang="en-GB" sz="1400" b="1" kern="0" dirty="0">
                <a:solidFill>
                  <a:srgbClr val="353744"/>
                </a:solidFill>
                <a:latin typeface="Lexend" pitchFamily="2" charset="77"/>
                <a:ea typeface="Montserrat"/>
                <a:cs typeface="Montserrat"/>
                <a:sym typeface="Montserrat"/>
              </a:rPr>
              <a:t>Areas of poor performance </a:t>
            </a:r>
            <a:r>
              <a:rPr lang="en-GB" sz="1400" kern="0" dirty="0">
                <a:solidFill>
                  <a:srgbClr val="353744"/>
                </a:solidFill>
                <a:latin typeface="Lexend" pitchFamily="2" charset="77"/>
                <a:ea typeface="Montserrat"/>
                <a:cs typeface="Montserrat"/>
                <a:sym typeface="Montserrat"/>
              </a:rPr>
              <a:t>may indicate issues with upstream/downstream issues which will allow </a:t>
            </a:r>
            <a:r>
              <a:rPr lang="en-GB" sz="1400" b="1" kern="0" dirty="0">
                <a:solidFill>
                  <a:srgbClr val="353744"/>
                </a:solidFill>
                <a:latin typeface="Lexend" pitchFamily="2" charset="77"/>
                <a:ea typeface="Montserrat"/>
                <a:cs typeface="Montserrat"/>
                <a:sym typeface="Montserrat"/>
              </a:rPr>
              <a:t>early identification and management</a:t>
            </a:r>
            <a:endParaRPr sz="1400" b="1" kern="0" dirty="0">
              <a:solidFill>
                <a:srgbClr val="353744"/>
              </a:solidFill>
              <a:latin typeface="Lexend" pitchFamily="2" charset="77"/>
              <a:ea typeface="Montserrat"/>
              <a:cs typeface="Montserrat"/>
            </a:endParaRPr>
          </a:p>
        </p:txBody>
      </p:sp>
      <p:sp>
        <p:nvSpPr>
          <p:cNvPr id="13" name="Google Shape;262;p18">
            <a:extLst>
              <a:ext uri="{FF2B5EF4-FFF2-40B4-BE49-F238E27FC236}">
                <a16:creationId xmlns:a16="http://schemas.microsoft.com/office/drawing/2014/main" id="{5CC5E53F-4B54-EC45-2C1B-FDEC5965795E}"/>
              </a:ext>
            </a:extLst>
          </p:cNvPr>
          <p:cNvSpPr txBox="1"/>
          <p:nvPr/>
        </p:nvSpPr>
        <p:spPr>
          <a:xfrm>
            <a:off x="404042" y="2888454"/>
            <a:ext cx="2285730" cy="707886"/>
          </a:xfrm>
          <a:prstGeom prst="rect">
            <a:avLst/>
          </a:prstGeom>
          <a:noFill/>
          <a:ln>
            <a:noFill/>
          </a:ln>
        </p:spPr>
        <p:txBody>
          <a:bodyPr spcFirstLastPara="1" wrap="square" lIns="0" tIns="0" rIns="0" bIns="0" anchor="t" anchorCtr="0">
            <a:spAutoFit/>
          </a:bodyPr>
          <a:lstStyle/>
          <a:p>
            <a:pPr defTabSz="1219170">
              <a:lnSpc>
                <a:spcPct val="115000"/>
              </a:lnSpc>
              <a:buClr>
                <a:srgbClr val="000000"/>
              </a:buClr>
            </a:pPr>
            <a:r>
              <a:rPr lang="en-GB" sz="2000" b="1" kern="0">
                <a:solidFill>
                  <a:schemeClr val="tx2"/>
                </a:solidFill>
                <a:latin typeface="Lexend" pitchFamily="2" charset="77"/>
                <a:ea typeface="Montserrat"/>
                <a:cs typeface="Montserrat"/>
                <a:sym typeface="Montserrat"/>
              </a:rPr>
              <a:t>Service management</a:t>
            </a:r>
            <a:endParaRPr sz="2000" b="1" kern="0">
              <a:solidFill>
                <a:schemeClr val="tx2"/>
              </a:solidFill>
              <a:latin typeface="Lexend" pitchFamily="2" charset="77"/>
              <a:ea typeface="Montserrat"/>
              <a:cs typeface="Montserrat"/>
              <a:sym typeface="Montserrat"/>
            </a:endParaRPr>
          </a:p>
        </p:txBody>
      </p:sp>
      <p:pic>
        <p:nvPicPr>
          <p:cNvPr id="14" name="Google Shape;263;p18">
            <a:extLst>
              <a:ext uri="{FF2B5EF4-FFF2-40B4-BE49-F238E27FC236}">
                <a16:creationId xmlns:a16="http://schemas.microsoft.com/office/drawing/2014/main" id="{CE5705BA-F381-E2E0-6AC8-D3A36F4E372F}"/>
              </a:ext>
            </a:extLst>
          </p:cNvPr>
          <p:cNvPicPr preferRelativeResize="0"/>
          <p:nvPr/>
        </p:nvPicPr>
        <p:blipFill>
          <a:blip r:embed="rId3">
            <a:alphaModFix/>
          </a:blip>
          <a:stretch>
            <a:fillRect/>
          </a:stretch>
        </p:blipFill>
        <p:spPr>
          <a:xfrm>
            <a:off x="417567" y="1369517"/>
            <a:ext cx="1081700" cy="1374633"/>
          </a:xfrm>
          <a:prstGeom prst="rect">
            <a:avLst/>
          </a:prstGeom>
          <a:noFill/>
          <a:ln>
            <a:noFill/>
          </a:ln>
        </p:spPr>
      </p:pic>
      <p:pic>
        <p:nvPicPr>
          <p:cNvPr id="15" name="Google Shape;264;p18">
            <a:extLst>
              <a:ext uri="{FF2B5EF4-FFF2-40B4-BE49-F238E27FC236}">
                <a16:creationId xmlns:a16="http://schemas.microsoft.com/office/drawing/2014/main" id="{2A933588-4FDC-4C8D-D436-85ACA5245613}"/>
              </a:ext>
            </a:extLst>
          </p:cNvPr>
          <p:cNvPicPr preferRelativeResize="0"/>
          <p:nvPr/>
        </p:nvPicPr>
        <p:blipFill>
          <a:blip r:embed="rId4">
            <a:alphaModFix/>
          </a:blip>
          <a:stretch>
            <a:fillRect/>
          </a:stretch>
        </p:blipFill>
        <p:spPr>
          <a:xfrm>
            <a:off x="1596496" y="1364820"/>
            <a:ext cx="1081701" cy="1379327"/>
          </a:xfrm>
          <a:prstGeom prst="rect">
            <a:avLst/>
          </a:prstGeom>
          <a:noFill/>
          <a:ln>
            <a:noFill/>
          </a:ln>
        </p:spPr>
      </p:pic>
    </p:spTree>
    <p:extLst>
      <p:ext uri="{BB962C8B-B14F-4D97-AF65-F5344CB8AC3E}">
        <p14:creationId xmlns:p14="http://schemas.microsoft.com/office/powerpoint/2010/main" val="2854733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B1C109-51F5-64E2-ED68-105230C10736}"/>
              </a:ext>
            </a:extLst>
          </p:cNvPr>
          <p:cNvSpPr>
            <a:spLocks noGrp="1"/>
          </p:cNvSpPr>
          <p:nvPr>
            <p:ph type="dt" sz="half" idx="10"/>
          </p:nvPr>
        </p:nvSpPr>
        <p:spPr/>
        <p:txBody>
          <a:bodyPr/>
          <a:lstStyle/>
          <a:p>
            <a:fld id="{56A012CE-DF91-2E42-AE2E-F75762D3A4AF}" type="datetime4">
              <a:rPr lang="en-GB" smtClean="0"/>
              <a:t>26 May 2026</a:t>
            </a:fld>
            <a:endParaRPr lang="en-GB"/>
          </a:p>
        </p:txBody>
      </p:sp>
      <p:sp>
        <p:nvSpPr>
          <p:cNvPr id="3" name="Footer Placeholder 2">
            <a:extLst>
              <a:ext uri="{FF2B5EF4-FFF2-40B4-BE49-F238E27FC236}">
                <a16:creationId xmlns:a16="http://schemas.microsoft.com/office/drawing/2014/main" id="{EB73799D-199F-1C81-7D8D-31B6812C8CF5}"/>
              </a:ext>
            </a:extLst>
          </p:cNvPr>
          <p:cNvSpPr>
            <a:spLocks noGrp="1"/>
          </p:cNvSpPr>
          <p:nvPr>
            <p:ph type="ftr" sz="quarter" idx="11"/>
          </p:nvPr>
        </p:nvSpPr>
        <p:spPr/>
        <p:txBody>
          <a:bodyPr/>
          <a:lstStyle/>
          <a:p>
            <a:r>
              <a:rPr lang="en-GB"/>
              <a:t>Infix Schedule: Impact so far</a:t>
            </a:r>
          </a:p>
        </p:txBody>
      </p:sp>
      <p:sp>
        <p:nvSpPr>
          <p:cNvPr id="4" name="Slide Number Placeholder 3">
            <a:extLst>
              <a:ext uri="{FF2B5EF4-FFF2-40B4-BE49-F238E27FC236}">
                <a16:creationId xmlns:a16="http://schemas.microsoft.com/office/drawing/2014/main" id="{3B3CB245-039A-E45D-29D2-6097256C758E}"/>
              </a:ext>
            </a:extLst>
          </p:cNvPr>
          <p:cNvSpPr>
            <a:spLocks noGrp="1"/>
          </p:cNvSpPr>
          <p:nvPr>
            <p:ph type="sldNum" sz="quarter" idx="12"/>
          </p:nvPr>
        </p:nvSpPr>
        <p:spPr/>
        <p:txBody>
          <a:bodyPr/>
          <a:lstStyle/>
          <a:p>
            <a:fld id="{9E2F006C-3F46-4694-A47B-E42E311A9BF4}" type="slidenum">
              <a:rPr lang="en-GB" smtClean="0"/>
              <a:t>5</a:t>
            </a:fld>
            <a:endParaRPr lang="en-GB"/>
          </a:p>
        </p:txBody>
      </p:sp>
      <p:grpSp>
        <p:nvGrpSpPr>
          <p:cNvPr id="8" name="Group 7">
            <a:extLst>
              <a:ext uri="{FF2B5EF4-FFF2-40B4-BE49-F238E27FC236}">
                <a16:creationId xmlns:a16="http://schemas.microsoft.com/office/drawing/2014/main" id="{87F634AF-2E72-5F1E-89C7-D5077050A6FC}"/>
              </a:ext>
            </a:extLst>
          </p:cNvPr>
          <p:cNvGrpSpPr/>
          <p:nvPr/>
        </p:nvGrpSpPr>
        <p:grpSpPr>
          <a:xfrm>
            <a:off x="423096" y="1615779"/>
            <a:ext cx="3746033" cy="3770800"/>
            <a:chOff x="284867" y="1817800"/>
            <a:chExt cx="3746033" cy="3770800"/>
          </a:xfrm>
        </p:grpSpPr>
        <p:sp>
          <p:nvSpPr>
            <p:cNvPr id="9" name="Google Shape;72;gf5e5917d9e_0_5">
              <a:extLst>
                <a:ext uri="{FF2B5EF4-FFF2-40B4-BE49-F238E27FC236}">
                  <a16:creationId xmlns:a16="http://schemas.microsoft.com/office/drawing/2014/main" id="{F65EBB50-1413-A026-9C7C-88743E399B67}"/>
                </a:ext>
              </a:extLst>
            </p:cNvPr>
            <p:cNvSpPr/>
            <p:nvPr/>
          </p:nvSpPr>
          <p:spPr>
            <a:xfrm>
              <a:off x="284867" y="1817800"/>
              <a:ext cx="3692400" cy="3770800"/>
            </a:xfrm>
            <a:prstGeom prst="wedgeRoundRectCallout">
              <a:avLst>
                <a:gd name="adj1" fmla="val -19642"/>
                <a:gd name="adj2" fmla="val 56780"/>
                <a:gd name="adj3" fmla="val 0"/>
              </a:avLst>
            </a:prstGeom>
            <a:solidFill>
              <a:schemeClr val="lt1"/>
            </a:solidFill>
            <a:ln w="19050" cap="flat" cmpd="sng">
              <a:solidFill>
                <a:srgbClr val="33D6B0"/>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buSzPts val="1400"/>
              </a:pPr>
              <a:endParaRPr sz="1867" kern="0">
                <a:solidFill>
                  <a:srgbClr val="FFFFFF"/>
                </a:solidFill>
                <a:latin typeface="Arial"/>
                <a:ea typeface="Arial"/>
                <a:cs typeface="Arial"/>
                <a:sym typeface="Arial"/>
              </a:endParaRPr>
            </a:p>
          </p:txBody>
        </p:sp>
        <p:sp>
          <p:nvSpPr>
            <p:cNvPr id="10" name="Google Shape;73;gf5e5917d9e_0_5">
              <a:extLst>
                <a:ext uri="{FF2B5EF4-FFF2-40B4-BE49-F238E27FC236}">
                  <a16:creationId xmlns:a16="http://schemas.microsoft.com/office/drawing/2014/main" id="{6B96D82A-BE5B-93C0-5BE2-BD41BD1828B1}"/>
                </a:ext>
              </a:extLst>
            </p:cNvPr>
            <p:cNvSpPr txBox="1"/>
            <p:nvPr/>
          </p:nvSpPr>
          <p:spPr>
            <a:xfrm>
              <a:off x="595300" y="1963419"/>
              <a:ext cx="2304800" cy="1767150"/>
            </a:xfrm>
            <a:prstGeom prst="rect">
              <a:avLst/>
            </a:prstGeom>
            <a:noFill/>
            <a:ln>
              <a:noFill/>
            </a:ln>
          </p:spPr>
          <p:txBody>
            <a:bodyPr spcFirstLastPara="1" wrap="square" lIns="0" tIns="0" rIns="0" bIns="0" anchor="t" anchorCtr="0">
              <a:spAutoFit/>
            </a:bodyPr>
            <a:lstStyle/>
            <a:p>
              <a:pPr defTabSz="1219170">
                <a:spcBef>
                  <a:spcPts val="1333"/>
                </a:spcBef>
                <a:buClr>
                  <a:srgbClr val="000000"/>
                </a:buClr>
                <a:buSzPts val="3600"/>
              </a:pPr>
              <a:r>
                <a:rPr lang="en-GB" sz="2600" b="1" kern="0">
                  <a:solidFill>
                    <a:srgbClr val="33D6B0"/>
                  </a:solidFill>
                  <a:latin typeface="Lexend" pitchFamily="2" charset="77"/>
                  <a:ea typeface="Montserrat"/>
                  <a:cs typeface="Montserrat"/>
                  <a:sym typeface="Montserrat"/>
                </a:rPr>
                <a:t>26.8% increase </a:t>
              </a:r>
              <a:br>
                <a:rPr lang="en-GB" sz="2600" b="1" kern="0">
                  <a:solidFill>
                    <a:srgbClr val="33D6B0"/>
                  </a:solidFill>
                  <a:latin typeface="Lexend" pitchFamily="2" charset="77"/>
                  <a:ea typeface="Montserrat"/>
                  <a:cs typeface="Montserrat"/>
                  <a:sym typeface="Montserrat"/>
                </a:rPr>
              </a:br>
              <a:r>
                <a:rPr lang="en-GB" sz="2600" b="1" kern="0">
                  <a:solidFill>
                    <a:srgbClr val="33D6B0"/>
                  </a:solidFill>
                  <a:latin typeface="Lexend" pitchFamily="2" charset="77"/>
                  <a:ea typeface="Montserrat"/>
                  <a:cs typeface="Montserrat"/>
                  <a:sym typeface="Montserrat"/>
                </a:rPr>
                <a:t>in theatre efficiency</a:t>
              </a:r>
              <a:endParaRPr sz="2600" b="1" kern="0">
                <a:solidFill>
                  <a:srgbClr val="33D6B0"/>
                </a:solidFill>
                <a:latin typeface="Lexend" pitchFamily="2" charset="77"/>
                <a:ea typeface="Montserrat"/>
                <a:cs typeface="Montserrat"/>
                <a:sym typeface="Montserrat"/>
              </a:endParaRPr>
            </a:p>
          </p:txBody>
        </p:sp>
        <p:sp>
          <p:nvSpPr>
            <p:cNvPr id="11" name="Google Shape;74;gf5e5917d9e_0_5">
              <a:extLst>
                <a:ext uri="{FF2B5EF4-FFF2-40B4-BE49-F238E27FC236}">
                  <a16:creationId xmlns:a16="http://schemas.microsoft.com/office/drawing/2014/main" id="{67A78268-4A2E-3C32-0BD5-55B905D50ED1}"/>
                </a:ext>
              </a:extLst>
            </p:cNvPr>
            <p:cNvSpPr txBox="1"/>
            <p:nvPr/>
          </p:nvSpPr>
          <p:spPr>
            <a:xfrm>
              <a:off x="595300" y="3809423"/>
              <a:ext cx="3435600" cy="1132618"/>
            </a:xfrm>
            <a:prstGeom prst="rect">
              <a:avLst/>
            </a:prstGeom>
            <a:noFill/>
            <a:ln>
              <a:noFill/>
            </a:ln>
          </p:spPr>
          <p:txBody>
            <a:bodyPr spcFirstLastPara="1" wrap="square" lIns="0" tIns="0" rIns="0" bIns="0" anchor="t" anchorCtr="0">
              <a:spAutoFit/>
            </a:bodyPr>
            <a:lstStyle/>
            <a:p>
              <a:pPr defTabSz="1219170">
                <a:lnSpc>
                  <a:spcPct val="115000"/>
                </a:lnSpc>
                <a:buClr>
                  <a:srgbClr val="000000"/>
                </a:buClr>
                <a:buSzPts val="1100"/>
              </a:pPr>
              <a:r>
                <a:rPr lang="en-GB" sz="1600" kern="0">
                  <a:solidFill>
                    <a:schemeClr val="tx2"/>
                  </a:solidFill>
                  <a:latin typeface="Lexend" pitchFamily="2" charset="77"/>
                  <a:ea typeface="Montserrat"/>
                  <a:cs typeface="Montserrat"/>
                  <a:sym typeface="Montserrat"/>
                </a:rPr>
                <a:t>Pre-Covid theatre utilisation </a:t>
              </a:r>
              <a:br>
                <a:rPr lang="en-GB" sz="1600" kern="0">
                  <a:solidFill>
                    <a:schemeClr val="tx2"/>
                  </a:solidFill>
                  <a:latin typeface="Lexend" pitchFamily="2" charset="77"/>
                  <a:ea typeface="Montserrat"/>
                  <a:cs typeface="Montserrat"/>
                  <a:sym typeface="Montserrat"/>
                </a:rPr>
              </a:br>
              <a:r>
                <a:rPr lang="en-GB" sz="1600" kern="0">
                  <a:solidFill>
                    <a:schemeClr val="tx2"/>
                  </a:solidFill>
                  <a:latin typeface="Lexend" pitchFamily="2" charset="77"/>
                  <a:ea typeface="Montserrat"/>
                  <a:cs typeface="Montserrat"/>
                  <a:sym typeface="Montserrat"/>
                </a:rPr>
                <a:t>in our initial NHS health board was 65%, following the Infix: Schedule trial it</a:t>
              </a:r>
              <a:endParaRPr sz="1600" kern="0">
                <a:solidFill>
                  <a:schemeClr val="tx2"/>
                </a:solidFill>
                <a:latin typeface="Lexend" pitchFamily="2" charset="77"/>
                <a:ea typeface="Montserrat"/>
                <a:cs typeface="Montserrat"/>
                <a:sym typeface="Montserrat"/>
              </a:endParaRPr>
            </a:p>
          </p:txBody>
        </p:sp>
        <p:pic>
          <p:nvPicPr>
            <p:cNvPr id="12" name="Google Shape;75;gf5e5917d9e_0_5">
              <a:extLst>
                <a:ext uri="{FF2B5EF4-FFF2-40B4-BE49-F238E27FC236}">
                  <a16:creationId xmlns:a16="http://schemas.microsoft.com/office/drawing/2014/main" id="{EF3C3995-B934-C8AB-F459-5BC1A6017752}"/>
                </a:ext>
              </a:extLst>
            </p:cNvPr>
            <p:cNvPicPr preferRelativeResize="0"/>
            <p:nvPr/>
          </p:nvPicPr>
          <p:blipFill rotWithShape="1">
            <a:blip r:embed="rId2">
              <a:alphaModFix/>
            </a:blip>
            <a:srcRect/>
            <a:stretch/>
          </p:blipFill>
          <p:spPr>
            <a:xfrm>
              <a:off x="2657355" y="2190673"/>
              <a:ext cx="999274" cy="817930"/>
            </a:xfrm>
            <a:prstGeom prst="rect">
              <a:avLst/>
            </a:prstGeom>
            <a:noFill/>
            <a:ln>
              <a:noFill/>
            </a:ln>
          </p:spPr>
        </p:pic>
        <p:sp>
          <p:nvSpPr>
            <p:cNvPr id="13" name="Google Shape;74;gf5e5917d9e_0_5">
              <a:extLst>
                <a:ext uri="{FF2B5EF4-FFF2-40B4-BE49-F238E27FC236}">
                  <a16:creationId xmlns:a16="http://schemas.microsoft.com/office/drawing/2014/main" id="{338D3C4D-A28D-DB57-21F2-1859165DF399}"/>
                </a:ext>
              </a:extLst>
            </p:cNvPr>
            <p:cNvSpPr txBox="1"/>
            <p:nvPr/>
          </p:nvSpPr>
          <p:spPr>
            <a:xfrm>
              <a:off x="595300" y="5033290"/>
              <a:ext cx="3435600" cy="276999"/>
            </a:xfrm>
            <a:prstGeom prst="rect">
              <a:avLst/>
            </a:prstGeom>
            <a:noFill/>
            <a:ln>
              <a:noFill/>
            </a:ln>
          </p:spPr>
          <p:txBody>
            <a:bodyPr spcFirstLastPara="1" wrap="square" lIns="0" tIns="0" rIns="0" bIns="0" anchor="t" anchorCtr="0">
              <a:spAutoFit/>
            </a:bodyPr>
            <a:lstStyle/>
            <a:p>
              <a:pPr defTabSz="1219170">
                <a:lnSpc>
                  <a:spcPct val="75000"/>
                </a:lnSpc>
                <a:buClr>
                  <a:srgbClr val="000000"/>
                </a:buClr>
                <a:buSzPts val="1100"/>
              </a:pPr>
              <a:r>
                <a:rPr lang="en-GB" sz="1600" b="1" kern="0">
                  <a:solidFill>
                    <a:srgbClr val="33D6B0"/>
                  </a:solidFill>
                  <a:latin typeface="Lexend" pitchFamily="2" charset="77"/>
                  <a:ea typeface="Montserrat"/>
                  <a:cs typeface="Montserrat"/>
                  <a:sym typeface="Montserrat"/>
                </a:rPr>
                <a:t>increased to </a:t>
              </a:r>
              <a:r>
                <a:rPr lang="en-GB" sz="2400" b="1" kern="0">
                  <a:solidFill>
                    <a:srgbClr val="33D6B0"/>
                  </a:solidFill>
                  <a:latin typeface="Lexend" pitchFamily="2" charset="77"/>
                  <a:ea typeface="Montserrat"/>
                  <a:cs typeface="Montserrat"/>
                  <a:sym typeface="Montserrat"/>
                </a:rPr>
                <a:t>82.4%</a:t>
              </a:r>
              <a:endParaRPr sz="2400" b="1" kern="0">
                <a:solidFill>
                  <a:srgbClr val="33D6B0"/>
                </a:solidFill>
                <a:latin typeface="Lexend" pitchFamily="2" charset="77"/>
                <a:ea typeface="Montserrat"/>
                <a:cs typeface="Montserrat"/>
                <a:sym typeface="Montserrat"/>
              </a:endParaRPr>
            </a:p>
          </p:txBody>
        </p:sp>
      </p:grpSp>
      <p:grpSp>
        <p:nvGrpSpPr>
          <p:cNvPr id="14" name="Group 13">
            <a:extLst>
              <a:ext uri="{FF2B5EF4-FFF2-40B4-BE49-F238E27FC236}">
                <a16:creationId xmlns:a16="http://schemas.microsoft.com/office/drawing/2014/main" id="{B402AE72-C389-FA3E-F74F-B89D3B4ABC5B}"/>
              </a:ext>
            </a:extLst>
          </p:cNvPr>
          <p:cNvGrpSpPr/>
          <p:nvPr/>
        </p:nvGrpSpPr>
        <p:grpSpPr>
          <a:xfrm>
            <a:off x="4254867" y="1615779"/>
            <a:ext cx="3692400" cy="3770800"/>
            <a:chOff x="4222968" y="1817800"/>
            <a:chExt cx="3692400" cy="3770800"/>
          </a:xfrm>
        </p:grpSpPr>
        <p:sp>
          <p:nvSpPr>
            <p:cNvPr id="15" name="Google Shape;69;gf5e5917d9e_0_5">
              <a:extLst>
                <a:ext uri="{FF2B5EF4-FFF2-40B4-BE49-F238E27FC236}">
                  <a16:creationId xmlns:a16="http://schemas.microsoft.com/office/drawing/2014/main" id="{1CEB843E-4EBA-270E-547E-7CA6E4A7D4ED}"/>
                </a:ext>
              </a:extLst>
            </p:cNvPr>
            <p:cNvSpPr/>
            <p:nvPr/>
          </p:nvSpPr>
          <p:spPr>
            <a:xfrm>
              <a:off x="4222968" y="1817800"/>
              <a:ext cx="3692400" cy="3770800"/>
            </a:xfrm>
            <a:prstGeom prst="wedgeRoundRectCallout">
              <a:avLst>
                <a:gd name="adj1" fmla="val -19642"/>
                <a:gd name="adj2" fmla="val 56780"/>
                <a:gd name="adj3" fmla="val 0"/>
              </a:avLst>
            </a:prstGeom>
            <a:solidFill>
              <a:schemeClr val="lt1"/>
            </a:solidFill>
            <a:ln w="19050" cap="flat" cmpd="sng">
              <a:solidFill>
                <a:srgbClr val="33D6B0"/>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buSzPts val="1400"/>
              </a:pPr>
              <a:endParaRPr sz="1867" kern="0">
                <a:solidFill>
                  <a:srgbClr val="FFFFFF"/>
                </a:solidFill>
                <a:latin typeface="Arial"/>
                <a:ea typeface="Arial"/>
                <a:cs typeface="Arial"/>
                <a:sym typeface="Arial"/>
              </a:endParaRPr>
            </a:p>
          </p:txBody>
        </p:sp>
        <p:sp>
          <p:nvSpPr>
            <p:cNvPr id="16" name="Google Shape;76;gf5e5917d9e_0_5">
              <a:extLst>
                <a:ext uri="{FF2B5EF4-FFF2-40B4-BE49-F238E27FC236}">
                  <a16:creationId xmlns:a16="http://schemas.microsoft.com/office/drawing/2014/main" id="{1039C0CC-41EA-27A5-2E80-688C2D01E8D0}"/>
                </a:ext>
              </a:extLst>
            </p:cNvPr>
            <p:cNvSpPr txBox="1"/>
            <p:nvPr/>
          </p:nvSpPr>
          <p:spPr>
            <a:xfrm>
              <a:off x="4468776" y="2011970"/>
              <a:ext cx="3176400" cy="412934"/>
            </a:xfrm>
            <a:prstGeom prst="rect">
              <a:avLst/>
            </a:prstGeom>
            <a:noFill/>
            <a:ln>
              <a:noFill/>
            </a:ln>
          </p:spPr>
          <p:txBody>
            <a:bodyPr spcFirstLastPara="1" wrap="square" lIns="0" tIns="0" rIns="0" bIns="0" anchor="t" anchorCtr="0">
              <a:spAutoFit/>
            </a:bodyPr>
            <a:lstStyle/>
            <a:p>
              <a:pPr defTabSz="1219170">
                <a:spcBef>
                  <a:spcPts val="1333"/>
                </a:spcBef>
                <a:buClr>
                  <a:srgbClr val="000000"/>
                </a:buClr>
                <a:buSzPts val="1000"/>
              </a:pPr>
              <a:r>
                <a:rPr lang="en-GB" sz="1600" kern="0">
                  <a:solidFill>
                    <a:schemeClr val="tx2"/>
                  </a:solidFill>
                  <a:latin typeface="Lexend" pitchFamily="2" charset="77"/>
                  <a:ea typeface="Montserrat"/>
                  <a:cs typeface="Montserrat"/>
                  <a:sym typeface="Montserrat"/>
                </a:rPr>
                <a:t>Equates to an</a:t>
              </a:r>
              <a:endParaRPr sz="1600" kern="0">
                <a:solidFill>
                  <a:schemeClr val="tx2"/>
                </a:solidFill>
                <a:latin typeface="Lexend" pitchFamily="2" charset="77"/>
                <a:ea typeface="Montserrat"/>
                <a:cs typeface="Montserrat"/>
                <a:sym typeface="Montserrat"/>
              </a:endParaRPr>
            </a:p>
          </p:txBody>
        </p:sp>
        <p:sp>
          <p:nvSpPr>
            <p:cNvPr id="17" name="Google Shape;76;gf5e5917d9e_0_5">
              <a:extLst>
                <a:ext uri="{FF2B5EF4-FFF2-40B4-BE49-F238E27FC236}">
                  <a16:creationId xmlns:a16="http://schemas.microsoft.com/office/drawing/2014/main" id="{07E562F9-0905-3DF0-43F7-38D8A3A3CB28}"/>
                </a:ext>
              </a:extLst>
            </p:cNvPr>
            <p:cNvSpPr txBox="1"/>
            <p:nvPr/>
          </p:nvSpPr>
          <p:spPr>
            <a:xfrm>
              <a:off x="4468776" y="2285206"/>
              <a:ext cx="3176400" cy="966931"/>
            </a:xfrm>
            <a:prstGeom prst="rect">
              <a:avLst/>
            </a:prstGeom>
            <a:noFill/>
            <a:ln>
              <a:noFill/>
            </a:ln>
          </p:spPr>
          <p:txBody>
            <a:bodyPr spcFirstLastPara="1" wrap="square" lIns="0" tIns="0" rIns="0" bIns="0" anchor="t" anchorCtr="0">
              <a:spAutoFit/>
            </a:bodyPr>
            <a:lstStyle/>
            <a:p>
              <a:pPr defTabSz="1219170">
                <a:spcBef>
                  <a:spcPts val="1333"/>
                </a:spcBef>
                <a:buClr>
                  <a:srgbClr val="000000"/>
                </a:buClr>
                <a:buSzPts val="1000"/>
              </a:pPr>
              <a:r>
                <a:rPr lang="en-GB" sz="2600" b="1" kern="0">
                  <a:solidFill>
                    <a:srgbClr val="33D6B0"/>
                  </a:solidFill>
                  <a:latin typeface="Lexend" pitchFamily="2" charset="77"/>
                  <a:ea typeface="Montserrat"/>
                  <a:cs typeface="Montserrat"/>
                  <a:sym typeface="Montserrat"/>
                </a:rPr>
                <a:t>extra 845 joint replacements</a:t>
              </a:r>
              <a:r>
                <a:rPr lang="en-GB" sz="2600" b="1" kern="0">
                  <a:solidFill>
                    <a:srgbClr val="595959"/>
                  </a:solidFill>
                  <a:latin typeface="Lexend" pitchFamily="2" charset="77"/>
                  <a:ea typeface="Montserrat"/>
                  <a:cs typeface="Montserrat"/>
                  <a:sym typeface="Montserrat"/>
                </a:rPr>
                <a:t>,</a:t>
              </a:r>
              <a:endParaRPr sz="2600" b="1" kern="0">
                <a:solidFill>
                  <a:srgbClr val="595959"/>
                </a:solidFill>
                <a:latin typeface="Lexend" pitchFamily="2" charset="77"/>
                <a:ea typeface="Montserrat"/>
                <a:cs typeface="Montserrat"/>
                <a:sym typeface="Montserrat"/>
              </a:endParaRPr>
            </a:p>
          </p:txBody>
        </p:sp>
        <p:sp>
          <p:nvSpPr>
            <p:cNvPr id="18" name="Google Shape;76;gf5e5917d9e_0_5">
              <a:extLst>
                <a:ext uri="{FF2B5EF4-FFF2-40B4-BE49-F238E27FC236}">
                  <a16:creationId xmlns:a16="http://schemas.microsoft.com/office/drawing/2014/main" id="{1DFE8199-49F5-0E46-FABD-CFE539ECDBD9}"/>
                </a:ext>
              </a:extLst>
            </p:cNvPr>
            <p:cNvSpPr txBox="1"/>
            <p:nvPr/>
          </p:nvSpPr>
          <p:spPr>
            <a:xfrm>
              <a:off x="4468776" y="3156237"/>
              <a:ext cx="3176400" cy="412934"/>
            </a:xfrm>
            <a:prstGeom prst="rect">
              <a:avLst/>
            </a:prstGeom>
            <a:noFill/>
            <a:ln>
              <a:noFill/>
            </a:ln>
          </p:spPr>
          <p:txBody>
            <a:bodyPr spcFirstLastPara="1" wrap="square" lIns="0" tIns="0" rIns="0" bIns="0" anchor="t" anchorCtr="0">
              <a:spAutoFit/>
            </a:bodyPr>
            <a:lstStyle/>
            <a:p>
              <a:pPr defTabSz="1219170">
                <a:spcBef>
                  <a:spcPts val="1333"/>
                </a:spcBef>
                <a:buClr>
                  <a:srgbClr val="000000"/>
                </a:buClr>
                <a:buSzPts val="1000"/>
              </a:pPr>
              <a:r>
                <a:rPr lang="en-GB" sz="1600" kern="0">
                  <a:solidFill>
                    <a:schemeClr val="tx2"/>
                  </a:solidFill>
                  <a:latin typeface="Lexend" pitchFamily="2" charset="77"/>
                  <a:ea typeface="Montserrat"/>
                  <a:cs typeface="Montserrat"/>
                  <a:sym typeface="Montserrat"/>
                </a:rPr>
                <a:t>therefore</a:t>
              </a:r>
              <a:endParaRPr sz="1600" kern="0">
                <a:solidFill>
                  <a:schemeClr val="tx2"/>
                </a:solidFill>
                <a:latin typeface="Lexend" pitchFamily="2" charset="77"/>
                <a:ea typeface="Montserrat"/>
                <a:cs typeface="Montserrat"/>
                <a:sym typeface="Montserrat"/>
              </a:endParaRPr>
            </a:p>
          </p:txBody>
        </p:sp>
        <p:sp>
          <p:nvSpPr>
            <p:cNvPr id="19" name="Google Shape;76;gf5e5917d9e_0_5">
              <a:extLst>
                <a:ext uri="{FF2B5EF4-FFF2-40B4-BE49-F238E27FC236}">
                  <a16:creationId xmlns:a16="http://schemas.microsoft.com/office/drawing/2014/main" id="{CEDDA645-159A-4090-585A-9FF6E094C07D}"/>
                </a:ext>
              </a:extLst>
            </p:cNvPr>
            <p:cNvSpPr txBox="1"/>
            <p:nvPr/>
          </p:nvSpPr>
          <p:spPr>
            <a:xfrm>
              <a:off x="4468776" y="3436451"/>
              <a:ext cx="3176400" cy="1367041"/>
            </a:xfrm>
            <a:prstGeom prst="rect">
              <a:avLst/>
            </a:prstGeom>
            <a:noFill/>
            <a:ln>
              <a:noFill/>
            </a:ln>
          </p:spPr>
          <p:txBody>
            <a:bodyPr spcFirstLastPara="1" wrap="square" lIns="0" tIns="0" rIns="0" bIns="0" anchor="t" anchorCtr="0">
              <a:spAutoFit/>
            </a:bodyPr>
            <a:lstStyle/>
            <a:p>
              <a:pPr defTabSz="1219170">
                <a:spcBef>
                  <a:spcPts val="1333"/>
                </a:spcBef>
                <a:buClr>
                  <a:srgbClr val="000000"/>
                </a:buClr>
                <a:buSzPts val="1000"/>
              </a:pPr>
              <a:r>
                <a:rPr lang="en-GB" sz="2600" b="1" kern="0">
                  <a:solidFill>
                    <a:srgbClr val="33D6B0"/>
                  </a:solidFill>
                  <a:latin typeface="Lexend" pitchFamily="2" charset="77"/>
                  <a:ea typeface="Montserrat"/>
                  <a:cs typeface="Montserrat"/>
                  <a:sym typeface="Montserrat"/>
                </a:rPr>
                <a:t>reducing the waiting list by 6 months</a:t>
              </a:r>
              <a:endParaRPr sz="2600" b="1" kern="0">
                <a:solidFill>
                  <a:srgbClr val="595959"/>
                </a:solidFill>
                <a:latin typeface="Lexend" pitchFamily="2" charset="77"/>
                <a:ea typeface="Montserrat"/>
                <a:cs typeface="Montserrat"/>
                <a:sym typeface="Montserrat"/>
              </a:endParaRPr>
            </a:p>
          </p:txBody>
        </p:sp>
        <p:sp>
          <p:nvSpPr>
            <p:cNvPr id="20" name="Google Shape;76;gf5e5917d9e_0_5">
              <a:extLst>
                <a:ext uri="{FF2B5EF4-FFF2-40B4-BE49-F238E27FC236}">
                  <a16:creationId xmlns:a16="http://schemas.microsoft.com/office/drawing/2014/main" id="{D2224303-5202-EAAF-20CB-10E09AD5ECC3}"/>
                </a:ext>
              </a:extLst>
            </p:cNvPr>
            <p:cNvSpPr txBox="1"/>
            <p:nvPr/>
          </p:nvSpPr>
          <p:spPr>
            <a:xfrm>
              <a:off x="4468776" y="4676581"/>
              <a:ext cx="3176400" cy="443711"/>
            </a:xfrm>
            <a:prstGeom prst="rect">
              <a:avLst/>
            </a:prstGeom>
            <a:noFill/>
            <a:ln>
              <a:noFill/>
            </a:ln>
          </p:spPr>
          <p:txBody>
            <a:bodyPr spcFirstLastPara="1" wrap="square" lIns="0" tIns="0" rIns="0" bIns="0" anchor="t" anchorCtr="0">
              <a:spAutoFit/>
            </a:bodyPr>
            <a:lstStyle/>
            <a:p>
              <a:pPr defTabSz="1219170">
                <a:spcBef>
                  <a:spcPts val="1333"/>
                </a:spcBef>
                <a:buClr>
                  <a:srgbClr val="000000"/>
                </a:buClr>
                <a:buSzPts val="1000"/>
              </a:pPr>
              <a:r>
                <a:rPr lang="en-GB" kern="0">
                  <a:solidFill>
                    <a:schemeClr val="tx2"/>
                  </a:solidFill>
                  <a:latin typeface="Lexend" pitchFamily="2" charset="77"/>
                  <a:ea typeface="Montserrat"/>
                  <a:cs typeface="Montserrat"/>
                  <a:sym typeface="Montserrat"/>
                </a:rPr>
                <a:t>for these </a:t>
              </a:r>
              <a:r>
                <a:rPr lang="en-GB" sz="1600" kern="0">
                  <a:solidFill>
                    <a:schemeClr val="tx2"/>
                  </a:solidFill>
                  <a:latin typeface="Lexend" pitchFamily="2" charset="77"/>
                  <a:ea typeface="Montserrat"/>
                  <a:cs typeface="Montserrat"/>
                  <a:sym typeface="Montserrat"/>
                </a:rPr>
                <a:t>patients</a:t>
              </a:r>
              <a:endParaRPr sz="1600" kern="0">
                <a:solidFill>
                  <a:schemeClr val="tx2"/>
                </a:solidFill>
                <a:latin typeface="Lexend" pitchFamily="2" charset="77"/>
                <a:ea typeface="Montserrat"/>
                <a:cs typeface="Montserrat"/>
                <a:sym typeface="Montserrat"/>
              </a:endParaRPr>
            </a:p>
          </p:txBody>
        </p:sp>
      </p:grpSp>
      <p:grpSp>
        <p:nvGrpSpPr>
          <p:cNvPr id="21" name="Group 20">
            <a:extLst>
              <a:ext uri="{FF2B5EF4-FFF2-40B4-BE49-F238E27FC236}">
                <a16:creationId xmlns:a16="http://schemas.microsoft.com/office/drawing/2014/main" id="{49B81A23-DDFA-C773-C297-E5FC01AAA382}"/>
              </a:ext>
            </a:extLst>
          </p:cNvPr>
          <p:cNvGrpSpPr/>
          <p:nvPr/>
        </p:nvGrpSpPr>
        <p:grpSpPr>
          <a:xfrm>
            <a:off x="8097740" y="1615779"/>
            <a:ext cx="3692400" cy="3770800"/>
            <a:chOff x="8214703" y="1817800"/>
            <a:chExt cx="3692400" cy="3770800"/>
          </a:xfrm>
        </p:grpSpPr>
        <p:sp>
          <p:nvSpPr>
            <p:cNvPr id="22" name="Google Shape;77;gf5e5917d9e_0_5">
              <a:extLst>
                <a:ext uri="{FF2B5EF4-FFF2-40B4-BE49-F238E27FC236}">
                  <a16:creationId xmlns:a16="http://schemas.microsoft.com/office/drawing/2014/main" id="{6CF4AB87-0523-7FB3-DA80-5D305D92EAC5}"/>
                </a:ext>
              </a:extLst>
            </p:cNvPr>
            <p:cNvSpPr/>
            <p:nvPr/>
          </p:nvSpPr>
          <p:spPr>
            <a:xfrm>
              <a:off x="8214703" y="1817800"/>
              <a:ext cx="3692400" cy="3770800"/>
            </a:xfrm>
            <a:prstGeom prst="wedgeRoundRectCallout">
              <a:avLst>
                <a:gd name="adj1" fmla="val -19642"/>
                <a:gd name="adj2" fmla="val 56780"/>
                <a:gd name="adj3" fmla="val 0"/>
              </a:avLst>
            </a:prstGeom>
            <a:solidFill>
              <a:schemeClr val="lt1"/>
            </a:solidFill>
            <a:ln w="19050" cap="flat" cmpd="sng">
              <a:solidFill>
                <a:srgbClr val="33D6B0"/>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buSzPts val="1400"/>
              </a:pPr>
              <a:endParaRPr sz="1867" kern="0">
                <a:solidFill>
                  <a:srgbClr val="FFFFFF"/>
                </a:solidFill>
                <a:latin typeface="Arial"/>
                <a:ea typeface="Arial"/>
                <a:cs typeface="Arial"/>
                <a:sym typeface="Arial"/>
              </a:endParaRPr>
            </a:p>
          </p:txBody>
        </p:sp>
        <p:pic>
          <p:nvPicPr>
            <p:cNvPr id="23" name="Google Shape;78;gf5e5917d9e_0_5">
              <a:extLst>
                <a:ext uri="{FF2B5EF4-FFF2-40B4-BE49-F238E27FC236}">
                  <a16:creationId xmlns:a16="http://schemas.microsoft.com/office/drawing/2014/main" id="{CA57AAB3-BC5A-F615-BAFF-CD6D7C935C09}"/>
                </a:ext>
              </a:extLst>
            </p:cNvPr>
            <p:cNvPicPr preferRelativeResize="0"/>
            <p:nvPr/>
          </p:nvPicPr>
          <p:blipFill rotWithShape="1">
            <a:blip r:embed="rId3">
              <a:alphaModFix/>
            </a:blip>
            <a:srcRect/>
            <a:stretch/>
          </p:blipFill>
          <p:spPr>
            <a:xfrm>
              <a:off x="10743029" y="2190673"/>
              <a:ext cx="832144" cy="1006480"/>
            </a:xfrm>
            <a:prstGeom prst="rect">
              <a:avLst/>
            </a:prstGeom>
            <a:noFill/>
            <a:ln>
              <a:noFill/>
            </a:ln>
          </p:spPr>
        </p:pic>
        <p:sp>
          <p:nvSpPr>
            <p:cNvPr id="24" name="Google Shape;79;gf5e5917d9e_0_5">
              <a:extLst>
                <a:ext uri="{FF2B5EF4-FFF2-40B4-BE49-F238E27FC236}">
                  <a16:creationId xmlns:a16="http://schemas.microsoft.com/office/drawing/2014/main" id="{CE778579-DC55-E3D3-3889-A32CA9573C27}"/>
                </a:ext>
              </a:extLst>
            </p:cNvPr>
            <p:cNvSpPr txBox="1"/>
            <p:nvPr/>
          </p:nvSpPr>
          <p:spPr>
            <a:xfrm>
              <a:off x="8394600" y="4256607"/>
              <a:ext cx="3176400" cy="802207"/>
            </a:xfrm>
            <a:prstGeom prst="rect">
              <a:avLst/>
            </a:prstGeom>
            <a:noFill/>
            <a:ln>
              <a:noFill/>
            </a:ln>
          </p:spPr>
          <p:txBody>
            <a:bodyPr spcFirstLastPara="1" wrap="square" lIns="0" tIns="0" rIns="0" bIns="0" anchor="t" anchorCtr="0">
              <a:spAutoFit/>
            </a:bodyPr>
            <a:lstStyle/>
            <a:p>
              <a:pPr defTabSz="1219170">
                <a:lnSpc>
                  <a:spcPct val="115000"/>
                </a:lnSpc>
                <a:buClr>
                  <a:srgbClr val="000000"/>
                </a:buClr>
                <a:buSzPts val="900"/>
              </a:pPr>
              <a:r>
                <a:rPr lang="en-GB" sz="1600" kern="0">
                  <a:solidFill>
                    <a:schemeClr val="tx2"/>
                  </a:solidFill>
                  <a:latin typeface="Lexend" pitchFamily="2" charset="77"/>
                  <a:ea typeface="Montserrat"/>
                  <a:cs typeface="Montserrat"/>
                  <a:sym typeface="Montserrat"/>
                </a:rPr>
                <a:t>in theatre utilisation using </a:t>
              </a:r>
              <a:br>
                <a:rPr lang="en-GB" sz="1600" kern="0">
                  <a:solidFill>
                    <a:schemeClr val="tx2"/>
                  </a:solidFill>
                  <a:latin typeface="Lexend" pitchFamily="2" charset="77"/>
                  <a:ea typeface="Montserrat"/>
                  <a:cs typeface="Montserrat"/>
                  <a:sym typeface="Montserrat"/>
                </a:rPr>
              </a:br>
              <a:r>
                <a:rPr lang="en-GB" sz="1600" kern="0">
                  <a:solidFill>
                    <a:schemeClr val="tx2"/>
                  </a:solidFill>
                  <a:latin typeface="Lexend" pitchFamily="2" charset="77"/>
                  <a:ea typeface="Montserrat"/>
                  <a:cs typeface="Montserrat"/>
                  <a:sym typeface="Montserrat"/>
                </a:rPr>
                <a:t>Infix: Schedule</a:t>
              </a:r>
              <a:endParaRPr sz="1600" kern="0">
                <a:solidFill>
                  <a:schemeClr val="tx2"/>
                </a:solidFill>
                <a:latin typeface="Lexend" pitchFamily="2" charset="77"/>
                <a:ea typeface="Montserrat"/>
                <a:cs typeface="Montserrat"/>
                <a:sym typeface="Montserrat"/>
              </a:endParaRPr>
            </a:p>
            <a:p>
              <a:pPr defTabSz="1219170">
                <a:lnSpc>
                  <a:spcPct val="115000"/>
                </a:lnSpc>
                <a:buClr>
                  <a:srgbClr val="000000"/>
                </a:buClr>
                <a:buSzPts val="1000"/>
              </a:pPr>
              <a:endParaRPr sz="1333" kern="0">
                <a:solidFill>
                  <a:schemeClr val="tx2"/>
                </a:solidFill>
                <a:latin typeface="Lexend" pitchFamily="2" charset="77"/>
                <a:ea typeface="Montserrat"/>
                <a:cs typeface="Montserrat"/>
                <a:sym typeface="Montserrat"/>
              </a:endParaRPr>
            </a:p>
          </p:txBody>
        </p:sp>
        <p:sp>
          <p:nvSpPr>
            <p:cNvPr id="25" name="Google Shape;76;gf5e5917d9e_0_5">
              <a:extLst>
                <a:ext uri="{FF2B5EF4-FFF2-40B4-BE49-F238E27FC236}">
                  <a16:creationId xmlns:a16="http://schemas.microsoft.com/office/drawing/2014/main" id="{8C757D4F-175A-C9F9-D9E1-C46103D25F67}"/>
                </a:ext>
              </a:extLst>
            </p:cNvPr>
            <p:cNvSpPr txBox="1"/>
            <p:nvPr/>
          </p:nvSpPr>
          <p:spPr>
            <a:xfrm>
              <a:off x="8394600" y="2426498"/>
              <a:ext cx="2163672" cy="1151597"/>
            </a:xfrm>
            <a:prstGeom prst="rect">
              <a:avLst/>
            </a:prstGeom>
            <a:noFill/>
            <a:ln>
              <a:noFill/>
            </a:ln>
          </p:spPr>
          <p:txBody>
            <a:bodyPr spcFirstLastPara="1" wrap="square" lIns="0" tIns="0" rIns="0" bIns="0" anchor="t" anchorCtr="0">
              <a:spAutoFit/>
            </a:bodyPr>
            <a:lstStyle/>
            <a:p>
              <a:pPr defTabSz="1219170">
                <a:spcBef>
                  <a:spcPts val="1333"/>
                </a:spcBef>
                <a:buClr>
                  <a:srgbClr val="000000"/>
                </a:buClr>
                <a:buSzPts val="1000"/>
              </a:pPr>
              <a:r>
                <a:rPr lang="en-GB" sz="1600" kern="0">
                  <a:solidFill>
                    <a:srgbClr val="595959"/>
                  </a:solidFill>
                  <a:latin typeface="Lexend" pitchFamily="2" charset="77"/>
                  <a:ea typeface="Montserrat"/>
                  <a:cs typeface="Montserrat"/>
                  <a:sym typeface="Montserrat"/>
                </a:rPr>
                <a:t>Independent review by the University of </a:t>
              </a:r>
              <a:r>
                <a:rPr lang="en-GB" sz="1600" kern="0">
                  <a:solidFill>
                    <a:schemeClr val="tx2"/>
                  </a:solidFill>
                  <a:latin typeface="Lexend" pitchFamily="2" charset="77"/>
                  <a:ea typeface="Montserrat"/>
                  <a:cs typeface="Montserrat"/>
                  <a:sym typeface="Montserrat"/>
                </a:rPr>
                <a:t>Stirling</a:t>
              </a:r>
              <a:r>
                <a:rPr lang="en-GB" sz="1600" kern="0">
                  <a:solidFill>
                    <a:srgbClr val="595959"/>
                  </a:solidFill>
                  <a:latin typeface="Lexend" pitchFamily="2" charset="77"/>
                  <a:ea typeface="Montserrat"/>
                  <a:cs typeface="Montserrat"/>
                  <a:sym typeface="Montserrat"/>
                </a:rPr>
                <a:t> showed an increase of</a:t>
              </a:r>
            </a:p>
          </p:txBody>
        </p:sp>
        <p:sp>
          <p:nvSpPr>
            <p:cNvPr id="26" name="Google Shape;79;gf5e5917d9e_0_5">
              <a:extLst>
                <a:ext uri="{FF2B5EF4-FFF2-40B4-BE49-F238E27FC236}">
                  <a16:creationId xmlns:a16="http://schemas.microsoft.com/office/drawing/2014/main" id="{BEFD9AB5-8A92-4E92-8F18-A705F3760E26}"/>
                </a:ext>
              </a:extLst>
            </p:cNvPr>
            <p:cNvSpPr txBox="1"/>
            <p:nvPr/>
          </p:nvSpPr>
          <p:spPr>
            <a:xfrm>
              <a:off x="8394600" y="3618910"/>
              <a:ext cx="3176400" cy="566309"/>
            </a:xfrm>
            <a:prstGeom prst="rect">
              <a:avLst/>
            </a:prstGeom>
            <a:noFill/>
            <a:ln>
              <a:noFill/>
            </a:ln>
          </p:spPr>
          <p:txBody>
            <a:bodyPr spcFirstLastPara="1" wrap="square" lIns="0" tIns="0" rIns="0" bIns="0" anchor="t" anchorCtr="0">
              <a:spAutoFit/>
            </a:bodyPr>
            <a:lstStyle/>
            <a:p>
              <a:pPr defTabSz="1219170">
                <a:lnSpc>
                  <a:spcPct val="115000"/>
                </a:lnSpc>
                <a:buClr>
                  <a:srgbClr val="000000"/>
                </a:buClr>
                <a:buSzPts val="3300"/>
              </a:pPr>
              <a:r>
                <a:rPr lang="en-GB" sz="3200" b="1" kern="0">
                  <a:solidFill>
                    <a:srgbClr val="33D6B0"/>
                  </a:solidFill>
                  <a:latin typeface="Lexend" pitchFamily="2" charset="77"/>
                  <a:ea typeface="Montserrat"/>
                  <a:cs typeface="Montserrat"/>
                  <a:sym typeface="Montserrat"/>
                </a:rPr>
                <a:t>16.1–36.5%</a:t>
              </a:r>
              <a:endParaRPr sz="3200" b="1" kern="0">
                <a:solidFill>
                  <a:srgbClr val="595959"/>
                </a:solidFill>
                <a:latin typeface="Lexend" pitchFamily="2" charset="77"/>
                <a:ea typeface="Montserrat"/>
                <a:cs typeface="Montserrat"/>
                <a:sym typeface="Montserrat"/>
              </a:endParaRPr>
            </a:p>
          </p:txBody>
        </p:sp>
      </p:grpSp>
      <p:sp>
        <p:nvSpPr>
          <p:cNvPr id="5" name="Title 10">
            <a:extLst>
              <a:ext uri="{FF2B5EF4-FFF2-40B4-BE49-F238E27FC236}">
                <a16:creationId xmlns:a16="http://schemas.microsoft.com/office/drawing/2014/main" id="{98E59257-EEA2-C11A-74A0-027814592FC3}"/>
              </a:ext>
            </a:extLst>
          </p:cNvPr>
          <p:cNvSpPr txBox="1">
            <a:spLocks/>
          </p:cNvSpPr>
          <p:nvPr/>
        </p:nvSpPr>
        <p:spPr>
          <a:xfrm>
            <a:off x="432000" y="396000"/>
            <a:ext cx="10058548" cy="443198"/>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a:t>The difference Infix Schedule can make</a:t>
            </a:r>
          </a:p>
        </p:txBody>
      </p:sp>
    </p:spTree>
    <p:extLst>
      <p:ext uri="{BB962C8B-B14F-4D97-AF65-F5344CB8AC3E}">
        <p14:creationId xmlns:p14="http://schemas.microsoft.com/office/powerpoint/2010/main" val="2545088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BABE819-565E-E692-1B60-A9EF700837F6}"/>
              </a:ext>
            </a:extLst>
          </p:cNvPr>
          <p:cNvSpPr>
            <a:spLocks noGrp="1"/>
          </p:cNvSpPr>
          <p:nvPr>
            <p:ph type="dt" sz="half" idx="10"/>
          </p:nvPr>
        </p:nvSpPr>
        <p:spPr/>
        <p:txBody>
          <a:bodyPr/>
          <a:lstStyle/>
          <a:p>
            <a:fld id="{AE95FFC6-AAA8-2143-806B-8F39CCBC68A9}" type="datetime4">
              <a:rPr lang="en-GB" smtClean="0"/>
              <a:t>26 May 2026</a:t>
            </a:fld>
            <a:endParaRPr lang="en-GB"/>
          </a:p>
        </p:txBody>
      </p:sp>
      <p:sp>
        <p:nvSpPr>
          <p:cNvPr id="5" name="Footer Placeholder 4">
            <a:extLst>
              <a:ext uri="{FF2B5EF4-FFF2-40B4-BE49-F238E27FC236}">
                <a16:creationId xmlns:a16="http://schemas.microsoft.com/office/drawing/2014/main" id="{2DD80938-AF99-87A2-A19D-AB26B08C33BA}"/>
              </a:ext>
            </a:extLst>
          </p:cNvPr>
          <p:cNvSpPr>
            <a:spLocks noGrp="1"/>
          </p:cNvSpPr>
          <p:nvPr>
            <p:ph type="ftr" sz="quarter" idx="11"/>
          </p:nvPr>
        </p:nvSpPr>
        <p:spPr/>
        <p:txBody>
          <a:bodyPr/>
          <a:lstStyle/>
          <a:p>
            <a:r>
              <a:rPr lang="en-GB"/>
              <a:t>Infix Support</a:t>
            </a:r>
          </a:p>
        </p:txBody>
      </p:sp>
      <p:sp>
        <p:nvSpPr>
          <p:cNvPr id="6" name="Slide Number Placeholder 5">
            <a:extLst>
              <a:ext uri="{FF2B5EF4-FFF2-40B4-BE49-F238E27FC236}">
                <a16:creationId xmlns:a16="http://schemas.microsoft.com/office/drawing/2014/main" id="{EF37A3BF-770F-9E05-EF6B-54EE345EFF68}"/>
              </a:ext>
            </a:extLst>
          </p:cNvPr>
          <p:cNvSpPr>
            <a:spLocks noGrp="1"/>
          </p:cNvSpPr>
          <p:nvPr>
            <p:ph type="sldNum" sz="quarter" idx="12"/>
          </p:nvPr>
        </p:nvSpPr>
        <p:spPr/>
        <p:txBody>
          <a:bodyPr/>
          <a:lstStyle/>
          <a:p>
            <a:fld id="{9E2F006C-3F46-4694-A47B-E42E311A9BF4}" type="slidenum">
              <a:rPr lang="en-GB" smtClean="0"/>
              <a:t>6</a:t>
            </a:fld>
            <a:endParaRPr lang="en-GB"/>
          </a:p>
        </p:txBody>
      </p:sp>
      <p:sp>
        <p:nvSpPr>
          <p:cNvPr id="7" name="Google Shape;49;p10">
            <a:extLst>
              <a:ext uri="{FF2B5EF4-FFF2-40B4-BE49-F238E27FC236}">
                <a16:creationId xmlns:a16="http://schemas.microsoft.com/office/drawing/2014/main" id="{0A9E1772-6C1F-01EF-DDD1-0DE16F7C249F}"/>
              </a:ext>
            </a:extLst>
          </p:cNvPr>
          <p:cNvSpPr txBox="1"/>
          <p:nvPr/>
        </p:nvSpPr>
        <p:spPr>
          <a:xfrm>
            <a:off x="360000" y="1309504"/>
            <a:ext cx="2666000" cy="400687"/>
          </a:xfrm>
          <a:prstGeom prst="rect">
            <a:avLst/>
          </a:prstGeom>
          <a:noFill/>
          <a:ln>
            <a:noFill/>
          </a:ln>
        </p:spPr>
        <p:txBody>
          <a:bodyPr spcFirstLastPara="1" wrap="square" lIns="0" tIns="0" rIns="0" bIns="0" anchor="t" anchorCtr="0">
            <a:spAutoFit/>
          </a:bodyPr>
          <a:lstStyle/>
          <a:p>
            <a:pPr defTabSz="1219170">
              <a:lnSpc>
                <a:spcPct val="115000"/>
              </a:lnSpc>
              <a:spcAft>
                <a:spcPts val="1067"/>
              </a:spcAft>
              <a:buClr>
                <a:srgbClr val="000000"/>
              </a:buClr>
            </a:pPr>
            <a:r>
              <a:rPr lang="en-GB" sz="1400" b="1" u="sng" kern="0">
                <a:solidFill>
                  <a:schemeClr val="tx2"/>
                </a:solidFill>
                <a:latin typeface="Lexend" pitchFamily="2" charset="77"/>
                <a:ea typeface="Montserrat"/>
                <a:cs typeface="Montserrat"/>
                <a:sym typeface="Montserrat"/>
              </a:rPr>
              <a:t>Plastic surgery</a:t>
            </a:r>
            <a:endParaRPr sz="1400" b="1" u="sng" kern="0">
              <a:solidFill>
                <a:schemeClr val="tx2"/>
              </a:solidFill>
              <a:latin typeface="Lexend" pitchFamily="2" charset="77"/>
              <a:ea typeface="Montserrat"/>
              <a:cs typeface="Montserrat"/>
              <a:sym typeface="Montserrat"/>
            </a:endParaRPr>
          </a:p>
        </p:txBody>
      </p:sp>
      <p:sp>
        <p:nvSpPr>
          <p:cNvPr id="8" name="Google Shape;51;p10">
            <a:extLst>
              <a:ext uri="{FF2B5EF4-FFF2-40B4-BE49-F238E27FC236}">
                <a16:creationId xmlns:a16="http://schemas.microsoft.com/office/drawing/2014/main" id="{CBEF2202-1198-BF6F-7DD5-2D906225FC21}"/>
              </a:ext>
            </a:extLst>
          </p:cNvPr>
          <p:cNvSpPr/>
          <p:nvPr/>
        </p:nvSpPr>
        <p:spPr>
          <a:xfrm>
            <a:off x="360000" y="1699169"/>
            <a:ext cx="2666000" cy="2242800"/>
          </a:xfrm>
          <a:prstGeom prst="rect">
            <a:avLst/>
          </a:prstGeom>
          <a:solidFill>
            <a:srgbClr val="33D6B0"/>
          </a:solidFill>
          <a:ln>
            <a:noFill/>
          </a:ln>
        </p:spPr>
        <p:txBody>
          <a:bodyPr spcFirstLastPara="1" wrap="square" lIns="96000" tIns="0" rIns="96000" bIns="0" anchor="ctr" anchorCtr="0">
            <a:noAutofit/>
          </a:bodyPr>
          <a:lstStyle/>
          <a:p>
            <a:pPr algn="ctr" defTabSz="1219170">
              <a:buClr>
                <a:srgbClr val="000000"/>
              </a:buClr>
            </a:pPr>
            <a:r>
              <a:rPr lang="en-GB" sz="1600" b="1" kern="0" dirty="0">
                <a:solidFill>
                  <a:srgbClr val="FFFFFF"/>
                </a:solidFill>
                <a:latin typeface="Lexend" pitchFamily="2" charset="77"/>
                <a:ea typeface="Montserrat"/>
                <a:cs typeface="Montserrat"/>
                <a:sym typeface="Montserrat"/>
              </a:rPr>
              <a:t>Increase</a:t>
            </a:r>
            <a:r>
              <a:rPr lang="en-GB" sz="1600" kern="0" dirty="0">
                <a:solidFill>
                  <a:srgbClr val="FFFFFF"/>
                </a:solidFill>
                <a:latin typeface="Lexend" pitchFamily="2" charset="77"/>
                <a:ea typeface="Montserrat"/>
                <a:cs typeface="Montserrat"/>
                <a:sym typeface="Montserrat"/>
              </a:rPr>
              <a:t> in theatre utilisation by</a:t>
            </a:r>
            <a:endParaRPr sz="1600" kern="0" dirty="0">
              <a:solidFill>
                <a:srgbClr val="FFFFFF"/>
              </a:solidFill>
              <a:latin typeface="Lexend" pitchFamily="2" charset="77"/>
              <a:ea typeface="Montserrat"/>
              <a:cs typeface="Montserrat"/>
              <a:sym typeface="Montserrat"/>
            </a:endParaRPr>
          </a:p>
          <a:p>
            <a:pPr algn="ctr" defTabSz="1219170">
              <a:buClr>
                <a:srgbClr val="000000"/>
              </a:buClr>
            </a:pPr>
            <a:r>
              <a:rPr lang="en-GB" sz="4000" b="1" kern="0" dirty="0">
                <a:solidFill>
                  <a:srgbClr val="FFFFFF"/>
                </a:solidFill>
                <a:latin typeface="Lexend" pitchFamily="2" charset="77"/>
                <a:ea typeface="Montserrat SemiBold"/>
                <a:cs typeface="Montserrat SemiBold"/>
                <a:sym typeface="Montserrat SemiBold"/>
              </a:rPr>
              <a:t>18.3%</a:t>
            </a:r>
            <a:endParaRPr sz="4000" b="1" kern="0" dirty="0">
              <a:solidFill>
                <a:srgbClr val="FFFFFF"/>
              </a:solidFill>
              <a:latin typeface="Lexend" pitchFamily="2" charset="77"/>
              <a:ea typeface="Montserrat SemiBold"/>
              <a:cs typeface="Montserrat SemiBold"/>
              <a:sym typeface="Montserrat SemiBold"/>
            </a:endParaRPr>
          </a:p>
        </p:txBody>
      </p:sp>
      <p:sp>
        <p:nvSpPr>
          <p:cNvPr id="9" name="Google Shape;52;p10">
            <a:extLst>
              <a:ext uri="{FF2B5EF4-FFF2-40B4-BE49-F238E27FC236}">
                <a16:creationId xmlns:a16="http://schemas.microsoft.com/office/drawing/2014/main" id="{FBF39848-CB67-CF46-7A69-2F03FB19095D}"/>
              </a:ext>
            </a:extLst>
          </p:cNvPr>
          <p:cNvSpPr/>
          <p:nvPr/>
        </p:nvSpPr>
        <p:spPr>
          <a:xfrm>
            <a:off x="360000" y="4098105"/>
            <a:ext cx="2666000" cy="2242800"/>
          </a:xfrm>
          <a:prstGeom prst="rect">
            <a:avLst/>
          </a:prstGeom>
          <a:solidFill>
            <a:srgbClr val="33D6B0"/>
          </a:solidFill>
          <a:ln>
            <a:noFill/>
          </a:ln>
        </p:spPr>
        <p:txBody>
          <a:bodyPr spcFirstLastPara="1" wrap="square" lIns="96000" tIns="0" rIns="96000" bIns="0" anchor="ctr" anchorCtr="0">
            <a:noAutofit/>
          </a:bodyPr>
          <a:lstStyle/>
          <a:p>
            <a:pPr algn="ctr" defTabSz="1219170">
              <a:buClr>
                <a:srgbClr val="000000"/>
              </a:buClr>
            </a:pPr>
            <a:r>
              <a:rPr lang="en-GB" sz="2000" kern="0" dirty="0">
                <a:solidFill>
                  <a:srgbClr val="FFFFFF"/>
                </a:solidFill>
                <a:latin typeface="Lexend" pitchFamily="2" charset="77"/>
                <a:ea typeface="Montserrat"/>
                <a:cs typeface="Montserrat"/>
                <a:sym typeface="Montserrat"/>
              </a:rPr>
              <a:t>After 24 months of reporting</a:t>
            </a:r>
            <a:endParaRPr sz="4933" kern="0" dirty="0">
              <a:solidFill>
                <a:srgbClr val="FFFFFF"/>
              </a:solidFill>
              <a:latin typeface="Lexend" pitchFamily="2" charset="77"/>
              <a:ea typeface="Montserrat"/>
              <a:cs typeface="Montserrat"/>
              <a:sym typeface="Montserrat"/>
            </a:endParaRPr>
          </a:p>
        </p:txBody>
      </p:sp>
      <p:sp>
        <p:nvSpPr>
          <p:cNvPr id="10" name="Google Shape;53;p10">
            <a:extLst>
              <a:ext uri="{FF2B5EF4-FFF2-40B4-BE49-F238E27FC236}">
                <a16:creationId xmlns:a16="http://schemas.microsoft.com/office/drawing/2014/main" id="{EEDD9937-CAF6-B7F2-7C72-D544BF8BC3B8}"/>
              </a:ext>
            </a:extLst>
          </p:cNvPr>
          <p:cNvSpPr txBox="1"/>
          <p:nvPr/>
        </p:nvSpPr>
        <p:spPr>
          <a:xfrm>
            <a:off x="3210215" y="1309504"/>
            <a:ext cx="2666000" cy="400687"/>
          </a:xfrm>
          <a:prstGeom prst="rect">
            <a:avLst/>
          </a:prstGeom>
          <a:noFill/>
          <a:ln>
            <a:noFill/>
          </a:ln>
        </p:spPr>
        <p:txBody>
          <a:bodyPr spcFirstLastPara="1" wrap="square" lIns="0" tIns="0" rIns="0" bIns="0" anchor="t" anchorCtr="0">
            <a:spAutoFit/>
          </a:bodyPr>
          <a:lstStyle/>
          <a:p>
            <a:pPr defTabSz="1219170">
              <a:lnSpc>
                <a:spcPct val="115000"/>
              </a:lnSpc>
              <a:spcAft>
                <a:spcPts val="1067"/>
              </a:spcAft>
              <a:buClr>
                <a:srgbClr val="000000"/>
              </a:buClr>
            </a:pPr>
            <a:r>
              <a:rPr lang="en-GB" sz="1400" b="1" u="sng" kern="0" dirty="0">
                <a:solidFill>
                  <a:schemeClr val="tx2"/>
                </a:solidFill>
                <a:latin typeface="Lexend" pitchFamily="2" charset="77"/>
                <a:ea typeface="Montserrat"/>
                <a:cs typeface="Montserrat"/>
                <a:sym typeface="Montserrat"/>
              </a:rPr>
              <a:t>Urology surgery</a:t>
            </a:r>
            <a:endParaRPr sz="1400" b="1" u="sng" kern="0" dirty="0">
              <a:solidFill>
                <a:schemeClr val="tx2"/>
              </a:solidFill>
              <a:latin typeface="Lexend" pitchFamily="2" charset="77"/>
              <a:ea typeface="Montserrat"/>
              <a:cs typeface="Montserrat"/>
              <a:sym typeface="Montserrat"/>
            </a:endParaRPr>
          </a:p>
        </p:txBody>
      </p:sp>
      <p:sp>
        <p:nvSpPr>
          <p:cNvPr id="11" name="Google Shape;54;p10">
            <a:extLst>
              <a:ext uri="{FF2B5EF4-FFF2-40B4-BE49-F238E27FC236}">
                <a16:creationId xmlns:a16="http://schemas.microsoft.com/office/drawing/2014/main" id="{34C85B19-68FC-241F-5E9A-40B9077F1384}"/>
              </a:ext>
            </a:extLst>
          </p:cNvPr>
          <p:cNvSpPr/>
          <p:nvPr/>
        </p:nvSpPr>
        <p:spPr>
          <a:xfrm>
            <a:off x="3210215" y="1699169"/>
            <a:ext cx="2666000" cy="2242800"/>
          </a:xfrm>
          <a:prstGeom prst="rect">
            <a:avLst/>
          </a:prstGeom>
          <a:solidFill>
            <a:srgbClr val="33D6B0"/>
          </a:solidFill>
          <a:ln>
            <a:noFill/>
          </a:ln>
        </p:spPr>
        <p:txBody>
          <a:bodyPr spcFirstLastPara="1" wrap="square" lIns="96000" tIns="0" rIns="96000" bIns="0" anchor="ctr" anchorCtr="0">
            <a:noAutofit/>
          </a:bodyPr>
          <a:lstStyle/>
          <a:p>
            <a:pPr algn="ctr" defTabSz="1219170">
              <a:buClr>
                <a:srgbClr val="000000"/>
              </a:buClr>
              <a:buSzPts val="1100"/>
            </a:pPr>
            <a:r>
              <a:rPr lang="en-GB" sz="1600" b="1" kern="0" dirty="0">
                <a:solidFill>
                  <a:srgbClr val="FFFFFF"/>
                </a:solidFill>
                <a:latin typeface="Lexend" pitchFamily="2" charset="77"/>
                <a:ea typeface="Montserrat"/>
                <a:cs typeface="Montserrat"/>
                <a:sym typeface="Montserrat"/>
              </a:rPr>
              <a:t>Increase</a:t>
            </a:r>
            <a:r>
              <a:rPr lang="en-GB" sz="1600" kern="0" dirty="0">
                <a:solidFill>
                  <a:srgbClr val="FFFFFF"/>
                </a:solidFill>
                <a:latin typeface="Lexend" pitchFamily="2" charset="77"/>
                <a:ea typeface="Montserrat"/>
                <a:cs typeface="Montserrat"/>
                <a:sym typeface="Montserrat"/>
              </a:rPr>
              <a:t> in theatre utilisation by</a:t>
            </a:r>
            <a:endParaRPr sz="1600" kern="0" dirty="0">
              <a:solidFill>
                <a:srgbClr val="FFFFFF"/>
              </a:solidFill>
              <a:latin typeface="Lexend" pitchFamily="2" charset="77"/>
              <a:ea typeface="Montserrat"/>
              <a:cs typeface="Montserrat"/>
              <a:sym typeface="Montserrat"/>
            </a:endParaRPr>
          </a:p>
          <a:p>
            <a:pPr algn="ctr" defTabSz="1219170">
              <a:buClr>
                <a:srgbClr val="000000"/>
              </a:buClr>
            </a:pPr>
            <a:r>
              <a:rPr lang="en-GB" sz="4000" b="1" kern="0" dirty="0">
                <a:solidFill>
                  <a:srgbClr val="FFFFFF"/>
                </a:solidFill>
                <a:latin typeface="Lexend" pitchFamily="2" charset="77"/>
                <a:ea typeface="Montserrat SemiBold"/>
                <a:cs typeface="Montserrat SemiBold"/>
                <a:sym typeface="Montserrat SemiBold"/>
              </a:rPr>
              <a:t>12.8%</a:t>
            </a:r>
            <a:endParaRPr sz="4000" b="1" kern="0" dirty="0">
              <a:solidFill>
                <a:srgbClr val="FFFFFF"/>
              </a:solidFill>
              <a:latin typeface="Lexend" pitchFamily="2" charset="77"/>
              <a:ea typeface="Montserrat SemiBold"/>
              <a:cs typeface="Montserrat SemiBold"/>
              <a:sym typeface="Montserrat SemiBold"/>
            </a:endParaRPr>
          </a:p>
        </p:txBody>
      </p:sp>
      <p:sp>
        <p:nvSpPr>
          <p:cNvPr id="12" name="Google Shape;55;p10">
            <a:extLst>
              <a:ext uri="{FF2B5EF4-FFF2-40B4-BE49-F238E27FC236}">
                <a16:creationId xmlns:a16="http://schemas.microsoft.com/office/drawing/2014/main" id="{14C817BD-F3E1-7892-D49B-23F22F9F3A05}"/>
              </a:ext>
            </a:extLst>
          </p:cNvPr>
          <p:cNvSpPr txBox="1"/>
          <p:nvPr/>
        </p:nvSpPr>
        <p:spPr>
          <a:xfrm>
            <a:off x="6071073" y="1309504"/>
            <a:ext cx="2666000" cy="400687"/>
          </a:xfrm>
          <a:prstGeom prst="rect">
            <a:avLst/>
          </a:prstGeom>
          <a:noFill/>
          <a:ln>
            <a:noFill/>
          </a:ln>
        </p:spPr>
        <p:txBody>
          <a:bodyPr spcFirstLastPara="1" wrap="square" lIns="0" tIns="0" rIns="0" bIns="0" anchor="t" anchorCtr="0">
            <a:spAutoFit/>
          </a:bodyPr>
          <a:lstStyle/>
          <a:p>
            <a:pPr defTabSz="1219170">
              <a:lnSpc>
                <a:spcPct val="115000"/>
              </a:lnSpc>
              <a:spcAft>
                <a:spcPts val="1067"/>
              </a:spcAft>
              <a:buClr>
                <a:srgbClr val="000000"/>
              </a:buClr>
            </a:pPr>
            <a:r>
              <a:rPr lang="en-GB" sz="1400" b="1" u="sng" kern="0">
                <a:solidFill>
                  <a:schemeClr val="tx2"/>
                </a:solidFill>
                <a:latin typeface="Lexend" pitchFamily="2" charset="77"/>
                <a:ea typeface="Montserrat"/>
                <a:cs typeface="Montserrat"/>
                <a:sym typeface="Montserrat"/>
              </a:rPr>
              <a:t>ENT surgery</a:t>
            </a:r>
            <a:endParaRPr sz="1400" b="1" u="sng" kern="0">
              <a:solidFill>
                <a:schemeClr val="tx2"/>
              </a:solidFill>
              <a:latin typeface="Lexend" pitchFamily="2" charset="77"/>
              <a:ea typeface="Montserrat"/>
              <a:cs typeface="Montserrat"/>
              <a:sym typeface="Montserrat"/>
            </a:endParaRPr>
          </a:p>
        </p:txBody>
      </p:sp>
      <p:sp>
        <p:nvSpPr>
          <p:cNvPr id="13" name="Google Shape;56;p10">
            <a:extLst>
              <a:ext uri="{FF2B5EF4-FFF2-40B4-BE49-F238E27FC236}">
                <a16:creationId xmlns:a16="http://schemas.microsoft.com/office/drawing/2014/main" id="{480FB032-0C29-AAD3-DF69-A598196CF2F9}"/>
              </a:ext>
            </a:extLst>
          </p:cNvPr>
          <p:cNvSpPr/>
          <p:nvPr/>
        </p:nvSpPr>
        <p:spPr>
          <a:xfrm>
            <a:off x="6071073" y="1699169"/>
            <a:ext cx="2666000" cy="2242800"/>
          </a:xfrm>
          <a:prstGeom prst="rect">
            <a:avLst/>
          </a:prstGeom>
          <a:solidFill>
            <a:srgbClr val="33D6B0"/>
          </a:solidFill>
          <a:ln>
            <a:noFill/>
          </a:ln>
        </p:spPr>
        <p:txBody>
          <a:bodyPr spcFirstLastPara="1" wrap="square" lIns="96000" tIns="0" rIns="96000" bIns="0" anchor="ctr" anchorCtr="0">
            <a:noAutofit/>
          </a:bodyPr>
          <a:lstStyle/>
          <a:p>
            <a:pPr algn="ctr" defTabSz="1219170">
              <a:buClr>
                <a:srgbClr val="000000"/>
              </a:buClr>
              <a:buSzPts val="1100"/>
            </a:pPr>
            <a:r>
              <a:rPr lang="en-GB" sz="1600" b="1" kern="0" dirty="0">
                <a:solidFill>
                  <a:srgbClr val="FFFFFF"/>
                </a:solidFill>
                <a:latin typeface="Lexend" pitchFamily="2" charset="77"/>
                <a:ea typeface="Montserrat"/>
                <a:cs typeface="Montserrat"/>
                <a:sym typeface="Montserrat"/>
              </a:rPr>
              <a:t>Increase</a:t>
            </a:r>
            <a:r>
              <a:rPr lang="en-GB" sz="1600" kern="0" dirty="0">
                <a:solidFill>
                  <a:srgbClr val="FFFFFF"/>
                </a:solidFill>
                <a:latin typeface="Lexend" pitchFamily="2" charset="77"/>
                <a:ea typeface="Montserrat"/>
                <a:cs typeface="Montserrat"/>
                <a:sym typeface="Montserrat"/>
              </a:rPr>
              <a:t> of theatre utilisation by</a:t>
            </a:r>
            <a:endParaRPr sz="1600" kern="0" dirty="0">
              <a:solidFill>
                <a:srgbClr val="FFFFFF"/>
              </a:solidFill>
              <a:latin typeface="Lexend" pitchFamily="2" charset="77"/>
              <a:ea typeface="Montserrat"/>
              <a:cs typeface="Montserrat"/>
              <a:sym typeface="Montserrat"/>
            </a:endParaRPr>
          </a:p>
          <a:p>
            <a:pPr algn="ctr" defTabSz="1219170">
              <a:buClr>
                <a:srgbClr val="000000"/>
              </a:buClr>
            </a:pPr>
            <a:r>
              <a:rPr lang="en-GB" sz="4000" b="1" kern="0">
                <a:solidFill>
                  <a:srgbClr val="FFFFFF"/>
                </a:solidFill>
                <a:latin typeface="Lexend" pitchFamily="2" charset="77"/>
                <a:ea typeface="Montserrat SemiBold"/>
                <a:cs typeface="Montserrat SemiBold"/>
                <a:sym typeface="Montserrat SemiBold"/>
              </a:rPr>
              <a:t>24.4%</a:t>
            </a:r>
            <a:endParaRPr sz="4000" b="1" kern="0" dirty="0">
              <a:solidFill>
                <a:srgbClr val="FFFFFF"/>
              </a:solidFill>
              <a:latin typeface="Lexend" pitchFamily="2" charset="77"/>
              <a:ea typeface="Montserrat SemiBold"/>
              <a:cs typeface="Montserrat SemiBold"/>
              <a:sym typeface="Montserrat SemiBold"/>
            </a:endParaRPr>
          </a:p>
        </p:txBody>
      </p:sp>
      <p:sp>
        <p:nvSpPr>
          <p:cNvPr id="14" name="Google Shape;57;p10">
            <a:extLst>
              <a:ext uri="{FF2B5EF4-FFF2-40B4-BE49-F238E27FC236}">
                <a16:creationId xmlns:a16="http://schemas.microsoft.com/office/drawing/2014/main" id="{7A17E340-745E-E1A8-2C83-7A007294A62D}"/>
              </a:ext>
            </a:extLst>
          </p:cNvPr>
          <p:cNvSpPr txBox="1"/>
          <p:nvPr/>
        </p:nvSpPr>
        <p:spPr>
          <a:xfrm>
            <a:off x="8921441" y="1309504"/>
            <a:ext cx="2666000" cy="400687"/>
          </a:xfrm>
          <a:prstGeom prst="rect">
            <a:avLst/>
          </a:prstGeom>
          <a:noFill/>
          <a:ln>
            <a:noFill/>
          </a:ln>
        </p:spPr>
        <p:txBody>
          <a:bodyPr spcFirstLastPara="1" wrap="square" lIns="0" tIns="0" rIns="0" bIns="0" anchor="t" anchorCtr="0">
            <a:spAutoFit/>
          </a:bodyPr>
          <a:lstStyle/>
          <a:p>
            <a:pPr defTabSz="1219170">
              <a:lnSpc>
                <a:spcPct val="115000"/>
              </a:lnSpc>
              <a:spcAft>
                <a:spcPts val="1067"/>
              </a:spcAft>
              <a:buClr>
                <a:srgbClr val="000000"/>
              </a:buClr>
            </a:pPr>
            <a:r>
              <a:rPr lang="en-GB" sz="1400" b="1" u="sng" kern="0" dirty="0">
                <a:solidFill>
                  <a:schemeClr val="tx2"/>
                </a:solidFill>
                <a:latin typeface="Lexend" pitchFamily="2" charset="77"/>
                <a:ea typeface="Montserrat"/>
                <a:cs typeface="Montserrat"/>
                <a:sym typeface="Montserrat"/>
              </a:rPr>
              <a:t>Gynaecology Surgery</a:t>
            </a:r>
            <a:endParaRPr sz="1400" b="1" u="sng" kern="0" dirty="0">
              <a:solidFill>
                <a:schemeClr val="tx2"/>
              </a:solidFill>
              <a:latin typeface="Lexend" pitchFamily="2" charset="77"/>
              <a:ea typeface="Montserrat"/>
              <a:cs typeface="Montserrat"/>
              <a:sym typeface="Montserrat"/>
            </a:endParaRPr>
          </a:p>
        </p:txBody>
      </p:sp>
      <p:sp>
        <p:nvSpPr>
          <p:cNvPr id="15" name="Google Shape;58;p10">
            <a:extLst>
              <a:ext uri="{FF2B5EF4-FFF2-40B4-BE49-F238E27FC236}">
                <a16:creationId xmlns:a16="http://schemas.microsoft.com/office/drawing/2014/main" id="{25D5E16C-4E35-F701-3F2E-B102F7F457FB}"/>
              </a:ext>
            </a:extLst>
          </p:cNvPr>
          <p:cNvSpPr/>
          <p:nvPr/>
        </p:nvSpPr>
        <p:spPr>
          <a:xfrm>
            <a:off x="3210203" y="4098105"/>
            <a:ext cx="2666000" cy="2242800"/>
          </a:xfrm>
          <a:prstGeom prst="rect">
            <a:avLst/>
          </a:prstGeom>
          <a:solidFill>
            <a:srgbClr val="33D6B0"/>
          </a:solidFill>
          <a:ln>
            <a:noFill/>
          </a:ln>
        </p:spPr>
        <p:txBody>
          <a:bodyPr spcFirstLastPara="1" wrap="square" lIns="96000" tIns="0" rIns="96000" bIns="0" anchor="ctr" anchorCtr="0">
            <a:noAutofit/>
          </a:bodyPr>
          <a:lstStyle/>
          <a:p>
            <a:pPr algn="ctr" defTabSz="1219170">
              <a:buClr>
                <a:srgbClr val="000000"/>
              </a:buClr>
            </a:pPr>
            <a:r>
              <a:rPr lang="en-GB" sz="2000" kern="0" dirty="0">
                <a:solidFill>
                  <a:srgbClr val="FFFFFF"/>
                </a:solidFill>
                <a:latin typeface="Lexend" pitchFamily="2" charset="77"/>
                <a:ea typeface="Montserrat"/>
                <a:cs typeface="Montserrat"/>
                <a:sym typeface="Montserrat"/>
              </a:rPr>
              <a:t>After 21 months of reporting</a:t>
            </a:r>
            <a:endParaRPr sz="2000" kern="0" dirty="0">
              <a:solidFill>
                <a:srgbClr val="FFFFFF"/>
              </a:solidFill>
              <a:latin typeface="Lexend" pitchFamily="2" charset="77"/>
              <a:ea typeface="Montserrat"/>
              <a:cs typeface="Montserrat"/>
              <a:sym typeface="Montserrat"/>
            </a:endParaRPr>
          </a:p>
        </p:txBody>
      </p:sp>
      <p:sp>
        <p:nvSpPr>
          <p:cNvPr id="16" name="Google Shape;59;p10">
            <a:extLst>
              <a:ext uri="{FF2B5EF4-FFF2-40B4-BE49-F238E27FC236}">
                <a16:creationId xmlns:a16="http://schemas.microsoft.com/office/drawing/2014/main" id="{82405D0F-975B-1C6D-4E8A-7F1AF185A5B2}"/>
              </a:ext>
            </a:extLst>
          </p:cNvPr>
          <p:cNvSpPr/>
          <p:nvPr/>
        </p:nvSpPr>
        <p:spPr>
          <a:xfrm>
            <a:off x="6071038" y="4098105"/>
            <a:ext cx="2666000" cy="2242800"/>
          </a:xfrm>
          <a:prstGeom prst="rect">
            <a:avLst/>
          </a:prstGeom>
          <a:solidFill>
            <a:srgbClr val="33D6B0"/>
          </a:solidFill>
          <a:ln>
            <a:noFill/>
          </a:ln>
        </p:spPr>
        <p:txBody>
          <a:bodyPr spcFirstLastPara="1" wrap="square" lIns="96000" tIns="0" rIns="96000" bIns="0" anchor="ctr" anchorCtr="0">
            <a:noAutofit/>
          </a:bodyPr>
          <a:lstStyle/>
          <a:p>
            <a:pPr algn="ctr" defTabSz="1219170">
              <a:buClr>
                <a:srgbClr val="000000"/>
              </a:buClr>
            </a:pPr>
            <a:r>
              <a:rPr lang="en-GB" sz="2000" kern="0" dirty="0">
                <a:solidFill>
                  <a:srgbClr val="FFFFFF"/>
                </a:solidFill>
                <a:latin typeface="Lexend" pitchFamily="2" charset="77"/>
                <a:ea typeface="Montserrat"/>
                <a:cs typeface="Montserrat"/>
                <a:sym typeface="Montserrat"/>
              </a:rPr>
              <a:t>After 24 months of reporting</a:t>
            </a:r>
            <a:endParaRPr sz="2000" kern="0" dirty="0">
              <a:solidFill>
                <a:srgbClr val="FFFFFF"/>
              </a:solidFill>
              <a:latin typeface="Lexend" pitchFamily="2" charset="77"/>
              <a:ea typeface="Montserrat"/>
              <a:cs typeface="Montserrat"/>
              <a:sym typeface="Montserrat"/>
            </a:endParaRPr>
          </a:p>
        </p:txBody>
      </p:sp>
      <p:sp>
        <p:nvSpPr>
          <p:cNvPr id="21" name="Google Shape;50;p10">
            <a:extLst>
              <a:ext uri="{FF2B5EF4-FFF2-40B4-BE49-F238E27FC236}">
                <a16:creationId xmlns:a16="http://schemas.microsoft.com/office/drawing/2014/main" id="{2DFE2103-C31F-4AA5-B538-EAE69583AE2F}"/>
              </a:ext>
            </a:extLst>
          </p:cNvPr>
          <p:cNvSpPr txBox="1">
            <a:spLocks/>
          </p:cNvSpPr>
          <p:nvPr/>
        </p:nvSpPr>
        <p:spPr>
          <a:xfrm>
            <a:off x="360000" y="396000"/>
            <a:ext cx="8805600" cy="775597"/>
          </a:xfrm>
          <a:prstGeom prst="rect">
            <a:avLst/>
          </a:prstGeom>
        </p:spPr>
        <p:txBody>
          <a:bodyPr spcFirstLastPara="1" vert="horz" wrap="square" lIns="0" tIns="0" rIns="0" bIns="0" rtlCol="0" anchor="t"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800" dirty="0">
                <a:solidFill>
                  <a:schemeClr val="tx2"/>
                </a:solidFill>
              </a:rPr>
              <a:t>Quantitative results</a:t>
            </a:r>
          </a:p>
          <a:p>
            <a:r>
              <a:rPr lang="en-GB" sz="2800" dirty="0">
                <a:solidFill>
                  <a:schemeClr val="accent2"/>
                </a:solidFill>
              </a:rPr>
              <a:t>NHS Lothian + Infix Schedule</a:t>
            </a:r>
          </a:p>
        </p:txBody>
      </p:sp>
      <p:sp>
        <p:nvSpPr>
          <p:cNvPr id="2" name="Google Shape;56;p10">
            <a:extLst>
              <a:ext uri="{FF2B5EF4-FFF2-40B4-BE49-F238E27FC236}">
                <a16:creationId xmlns:a16="http://schemas.microsoft.com/office/drawing/2014/main" id="{FA4E6102-15CE-5E4D-09CF-D892CA53EC74}"/>
              </a:ext>
            </a:extLst>
          </p:cNvPr>
          <p:cNvSpPr/>
          <p:nvPr/>
        </p:nvSpPr>
        <p:spPr>
          <a:xfrm>
            <a:off x="8921441" y="1710191"/>
            <a:ext cx="2666000" cy="2242800"/>
          </a:xfrm>
          <a:prstGeom prst="rect">
            <a:avLst/>
          </a:prstGeom>
          <a:solidFill>
            <a:srgbClr val="33D6B0"/>
          </a:solidFill>
          <a:ln>
            <a:noFill/>
          </a:ln>
        </p:spPr>
        <p:txBody>
          <a:bodyPr spcFirstLastPara="1" wrap="square" lIns="96000" tIns="0" rIns="96000" bIns="0" anchor="ctr" anchorCtr="0">
            <a:noAutofit/>
          </a:bodyPr>
          <a:lstStyle/>
          <a:p>
            <a:pPr algn="ctr" defTabSz="1219170">
              <a:buClr>
                <a:srgbClr val="000000"/>
              </a:buClr>
              <a:buSzPts val="1100"/>
            </a:pPr>
            <a:r>
              <a:rPr lang="en-GB" sz="1600" b="1" kern="0" dirty="0">
                <a:solidFill>
                  <a:srgbClr val="FFFFFF"/>
                </a:solidFill>
                <a:latin typeface="Lexend" pitchFamily="2" charset="77"/>
                <a:ea typeface="Montserrat"/>
                <a:cs typeface="Montserrat"/>
                <a:sym typeface="Montserrat"/>
              </a:rPr>
              <a:t>Increase</a:t>
            </a:r>
            <a:r>
              <a:rPr lang="en-GB" sz="1600" kern="0" dirty="0">
                <a:solidFill>
                  <a:srgbClr val="FFFFFF"/>
                </a:solidFill>
                <a:latin typeface="Lexend" pitchFamily="2" charset="77"/>
                <a:ea typeface="Montserrat"/>
                <a:cs typeface="Montserrat"/>
                <a:sym typeface="Montserrat"/>
              </a:rPr>
              <a:t> of theatre utilisation by</a:t>
            </a:r>
            <a:endParaRPr sz="1600" kern="0" dirty="0">
              <a:solidFill>
                <a:srgbClr val="FFFFFF"/>
              </a:solidFill>
              <a:latin typeface="Lexend" pitchFamily="2" charset="77"/>
              <a:ea typeface="Montserrat"/>
              <a:cs typeface="Montserrat"/>
              <a:sym typeface="Montserrat"/>
            </a:endParaRPr>
          </a:p>
          <a:p>
            <a:pPr algn="ctr" defTabSz="1219170">
              <a:buClr>
                <a:srgbClr val="000000"/>
              </a:buClr>
            </a:pPr>
            <a:r>
              <a:rPr lang="en-GB" sz="4000" b="1" kern="0" dirty="0">
                <a:solidFill>
                  <a:srgbClr val="FFFFFF"/>
                </a:solidFill>
                <a:latin typeface="Lexend" pitchFamily="2" charset="77"/>
                <a:ea typeface="Montserrat SemiBold"/>
                <a:cs typeface="Montserrat SemiBold"/>
                <a:sym typeface="Montserrat SemiBold"/>
              </a:rPr>
              <a:t>11.8%</a:t>
            </a:r>
            <a:endParaRPr sz="4000" b="1" kern="0" dirty="0">
              <a:solidFill>
                <a:srgbClr val="FFFFFF"/>
              </a:solidFill>
              <a:latin typeface="Lexend" pitchFamily="2" charset="77"/>
              <a:ea typeface="Montserrat SemiBold"/>
              <a:cs typeface="Montserrat SemiBold"/>
              <a:sym typeface="Montserrat SemiBold"/>
            </a:endParaRPr>
          </a:p>
        </p:txBody>
      </p:sp>
      <p:sp>
        <p:nvSpPr>
          <p:cNvPr id="3" name="Google Shape;59;p10">
            <a:extLst>
              <a:ext uri="{FF2B5EF4-FFF2-40B4-BE49-F238E27FC236}">
                <a16:creationId xmlns:a16="http://schemas.microsoft.com/office/drawing/2014/main" id="{8118CE5D-0E85-1E24-5EC4-5BD67CF21539}"/>
              </a:ext>
            </a:extLst>
          </p:cNvPr>
          <p:cNvSpPr/>
          <p:nvPr/>
        </p:nvSpPr>
        <p:spPr>
          <a:xfrm>
            <a:off x="8928000" y="4095095"/>
            <a:ext cx="2666000" cy="2242800"/>
          </a:xfrm>
          <a:prstGeom prst="rect">
            <a:avLst/>
          </a:prstGeom>
          <a:solidFill>
            <a:srgbClr val="33D6B0"/>
          </a:solidFill>
          <a:ln>
            <a:noFill/>
          </a:ln>
        </p:spPr>
        <p:txBody>
          <a:bodyPr spcFirstLastPara="1" wrap="square" lIns="96000" tIns="0" rIns="96000" bIns="0" anchor="ctr" anchorCtr="0">
            <a:noAutofit/>
          </a:bodyPr>
          <a:lstStyle/>
          <a:p>
            <a:pPr algn="ctr" defTabSz="1219170">
              <a:buClr>
                <a:srgbClr val="000000"/>
              </a:buClr>
            </a:pPr>
            <a:r>
              <a:rPr lang="en-GB" sz="2000" kern="0" dirty="0">
                <a:solidFill>
                  <a:srgbClr val="FFFFFF"/>
                </a:solidFill>
                <a:latin typeface="Lexend" pitchFamily="2" charset="77"/>
                <a:ea typeface="Montserrat"/>
                <a:cs typeface="Montserrat"/>
                <a:sym typeface="Montserrat"/>
              </a:rPr>
              <a:t>After 15 months of reporting</a:t>
            </a:r>
            <a:endParaRPr sz="2000" kern="0" dirty="0">
              <a:solidFill>
                <a:srgbClr val="FFFFFF"/>
              </a:solidFill>
              <a:latin typeface="Lexend" pitchFamily="2" charset="77"/>
              <a:ea typeface="Montserrat"/>
              <a:cs typeface="Montserrat"/>
              <a:sym typeface="Montserrat"/>
            </a:endParaRPr>
          </a:p>
        </p:txBody>
      </p:sp>
    </p:spTree>
    <p:extLst>
      <p:ext uri="{BB962C8B-B14F-4D97-AF65-F5344CB8AC3E}">
        <p14:creationId xmlns:p14="http://schemas.microsoft.com/office/powerpoint/2010/main" val="1158071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19C9A-36C9-8D3C-36C9-96B656CABB60}"/>
              </a:ext>
            </a:extLst>
          </p:cNvPr>
          <p:cNvSpPr>
            <a:spLocks noGrp="1"/>
          </p:cNvSpPr>
          <p:nvPr>
            <p:ph type="title"/>
          </p:nvPr>
        </p:nvSpPr>
        <p:spPr>
          <a:xfrm>
            <a:off x="432000" y="396000"/>
            <a:ext cx="10058548" cy="443198"/>
          </a:xfrm>
        </p:spPr>
        <p:txBody>
          <a:bodyPr/>
          <a:lstStyle/>
          <a:p>
            <a:r>
              <a:rPr lang="en-US" sz="3200"/>
              <a:t>Secondary benefits</a:t>
            </a:r>
          </a:p>
        </p:txBody>
      </p:sp>
      <p:sp>
        <p:nvSpPr>
          <p:cNvPr id="3" name="Date Placeholder 2">
            <a:extLst>
              <a:ext uri="{FF2B5EF4-FFF2-40B4-BE49-F238E27FC236}">
                <a16:creationId xmlns:a16="http://schemas.microsoft.com/office/drawing/2014/main" id="{B280BF85-4AB7-5C66-6F02-E11717C0ECD7}"/>
              </a:ext>
            </a:extLst>
          </p:cNvPr>
          <p:cNvSpPr>
            <a:spLocks noGrp="1"/>
          </p:cNvSpPr>
          <p:nvPr>
            <p:ph type="dt" sz="half" idx="10"/>
          </p:nvPr>
        </p:nvSpPr>
        <p:spPr/>
        <p:txBody>
          <a:bodyPr/>
          <a:lstStyle/>
          <a:p>
            <a:fld id="{5AAC4925-84D7-3640-B54C-DE710065EBFE}" type="datetime4">
              <a:rPr lang="en-GB" smtClean="0"/>
              <a:t>26 May 2026</a:t>
            </a:fld>
            <a:endParaRPr lang="en-GB"/>
          </a:p>
        </p:txBody>
      </p:sp>
      <p:sp>
        <p:nvSpPr>
          <p:cNvPr id="4" name="Footer Placeholder 3">
            <a:extLst>
              <a:ext uri="{FF2B5EF4-FFF2-40B4-BE49-F238E27FC236}">
                <a16:creationId xmlns:a16="http://schemas.microsoft.com/office/drawing/2014/main" id="{74CED4D6-007E-1733-0A1B-48FAB35E2968}"/>
              </a:ext>
            </a:extLst>
          </p:cNvPr>
          <p:cNvSpPr>
            <a:spLocks noGrp="1"/>
          </p:cNvSpPr>
          <p:nvPr>
            <p:ph type="ftr" sz="quarter" idx="11"/>
          </p:nvPr>
        </p:nvSpPr>
        <p:spPr/>
        <p:txBody>
          <a:bodyPr/>
          <a:lstStyle/>
          <a:p>
            <a:r>
              <a:rPr lang="en-GB"/>
              <a:t>Infix Schedule: Impact so far</a:t>
            </a:r>
          </a:p>
        </p:txBody>
      </p:sp>
      <p:sp>
        <p:nvSpPr>
          <p:cNvPr id="5" name="Slide Number Placeholder 4">
            <a:extLst>
              <a:ext uri="{FF2B5EF4-FFF2-40B4-BE49-F238E27FC236}">
                <a16:creationId xmlns:a16="http://schemas.microsoft.com/office/drawing/2014/main" id="{C0CA352A-CCC9-B964-62A2-1271B22C480B}"/>
              </a:ext>
            </a:extLst>
          </p:cNvPr>
          <p:cNvSpPr>
            <a:spLocks noGrp="1"/>
          </p:cNvSpPr>
          <p:nvPr>
            <p:ph type="sldNum" sz="quarter" idx="12"/>
          </p:nvPr>
        </p:nvSpPr>
        <p:spPr/>
        <p:txBody>
          <a:bodyPr/>
          <a:lstStyle/>
          <a:p>
            <a:fld id="{9E2F006C-3F46-4694-A47B-E42E311A9BF4}" type="slidenum">
              <a:rPr lang="en-GB" smtClean="0"/>
              <a:t>7</a:t>
            </a:fld>
            <a:endParaRPr lang="en-GB"/>
          </a:p>
        </p:txBody>
      </p:sp>
      <p:sp>
        <p:nvSpPr>
          <p:cNvPr id="6" name="Content Placeholder 5">
            <a:extLst>
              <a:ext uri="{FF2B5EF4-FFF2-40B4-BE49-F238E27FC236}">
                <a16:creationId xmlns:a16="http://schemas.microsoft.com/office/drawing/2014/main" id="{6E8B0B27-024E-E73F-066C-A1DD8FAE3DCA}"/>
              </a:ext>
            </a:extLst>
          </p:cNvPr>
          <p:cNvSpPr>
            <a:spLocks noGrp="1"/>
          </p:cNvSpPr>
          <p:nvPr>
            <p:ph sz="half" idx="13"/>
          </p:nvPr>
        </p:nvSpPr>
        <p:spPr>
          <a:xfrm>
            <a:off x="6270171" y="1131140"/>
            <a:ext cx="5401028" cy="4351338"/>
          </a:xfrm>
        </p:spPr>
        <p:txBody>
          <a:bodyPr/>
          <a:lstStyle/>
          <a:p>
            <a:pPr marL="0" indent="0" defTabSz="1219170">
              <a:lnSpc>
                <a:spcPct val="115000"/>
              </a:lnSpc>
              <a:buClr>
                <a:srgbClr val="000000"/>
              </a:buClr>
              <a:buNone/>
            </a:pPr>
            <a:r>
              <a:rPr lang="en-GB" sz="2000" b="1" kern="0">
                <a:solidFill>
                  <a:schemeClr val="bg1"/>
                </a:solidFill>
                <a:latin typeface="Lexend" pitchFamily="2" charset="77"/>
                <a:ea typeface="Montserrat"/>
                <a:cs typeface="Montserrat"/>
                <a:sym typeface="Montserrat"/>
              </a:rPr>
              <a:t>Improved resource management</a:t>
            </a:r>
          </a:p>
          <a:p>
            <a:pPr marL="608965" indent="-397510" defTabSz="1219170">
              <a:lnSpc>
                <a:spcPct val="115000"/>
              </a:lnSpc>
              <a:buClr>
                <a:srgbClr val="000000"/>
              </a:buClr>
              <a:buSzPts val="1100"/>
              <a:buFont typeface="Montserrat"/>
              <a:buChar char="●"/>
            </a:pPr>
            <a:r>
              <a:rPr lang="en-GB" sz="1400" kern="0">
                <a:solidFill>
                  <a:schemeClr val="tx2"/>
                </a:solidFill>
                <a:latin typeface="Lexend" pitchFamily="2" charset="77"/>
                <a:ea typeface="Montserrat"/>
                <a:cs typeface="Montserrat"/>
                <a:sym typeface="Montserrat"/>
              </a:rPr>
              <a:t>With the metric of ‘</a:t>
            </a:r>
            <a:r>
              <a:rPr lang="en-GB" sz="1400" b="1" u="sng" kern="0">
                <a:solidFill>
                  <a:schemeClr val="tx2"/>
                </a:solidFill>
                <a:latin typeface="Lexend" pitchFamily="2" charset="77"/>
                <a:ea typeface="Montserrat"/>
                <a:cs typeface="Montserrat"/>
                <a:sym typeface="Montserrat"/>
              </a:rPr>
              <a:t>sessions worth</a:t>
            </a:r>
            <a:r>
              <a:rPr lang="en-GB" sz="1400" kern="0">
                <a:solidFill>
                  <a:schemeClr val="tx2"/>
                </a:solidFill>
                <a:latin typeface="Lexend" pitchFamily="2" charset="77"/>
                <a:ea typeface="Montserrat"/>
                <a:cs typeface="Montserrat"/>
                <a:sym typeface="Montserrat"/>
              </a:rPr>
              <a:t>’ Infix Schedule provides a significant benefit to service leads to </a:t>
            </a:r>
            <a:r>
              <a:rPr lang="en-GB" sz="1400" b="1" u="sng" kern="0">
                <a:solidFill>
                  <a:schemeClr val="tx2"/>
                </a:solidFill>
                <a:latin typeface="Lexend" pitchFamily="2" charset="77"/>
                <a:ea typeface="Montserrat"/>
                <a:cs typeface="Montserrat"/>
                <a:sym typeface="Montserrat"/>
              </a:rPr>
              <a:t>understand the demand </a:t>
            </a:r>
            <a:r>
              <a:rPr lang="en-GB" sz="1400" kern="0">
                <a:solidFill>
                  <a:schemeClr val="tx2"/>
                </a:solidFill>
                <a:latin typeface="Lexend" pitchFamily="2" charset="77"/>
                <a:ea typeface="Montserrat"/>
                <a:cs typeface="Montserrat"/>
                <a:sym typeface="Montserrat"/>
              </a:rPr>
              <a:t>they have on services and therefore provide knowledge on what resource allocation should be given</a:t>
            </a:r>
            <a:endParaRPr lang="en-GB" sz="1400" kern="0">
              <a:solidFill>
                <a:schemeClr val="tx2"/>
              </a:solidFill>
              <a:latin typeface="Lexend" pitchFamily="2" charset="77"/>
              <a:ea typeface="Montserrat"/>
              <a:cs typeface="Montserrat"/>
            </a:endParaRPr>
          </a:p>
          <a:p>
            <a:pPr marL="608965" indent="-397510" defTabSz="1219170">
              <a:lnSpc>
                <a:spcPct val="115000"/>
              </a:lnSpc>
              <a:buClr>
                <a:srgbClr val="000000"/>
              </a:buClr>
              <a:buSzPts val="1100"/>
              <a:buFont typeface="Montserrat"/>
              <a:buChar char="●"/>
            </a:pPr>
            <a:r>
              <a:rPr lang="en-GB" sz="1400" kern="0">
                <a:solidFill>
                  <a:schemeClr val="tx2"/>
                </a:solidFill>
                <a:latin typeface="Lexend" pitchFamily="2" charset="77"/>
                <a:ea typeface="Montserrat"/>
                <a:cs typeface="Montserrat"/>
                <a:sym typeface="Montserrat"/>
              </a:rPr>
              <a:t>Infix has </a:t>
            </a:r>
            <a:r>
              <a:rPr lang="en-GB" sz="1400" b="1" u="sng" kern="0">
                <a:solidFill>
                  <a:schemeClr val="tx2"/>
                </a:solidFill>
                <a:latin typeface="Lexend" pitchFamily="2" charset="77"/>
                <a:ea typeface="Montserrat"/>
                <a:cs typeface="Montserrat"/>
                <a:sym typeface="Montserrat"/>
              </a:rPr>
              <a:t>digitised the format </a:t>
            </a:r>
            <a:r>
              <a:rPr lang="en-GB" sz="1400" kern="0">
                <a:solidFill>
                  <a:schemeClr val="tx2"/>
                </a:solidFill>
                <a:latin typeface="Lexend" pitchFamily="2" charset="77"/>
                <a:ea typeface="Montserrat"/>
                <a:cs typeface="Montserrat"/>
                <a:sym typeface="Montserrat"/>
              </a:rPr>
              <a:t>of surgeons waiting list and operations lists populated. It also highlights all changes made up to the day of surgery</a:t>
            </a:r>
            <a:endParaRPr lang="en-GB" sz="1400" kern="0">
              <a:solidFill>
                <a:schemeClr val="tx2"/>
              </a:solidFill>
              <a:latin typeface="Lexend" pitchFamily="2" charset="77"/>
              <a:ea typeface="Montserrat"/>
              <a:cs typeface="Montserrat"/>
            </a:endParaRPr>
          </a:p>
          <a:p>
            <a:pPr marL="608965" indent="-397510" defTabSz="1219170">
              <a:lnSpc>
                <a:spcPct val="115000"/>
              </a:lnSpc>
              <a:buClr>
                <a:srgbClr val="000000"/>
              </a:buClr>
              <a:buSzPts val="1100"/>
              <a:buFont typeface="Montserrat"/>
              <a:buChar char="●"/>
            </a:pPr>
            <a:r>
              <a:rPr lang="en-GB" sz="1400" kern="0">
                <a:solidFill>
                  <a:schemeClr val="tx2"/>
                </a:solidFill>
                <a:latin typeface="Lexend" pitchFamily="2" charset="77"/>
                <a:ea typeface="Montserrat"/>
                <a:cs typeface="Montserrat"/>
                <a:sym typeface="Montserrat"/>
              </a:rPr>
              <a:t>Following </a:t>
            </a:r>
            <a:r>
              <a:rPr lang="en-GB" sz="1400" b="1" u="sng" kern="0">
                <a:solidFill>
                  <a:schemeClr val="tx2"/>
                </a:solidFill>
                <a:latin typeface="Lexend" pitchFamily="2" charset="77"/>
                <a:ea typeface="Montserrat"/>
                <a:cs typeface="Montserrat"/>
                <a:sym typeface="Montserrat"/>
              </a:rPr>
              <a:t>user feedback</a:t>
            </a:r>
            <a:r>
              <a:rPr lang="en-GB" sz="1400" kern="0">
                <a:solidFill>
                  <a:schemeClr val="tx2"/>
                </a:solidFill>
                <a:latin typeface="Lexend" pitchFamily="2" charset="77"/>
                <a:ea typeface="Montserrat"/>
                <a:cs typeface="Montserrat"/>
                <a:sym typeface="Montserrat"/>
              </a:rPr>
              <a:t>, we have also </a:t>
            </a:r>
            <a:r>
              <a:rPr lang="en-GB" sz="1400" b="1" u="sng" kern="0">
                <a:solidFill>
                  <a:schemeClr val="tx2"/>
                </a:solidFill>
                <a:latin typeface="Lexend" pitchFamily="2" charset="77"/>
                <a:ea typeface="Montserrat"/>
                <a:cs typeface="Montserrat"/>
                <a:sym typeface="Montserrat"/>
              </a:rPr>
              <a:t>upgraded the software</a:t>
            </a:r>
            <a:r>
              <a:rPr lang="en-GB" sz="1400" kern="0">
                <a:solidFill>
                  <a:schemeClr val="tx2"/>
                </a:solidFill>
                <a:latin typeface="Lexend" pitchFamily="2" charset="77"/>
                <a:ea typeface="Montserrat"/>
                <a:cs typeface="Montserrat"/>
                <a:sym typeface="Montserrat"/>
              </a:rPr>
              <a:t> to bring a more user-friendly calendar view</a:t>
            </a:r>
            <a:endParaRPr lang="en-GB" sz="1400" kern="0">
              <a:solidFill>
                <a:schemeClr val="tx2"/>
              </a:solidFill>
              <a:latin typeface="Lexend" pitchFamily="2" charset="77"/>
              <a:ea typeface="Montserrat"/>
              <a:cs typeface="Montserrat"/>
            </a:endParaRPr>
          </a:p>
          <a:p>
            <a:pPr marL="608965" indent="-397510" defTabSz="1219170">
              <a:lnSpc>
                <a:spcPct val="115000"/>
              </a:lnSpc>
              <a:buClr>
                <a:srgbClr val="000000"/>
              </a:buClr>
              <a:buSzPts val="1100"/>
              <a:buFont typeface="Montserrat"/>
              <a:buChar char="●"/>
            </a:pPr>
            <a:r>
              <a:rPr lang="en-GB" sz="1400" kern="0">
                <a:solidFill>
                  <a:schemeClr val="tx2"/>
                </a:solidFill>
                <a:latin typeface="Lexend" pitchFamily="2" charset="77"/>
                <a:ea typeface="Montserrat"/>
                <a:cs typeface="Montserrat"/>
                <a:sym typeface="Montserrat"/>
              </a:rPr>
              <a:t>The ability to have </a:t>
            </a:r>
            <a:r>
              <a:rPr lang="en-GB" sz="1400" b="1" u="sng" kern="0">
                <a:solidFill>
                  <a:schemeClr val="tx2"/>
                </a:solidFill>
                <a:latin typeface="Lexend" pitchFamily="2" charset="77"/>
                <a:ea typeface="Montserrat"/>
                <a:cs typeface="Montserrat"/>
                <a:sym typeface="Montserrat"/>
              </a:rPr>
              <a:t>warning signs on all lists that are under-booked</a:t>
            </a:r>
            <a:r>
              <a:rPr lang="en-GB" sz="1400" kern="0">
                <a:solidFill>
                  <a:schemeClr val="tx2"/>
                </a:solidFill>
                <a:latin typeface="Lexend" pitchFamily="2" charset="77"/>
                <a:ea typeface="Montserrat"/>
                <a:cs typeface="Montserrat"/>
                <a:sym typeface="Montserrat"/>
              </a:rPr>
              <a:t>, which is not possible with paper diaries, will give the service a much more proactive approach in handling these lists.</a:t>
            </a:r>
            <a:endParaRPr lang="en-GB" sz="1400" kern="0">
              <a:solidFill>
                <a:schemeClr val="tx2"/>
              </a:solidFill>
              <a:latin typeface="Lexend" pitchFamily="2" charset="77"/>
              <a:ea typeface="Montserrat"/>
              <a:cs typeface="Montserrat"/>
            </a:endParaRPr>
          </a:p>
          <a:p>
            <a:pPr marL="608965" indent="-397510" defTabSz="1219170">
              <a:lnSpc>
                <a:spcPct val="115000"/>
              </a:lnSpc>
              <a:buClr>
                <a:srgbClr val="000000"/>
              </a:buClr>
              <a:buSzPts val="1100"/>
              <a:buFont typeface="Montserrat"/>
              <a:buChar char="●"/>
            </a:pPr>
            <a:r>
              <a:rPr lang="en-GB" sz="1400" kern="0">
                <a:solidFill>
                  <a:schemeClr val="tx2"/>
                </a:solidFill>
                <a:latin typeface="Lexend" pitchFamily="2" charset="77"/>
                <a:ea typeface="Montserrat"/>
                <a:cs typeface="Montserrat"/>
                <a:sym typeface="Montserrat"/>
              </a:rPr>
              <a:t>The dashboard Infix has provided has given the management/service leads overall </a:t>
            </a:r>
            <a:r>
              <a:rPr lang="en-GB" sz="1400" b="1" u="sng" kern="0">
                <a:solidFill>
                  <a:schemeClr val="tx2"/>
                </a:solidFill>
                <a:latin typeface="Lexend" pitchFamily="2" charset="77"/>
                <a:ea typeface="Montserrat"/>
                <a:cs typeface="Montserrat"/>
                <a:sym typeface="Montserrat"/>
              </a:rPr>
              <a:t>visibility of what the demand is across the health board</a:t>
            </a:r>
            <a:endParaRPr lang="en-GB" sz="1400" b="1" u="sng" kern="0">
              <a:solidFill>
                <a:schemeClr val="tx2"/>
              </a:solidFill>
              <a:latin typeface="Lexend" pitchFamily="2" charset="77"/>
              <a:ea typeface="Montserrat"/>
              <a:cs typeface="Montserrat"/>
            </a:endParaRPr>
          </a:p>
          <a:p>
            <a:endParaRPr lang="en-US" sz="1600">
              <a:solidFill>
                <a:schemeClr val="tx2"/>
              </a:solidFill>
              <a:latin typeface="Lexend" pitchFamily="2" charset="77"/>
            </a:endParaRPr>
          </a:p>
        </p:txBody>
      </p:sp>
      <p:sp>
        <p:nvSpPr>
          <p:cNvPr id="7" name="Content Placeholder 6">
            <a:extLst>
              <a:ext uri="{FF2B5EF4-FFF2-40B4-BE49-F238E27FC236}">
                <a16:creationId xmlns:a16="http://schemas.microsoft.com/office/drawing/2014/main" id="{0BFB0411-3381-1A27-02FC-55AE737F2B72}"/>
              </a:ext>
            </a:extLst>
          </p:cNvPr>
          <p:cNvSpPr>
            <a:spLocks noGrp="1"/>
          </p:cNvSpPr>
          <p:nvPr>
            <p:ph sz="half" idx="14"/>
          </p:nvPr>
        </p:nvSpPr>
        <p:spPr>
          <a:xfrm>
            <a:off x="432000" y="1131140"/>
            <a:ext cx="5401028" cy="4351338"/>
          </a:xfrm>
        </p:spPr>
        <p:txBody>
          <a:bodyPr vert="horz" lIns="0" tIns="0" rIns="0" bIns="0" rtlCol="0" anchor="t">
            <a:noAutofit/>
          </a:bodyPr>
          <a:lstStyle/>
          <a:p>
            <a:pPr marL="0" indent="0" defTabSz="1219170">
              <a:lnSpc>
                <a:spcPct val="115000"/>
              </a:lnSpc>
              <a:buClr>
                <a:srgbClr val="000000"/>
              </a:buClr>
              <a:buNone/>
            </a:pPr>
            <a:r>
              <a:rPr lang="en-GB" sz="2000" b="1" kern="0">
                <a:solidFill>
                  <a:schemeClr val="bg1"/>
                </a:solidFill>
                <a:latin typeface="Lexend"/>
                <a:ea typeface="Montserrat"/>
                <a:cs typeface="Montserrat"/>
                <a:sym typeface="Montserrat"/>
              </a:rPr>
              <a:t>Improved Surgical coding</a:t>
            </a:r>
          </a:p>
          <a:p>
            <a:pPr marL="608965" indent="-397510" defTabSz="1219170">
              <a:lnSpc>
                <a:spcPct val="115000"/>
              </a:lnSpc>
              <a:buClr>
                <a:srgbClr val="000000"/>
              </a:buClr>
              <a:buSzPts val="1100"/>
              <a:buFont typeface="Montserrat"/>
              <a:buChar char="●"/>
            </a:pPr>
            <a:r>
              <a:rPr lang="en-GB" sz="1400" kern="0">
                <a:solidFill>
                  <a:schemeClr val="tx2"/>
                </a:solidFill>
                <a:latin typeface="Lexend"/>
                <a:ea typeface="Montserrat"/>
                <a:cs typeface="Montserrat"/>
                <a:sym typeface="Montserrat"/>
              </a:rPr>
              <a:t>We have managed to support the </a:t>
            </a:r>
            <a:r>
              <a:rPr lang="en-GB" sz="1400" b="1" u="sng" kern="0">
                <a:solidFill>
                  <a:schemeClr val="tx2"/>
                </a:solidFill>
                <a:latin typeface="Lexend"/>
                <a:ea typeface="Montserrat"/>
                <a:cs typeface="Montserrat"/>
                <a:sym typeface="Montserrat"/>
              </a:rPr>
              <a:t>improvements of the Trak code mapping</a:t>
            </a:r>
            <a:r>
              <a:rPr lang="en-GB" sz="1400" kern="0">
                <a:solidFill>
                  <a:schemeClr val="tx2"/>
                </a:solidFill>
                <a:latin typeface="Lexend"/>
                <a:ea typeface="Montserrat"/>
                <a:cs typeface="Montserrat"/>
                <a:sym typeface="Montserrat"/>
              </a:rPr>
              <a:t> in all NHS health boards' </a:t>
            </a:r>
            <a:r>
              <a:rPr lang="en-GB" sz="1400" kern="0" err="1">
                <a:solidFill>
                  <a:schemeClr val="tx2"/>
                </a:solidFill>
                <a:latin typeface="Lexend"/>
                <a:ea typeface="Montserrat"/>
                <a:cs typeface="Montserrat"/>
                <a:sym typeface="Montserrat"/>
              </a:rPr>
              <a:t>TrakCare</a:t>
            </a:r>
            <a:r>
              <a:rPr lang="en-GB" sz="1400" kern="0">
                <a:solidFill>
                  <a:schemeClr val="tx2"/>
                </a:solidFill>
                <a:latin typeface="Lexend"/>
                <a:ea typeface="Montserrat"/>
                <a:cs typeface="Montserrat"/>
                <a:sym typeface="Montserrat"/>
              </a:rPr>
              <a:t> system. </a:t>
            </a:r>
            <a:endParaRPr lang="en-GB" sz="1400" kern="0">
              <a:solidFill>
                <a:schemeClr val="tx2"/>
              </a:solidFill>
              <a:latin typeface="Lexend"/>
              <a:ea typeface="Montserrat"/>
              <a:cs typeface="Montserrat"/>
            </a:endParaRPr>
          </a:p>
          <a:p>
            <a:pPr marL="608965" indent="-397510" defTabSz="1219170">
              <a:lnSpc>
                <a:spcPct val="115000"/>
              </a:lnSpc>
              <a:buClr>
                <a:srgbClr val="000000"/>
              </a:buClr>
              <a:buSzPts val="1100"/>
              <a:buFont typeface="Montserrat"/>
              <a:buChar char="●"/>
            </a:pPr>
            <a:r>
              <a:rPr lang="en-GB" sz="1400" kern="0">
                <a:solidFill>
                  <a:schemeClr val="tx2"/>
                </a:solidFill>
                <a:latin typeface="Lexend"/>
                <a:ea typeface="Montserrat"/>
                <a:cs typeface="Montserrat"/>
                <a:sym typeface="Montserrat"/>
              </a:rPr>
              <a:t>This has resulted in </a:t>
            </a:r>
            <a:r>
              <a:rPr lang="en-GB" sz="1400" b="1" u="sng" kern="0">
                <a:solidFill>
                  <a:schemeClr val="tx2"/>
                </a:solidFill>
                <a:latin typeface="Lexend"/>
                <a:ea typeface="Montserrat"/>
                <a:cs typeface="Montserrat"/>
                <a:sym typeface="Montserrat"/>
              </a:rPr>
              <a:t>more accurate Trak to OPCS4 </a:t>
            </a:r>
            <a:r>
              <a:rPr lang="en-GB" sz="1400" kern="0">
                <a:solidFill>
                  <a:schemeClr val="tx2"/>
                </a:solidFill>
                <a:latin typeface="Lexend"/>
                <a:ea typeface="Montserrat"/>
                <a:cs typeface="Montserrat"/>
                <a:sym typeface="Montserrat"/>
              </a:rPr>
              <a:t>mapping to reduce variability. </a:t>
            </a:r>
            <a:endParaRPr lang="en-GB" sz="1400" kern="0">
              <a:solidFill>
                <a:schemeClr val="tx2"/>
              </a:solidFill>
              <a:latin typeface="Lexend"/>
              <a:ea typeface="Montserrat"/>
              <a:cs typeface="Montserrat"/>
            </a:endParaRPr>
          </a:p>
          <a:p>
            <a:pPr marL="608965" indent="-397510" defTabSz="1219170">
              <a:lnSpc>
                <a:spcPct val="115000"/>
              </a:lnSpc>
              <a:buClr>
                <a:srgbClr val="000000"/>
              </a:buClr>
              <a:buSzPts val="1100"/>
              <a:buFont typeface="Montserrat"/>
              <a:buChar char="●"/>
            </a:pPr>
            <a:r>
              <a:rPr lang="en-GB" sz="1400" kern="0">
                <a:solidFill>
                  <a:schemeClr val="tx2"/>
                </a:solidFill>
                <a:latin typeface="Lexend"/>
                <a:ea typeface="Montserrat"/>
                <a:cs typeface="Montserrat"/>
                <a:sym typeface="Montserrat"/>
              </a:rPr>
              <a:t>We have gained </a:t>
            </a:r>
            <a:r>
              <a:rPr lang="en-GB" sz="1400" b="1" u="sng" kern="0">
                <a:solidFill>
                  <a:schemeClr val="tx2"/>
                </a:solidFill>
                <a:latin typeface="Lexend"/>
                <a:ea typeface="Montserrat"/>
                <a:cs typeface="Montserrat"/>
                <a:sym typeface="Montserrat"/>
              </a:rPr>
              <a:t>domain expertise </a:t>
            </a:r>
            <a:r>
              <a:rPr lang="en-GB" sz="1400" kern="0">
                <a:solidFill>
                  <a:schemeClr val="tx2"/>
                </a:solidFill>
                <a:latin typeface="Lexend"/>
                <a:ea typeface="Montserrat"/>
                <a:cs typeface="Montserrat"/>
                <a:sym typeface="Montserrat"/>
              </a:rPr>
              <a:t>in this area and this continued work will have a </a:t>
            </a:r>
            <a:r>
              <a:rPr lang="en-GB" sz="1400" b="1" u="sng" kern="0">
                <a:solidFill>
                  <a:schemeClr val="tx2"/>
                </a:solidFill>
                <a:latin typeface="Lexend"/>
                <a:ea typeface="Montserrat"/>
                <a:cs typeface="Montserrat"/>
                <a:sym typeface="Montserrat"/>
              </a:rPr>
              <a:t>national impact </a:t>
            </a:r>
            <a:r>
              <a:rPr lang="en-GB" sz="1400" kern="0">
                <a:solidFill>
                  <a:schemeClr val="tx2"/>
                </a:solidFill>
                <a:latin typeface="Lexend"/>
                <a:ea typeface="Montserrat"/>
                <a:cs typeface="Montserrat"/>
                <a:sym typeface="Montserrat"/>
              </a:rPr>
              <a:t>on the accuracy of surgical procedures on waiting lists.</a:t>
            </a:r>
            <a:endParaRPr lang="en-GB" sz="1400" kern="0">
              <a:solidFill>
                <a:schemeClr val="tx2"/>
              </a:solidFill>
              <a:latin typeface="Lexend"/>
              <a:ea typeface="Montserrat"/>
              <a:cs typeface="Montserrat"/>
            </a:endParaRPr>
          </a:p>
          <a:p>
            <a:pPr marL="608965" indent="-397510" defTabSz="1219170">
              <a:lnSpc>
                <a:spcPct val="114999"/>
              </a:lnSpc>
              <a:buClr>
                <a:srgbClr val="000000"/>
              </a:buClr>
              <a:buSzPts val="1100"/>
              <a:buFont typeface="Montserrat"/>
              <a:buChar char="●"/>
            </a:pPr>
            <a:r>
              <a:rPr lang="en-GB" sz="1400" b="1" u="sng" kern="0">
                <a:solidFill>
                  <a:schemeClr val="tx2"/>
                </a:solidFill>
                <a:latin typeface="Lexend"/>
                <a:ea typeface="Montserrat"/>
                <a:cs typeface="Montserrat"/>
              </a:rPr>
              <a:t>Improvement of this data quality </a:t>
            </a:r>
            <a:r>
              <a:rPr lang="en-GB" sz="1400" kern="0">
                <a:solidFill>
                  <a:schemeClr val="tx2"/>
                </a:solidFill>
                <a:latin typeface="Lexend"/>
                <a:ea typeface="Montserrat"/>
                <a:cs typeface="Montserrat"/>
              </a:rPr>
              <a:t>goes beyond Infix and will help with digital maturity across many programmes. </a:t>
            </a:r>
          </a:p>
          <a:p>
            <a:pPr marL="608965" indent="-397510">
              <a:lnSpc>
                <a:spcPct val="114999"/>
              </a:lnSpc>
              <a:buClr>
                <a:srgbClr val="000000"/>
              </a:buClr>
              <a:buSzPts val="1100"/>
              <a:buFont typeface="Montserrat"/>
              <a:buChar char="●"/>
            </a:pPr>
            <a:r>
              <a:rPr lang="en-GB" sz="1400" kern="0">
                <a:solidFill>
                  <a:schemeClr val="tx2"/>
                </a:solidFill>
                <a:latin typeface="Lexend"/>
              </a:rPr>
              <a:t>Prompts Clinicians to consider if the correct procedure has been added to the WL.</a:t>
            </a:r>
            <a:endParaRPr lang="en-GB" sz="1400" kern="0">
              <a:solidFill>
                <a:schemeClr val="tx2"/>
              </a:solidFill>
              <a:latin typeface="Lexend" pitchFamily="2" charset="77"/>
            </a:endParaRPr>
          </a:p>
          <a:p>
            <a:pPr marL="608965" indent="-397510">
              <a:lnSpc>
                <a:spcPct val="114999"/>
              </a:lnSpc>
              <a:buClr>
                <a:srgbClr val="000000"/>
              </a:buClr>
              <a:buSzPts val="1100"/>
              <a:buFont typeface="Montserrat"/>
              <a:buChar char="●"/>
            </a:pPr>
            <a:r>
              <a:rPr lang="en-GB" sz="1400" kern="0">
                <a:solidFill>
                  <a:schemeClr val="tx2"/>
                </a:solidFill>
                <a:latin typeface="Lexend"/>
              </a:rPr>
              <a:t>Initiated local discussions with Clinical teams regarding accuracy of on the day procedure coding which impacts National data being used to calculate median times.</a:t>
            </a:r>
            <a:endParaRPr lang="en-GB" sz="1400" kern="0">
              <a:solidFill>
                <a:schemeClr val="tx2"/>
              </a:solidFill>
              <a:latin typeface="Lexend" pitchFamily="2" charset="77"/>
            </a:endParaRPr>
          </a:p>
          <a:p>
            <a:endParaRPr lang="en-US" sz="1600">
              <a:solidFill>
                <a:schemeClr val="tx2"/>
              </a:solidFill>
              <a:latin typeface="Lexend" pitchFamily="2" charset="77"/>
            </a:endParaRPr>
          </a:p>
        </p:txBody>
      </p:sp>
    </p:spTree>
    <p:extLst>
      <p:ext uri="{BB962C8B-B14F-4D97-AF65-F5344CB8AC3E}">
        <p14:creationId xmlns:p14="http://schemas.microsoft.com/office/powerpoint/2010/main" val="1749637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B59F7-4562-A190-D45B-583D09A825D1}"/>
              </a:ext>
            </a:extLst>
          </p:cNvPr>
          <p:cNvSpPr>
            <a:spLocks noGrp="1"/>
          </p:cNvSpPr>
          <p:nvPr>
            <p:ph type="title"/>
          </p:nvPr>
        </p:nvSpPr>
        <p:spPr>
          <a:xfrm>
            <a:off x="432000" y="396000"/>
            <a:ext cx="10058548" cy="443198"/>
          </a:xfrm>
        </p:spPr>
        <p:txBody>
          <a:bodyPr/>
          <a:lstStyle/>
          <a:p>
            <a:r>
              <a:rPr lang="en-US" sz="3200"/>
              <a:t>Short and long-term effects</a:t>
            </a:r>
          </a:p>
        </p:txBody>
      </p:sp>
      <p:sp>
        <p:nvSpPr>
          <p:cNvPr id="4" name="Date Placeholder 3">
            <a:extLst>
              <a:ext uri="{FF2B5EF4-FFF2-40B4-BE49-F238E27FC236}">
                <a16:creationId xmlns:a16="http://schemas.microsoft.com/office/drawing/2014/main" id="{AAE64F15-7A09-8C67-1210-B6B3116B9774}"/>
              </a:ext>
            </a:extLst>
          </p:cNvPr>
          <p:cNvSpPr>
            <a:spLocks noGrp="1"/>
          </p:cNvSpPr>
          <p:nvPr>
            <p:ph type="dt" sz="half" idx="10"/>
          </p:nvPr>
        </p:nvSpPr>
        <p:spPr/>
        <p:txBody>
          <a:bodyPr/>
          <a:lstStyle/>
          <a:p>
            <a:fld id="{AE95FFC6-AAA8-2143-806B-8F39CCBC68A9}" type="datetime4">
              <a:rPr lang="en-GB" smtClean="0"/>
              <a:t>26 May 2026</a:t>
            </a:fld>
            <a:endParaRPr lang="en-GB"/>
          </a:p>
        </p:txBody>
      </p:sp>
      <p:sp>
        <p:nvSpPr>
          <p:cNvPr id="5" name="Footer Placeholder 4">
            <a:extLst>
              <a:ext uri="{FF2B5EF4-FFF2-40B4-BE49-F238E27FC236}">
                <a16:creationId xmlns:a16="http://schemas.microsoft.com/office/drawing/2014/main" id="{899DD984-3A55-FB1D-25C3-9392354406F1}"/>
              </a:ext>
            </a:extLst>
          </p:cNvPr>
          <p:cNvSpPr>
            <a:spLocks noGrp="1"/>
          </p:cNvSpPr>
          <p:nvPr>
            <p:ph type="ftr" sz="quarter" idx="11"/>
          </p:nvPr>
        </p:nvSpPr>
        <p:spPr/>
        <p:txBody>
          <a:bodyPr/>
          <a:lstStyle/>
          <a:p>
            <a:r>
              <a:rPr lang="en-GB"/>
              <a:t>Infix Support</a:t>
            </a:r>
          </a:p>
        </p:txBody>
      </p:sp>
      <p:sp>
        <p:nvSpPr>
          <p:cNvPr id="6" name="Slide Number Placeholder 5">
            <a:extLst>
              <a:ext uri="{FF2B5EF4-FFF2-40B4-BE49-F238E27FC236}">
                <a16:creationId xmlns:a16="http://schemas.microsoft.com/office/drawing/2014/main" id="{079C6CCC-C834-C86E-6404-03D24B471692}"/>
              </a:ext>
            </a:extLst>
          </p:cNvPr>
          <p:cNvSpPr>
            <a:spLocks noGrp="1"/>
          </p:cNvSpPr>
          <p:nvPr>
            <p:ph type="sldNum" sz="quarter" idx="12"/>
          </p:nvPr>
        </p:nvSpPr>
        <p:spPr/>
        <p:txBody>
          <a:bodyPr/>
          <a:lstStyle/>
          <a:p>
            <a:fld id="{9E2F006C-3F46-4694-A47B-E42E311A9BF4}" type="slidenum">
              <a:rPr lang="en-GB" smtClean="0"/>
              <a:t>8</a:t>
            </a:fld>
            <a:endParaRPr lang="en-GB"/>
          </a:p>
        </p:txBody>
      </p:sp>
      <p:graphicFrame>
        <p:nvGraphicFramePr>
          <p:cNvPr id="7" name="Content Placeholder 3">
            <a:extLst>
              <a:ext uri="{FF2B5EF4-FFF2-40B4-BE49-F238E27FC236}">
                <a16:creationId xmlns:a16="http://schemas.microsoft.com/office/drawing/2014/main" id="{A4C055F4-6EB0-94AC-41F5-569921081A81}"/>
              </a:ext>
            </a:extLst>
          </p:cNvPr>
          <p:cNvGraphicFramePr>
            <a:graphicFrameLocks noGrp="1"/>
          </p:cNvGraphicFramePr>
          <p:nvPr>
            <p:ph idx="1"/>
            <p:extLst>
              <p:ext uri="{D42A27DB-BD31-4B8C-83A1-F6EECF244321}">
                <p14:modId xmlns:p14="http://schemas.microsoft.com/office/powerpoint/2010/main" val="1207276442"/>
              </p:ext>
            </p:extLst>
          </p:nvPr>
        </p:nvGraphicFramePr>
        <p:xfrm>
          <a:off x="283356" y="1115108"/>
          <a:ext cx="5664200" cy="2520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8D364AB5-5E2E-1532-7239-1436C1C639C9}"/>
              </a:ext>
            </a:extLst>
          </p:cNvPr>
          <p:cNvSpPr txBox="1"/>
          <p:nvPr/>
        </p:nvSpPr>
        <p:spPr>
          <a:xfrm>
            <a:off x="7061006" y="1086405"/>
            <a:ext cx="4114801" cy="4019562"/>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600" b="0" i="0" u="none" strike="noStrike" kern="1200" cap="none" spc="0" normalizeH="0" baseline="0" noProof="0">
                <a:ln>
                  <a:noFill/>
                </a:ln>
                <a:solidFill>
                  <a:srgbClr val="3F3F3F"/>
                </a:solidFill>
                <a:effectLst/>
                <a:uLnTx/>
                <a:uFillTx/>
                <a:latin typeface="Lexend SemiBold" pitchFamily="2" charset="0"/>
                <a:ea typeface="+mn-ea"/>
                <a:cs typeface="+mn-cs"/>
              </a:rPr>
              <a:t>Why showing positive results: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3F3F3F"/>
                </a:solidFill>
                <a:effectLst/>
                <a:uLnTx/>
                <a:uFillTx/>
                <a:latin typeface="Lexend" pitchFamily="2" charset="0"/>
                <a:ea typeface="+mn-ea"/>
                <a:cs typeface="+mn-cs"/>
              </a:rPr>
              <a:t>‘Red triangle’ meetings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3F3F3F"/>
                </a:solidFill>
                <a:effectLst/>
                <a:uLnTx/>
                <a:uFillTx/>
                <a:latin typeface="Lexend" pitchFamily="2" charset="0"/>
                <a:ea typeface="+mn-ea"/>
                <a:cs typeface="+mn-cs"/>
              </a:rPr>
              <a:t>Short and predictable cases added</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3F3F3F"/>
                </a:solidFill>
                <a:effectLst/>
                <a:uLnTx/>
                <a:uFillTx/>
                <a:latin typeface="Lexend" pitchFamily="2" charset="0"/>
                <a:ea typeface="+mn-ea"/>
                <a:cs typeface="+mn-cs"/>
              </a:rPr>
              <a:t>Engaged users</a:t>
            </a:r>
          </a:p>
          <a:p>
            <a:pPr marL="0" marR="0" lvl="0" indent="0" algn="l" defTabSz="914400" rtl="0" eaLnBrk="1" fontAlgn="auto" latinLnBrk="0" hangingPunct="1">
              <a:lnSpc>
                <a:spcPct val="150000"/>
              </a:lnSpc>
              <a:spcBef>
                <a:spcPts val="0"/>
              </a:spcBef>
              <a:spcAft>
                <a:spcPts val="0"/>
              </a:spcAft>
              <a:buClrTx/>
              <a:buSzTx/>
              <a:buFontTx/>
              <a:buNone/>
              <a:tabLst/>
              <a:defRPr/>
            </a:pPr>
            <a:br>
              <a:rPr lang="en-GB" sz="1600">
                <a:solidFill>
                  <a:srgbClr val="3F3F3F"/>
                </a:solidFill>
                <a:latin typeface="Lexend" pitchFamily="2" charset="0"/>
              </a:rPr>
            </a:br>
            <a:r>
              <a:rPr kumimoji="0" lang="en-GB" sz="1600" b="0" i="0" u="none" strike="noStrike" kern="1200" cap="none" spc="0" normalizeH="0" baseline="0" noProof="0">
                <a:ln>
                  <a:noFill/>
                </a:ln>
                <a:solidFill>
                  <a:srgbClr val="3F3F3F"/>
                </a:solidFill>
                <a:effectLst/>
                <a:uLnTx/>
                <a:uFillTx/>
                <a:latin typeface="Lexend SemiBold" pitchFamily="2" charset="0"/>
                <a:ea typeface="+mn-ea"/>
                <a:cs typeface="+mn-cs"/>
              </a:rPr>
              <a:t>Long term effect: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3F3F3F"/>
                </a:solidFill>
                <a:effectLst/>
                <a:uLnTx/>
                <a:uFillTx/>
                <a:latin typeface="Lexend" pitchFamily="2" charset="0"/>
                <a:ea typeface="+mn-ea"/>
                <a:cs typeface="+mn-cs"/>
              </a:rPr>
              <a:t>Good initial impact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3F3F3F"/>
                </a:solidFill>
                <a:effectLst/>
                <a:uLnTx/>
                <a:uFillTx/>
                <a:latin typeface="Lexend" pitchFamily="2" charset="0"/>
                <a:ea typeface="+mn-ea"/>
                <a:cs typeface="+mn-cs"/>
              </a:rPr>
              <a:t>Plateau output gains due to lack of internal drivers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3F3F3F"/>
                </a:solidFill>
                <a:effectLst/>
                <a:uLnTx/>
                <a:uFillTx/>
                <a:latin typeface="Lexend" pitchFamily="2" charset="0"/>
                <a:ea typeface="+mn-ea"/>
                <a:cs typeface="+mn-cs"/>
              </a:rPr>
              <a:t>Return of ‘old behaviours’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a:ln>
                <a:noFill/>
              </a:ln>
              <a:solidFill>
                <a:srgbClr val="3F3F3F"/>
              </a:solidFill>
              <a:effectLst/>
              <a:uLnTx/>
              <a:uFillTx/>
              <a:latin typeface="Lexend" pitchFamily="2" charset="0"/>
              <a:ea typeface="+mn-ea"/>
              <a:cs typeface="+mn-cs"/>
            </a:endParaRPr>
          </a:p>
        </p:txBody>
      </p:sp>
      <p:grpSp>
        <p:nvGrpSpPr>
          <p:cNvPr id="15" name="Group 14">
            <a:extLst>
              <a:ext uri="{FF2B5EF4-FFF2-40B4-BE49-F238E27FC236}">
                <a16:creationId xmlns:a16="http://schemas.microsoft.com/office/drawing/2014/main" id="{6CBBBBA8-440E-E57B-1D32-2EAA833B2511}"/>
              </a:ext>
            </a:extLst>
          </p:cNvPr>
          <p:cNvGrpSpPr/>
          <p:nvPr/>
        </p:nvGrpSpPr>
        <p:grpSpPr>
          <a:xfrm>
            <a:off x="456384" y="3898662"/>
            <a:ext cx="5407703" cy="2356896"/>
            <a:chOff x="456384" y="3898662"/>
            <a:chExt cx="5407703" cy="2356896"/>
          </a:xfrm>
        </p:grpSpPr>
        <p:graphicFrame>
          <p:nvGraphicFramePr>
            <p:cNvPr id="11" name="Chart 10">
              <a:extLst>
                <a:ext uri="{FF2B5EF4-FFF2-40B4-BE49-F238E27FC236}">
                  <a16:creationId xmlns:a16="http://schemas.microsoft.com/office/drawing/2014/main" id="{5D3194A9-A9AB-4270-0293-9DD4477FF3C9}"/>
                </a:ext>
              </a:extLst>
            </p:cNvPr>
            <p:cNvGraphicFramePr/>
            <p:nvPr/>
          </p:nvGraphicFramePr>
          <p:xfrm>
            <a:off x="585888" y="3898662"/>
            <a:ext cx="5278199" cy="2221296"/>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BCE69975-4415-ACE9-C199-07BFC4337086}"/>
                </a:ext>
              </a:extLst>
            </p:cNvPr>
            <p:cNvSpPr txBox="1"/>
            <p:nvPr/>
          </p:nvSpPr>
          <p:spPr>
            <a:xfrm rot="16200000">
              <a:off x="-95851" y="5020076"/>
              <a:ext cx="1258358" cy="153888"/>
            </a:xfrm>
            <a:prstGeom prst="rect">
              <a:avLst/>
            </a:prstGeom>
            <a:noFill/>
          </p:spPr>
          <p:txBody>
            <a:bodyPr wrap="none" lIns="0" tIns="0" rIns="0" bIns="0" rtlCol="0">
              <a:spAutoFit/>
            </a:bodyPr>
            <a:lstStyle/>
            <a:p>
              <a:pPr algn="ctr"/>
              <a:r>
                <a:rPr lang="en-US" sz="1000">
                  <a:solidFill>
                    <a:schemeClr val="tx2"/>
                  </a:solidFill>
                </a:rPr>
                <a:t>Theatre Utilization %</a:t>
              </a:r>
            </a:p>
          </p:txBody>
        </p:sp>
        <p:sp>
          <p:nvSpPr>
            <p:cNvPr id="13" name="TextBox 12">
              <a:extLst>
                <a:ext uri="{FF2B5EF4-FFF2-40B4-BE49-F238E27FC236}">
                  <a16:creationId xmlns:a16="http://schemas.microsoft.com/office/drawing/2014/main" id="{3E359A78-8148-9A9E-EF54-9EDD60B5A571}"/>
                </a:ext>
              </a:extLst>
            </p:cNvPr>
            <p:cNvSpPr txBox="1"/>
            <p:nvPr/>
          </p:nvSpPr>
          <p:spPr>
            <a:xfrm>
              <a:off x="1275749" y="6101670"/>
              <a:ext cx="533800" cy="153888"/>
            </a:xfrm>
            <a:prstGeom prst="rect">
              <a:avLst/>
            </a:prstGeom>
            <a:noFill/>
          </p:spPr>
          <p:txBody>
            <a:bodyPr wrap="none" lIns="0" tIns="0" rIns="0" bIns="0" rtlCol="0">
              <a:spAutoFit/>
            </a:bodyPr>
            <a:lstStyle/>
            <a:p>
              <a:pPr algn="ctr"/>
              <a:r>
                <a:rPr lang="en-US" sz="1000"/>
                <a:t>Pre-Infix</a:t>
              </a:r>
            </a:p>
          </p:txBody>
        </p:sp>
        <p:sp>
          <p:nvSpPr>
            <p:cNvPr id="14" name="TextBox 13">
              <a:extLst>
                <a:ext uri="{FF2B5EF4-FFF2-40B4-BE49-F238E27FC236}">
                  <a16:creationId xmlns:a16="http://schemas.microsoft.com/office/drawing/2014/main" id="{8540A2E1-51F4-E3CA-A2FD-588AFC58DE83}"/>
                </a:ext>
              </a:extLst>
            </p:cNvPr>
            <p:cNvSpPr txBox="1"/>
            <p:nvPr/>
          </p:nvSpPr>
          <p:spPr>
            <a:xfrm>
              <a:off x="2671100" y="6101670"/>
              <a:ext cx="1763304" cy="153888"/>
            </a:xfrm>
            <a:prstGeom prst="rect">
              <a:avLst/>
            </a:prstGeom>
            <a:noFill/>
          </p:spPr>
          <p:txBody>
            <a:bodyPr wrap="none" lIns="0" tIns="0" rIns="0" bIns="0" rtlCol="0">
              <a:spAutoFit/>
            </a:bodyPr>
            <a:lstStyle/>
            <a:p>
              <a:pPr algn="ctr"/>
              <a:r>
                <a:rPr lang="en-US" sz="1000"/>
                <a:t>Post Infix (6 month intervals)</a:t>
              </a:r>
            </a:p>
          </p:txBody>
        </p:sp>
      </p:grpSp>
    </p:spTree>
    <p:extLst>
      <p:ext uri="{BB962C8B-B14F-4D97-AF65-F5344CB8AC3E}">
        <p14:creationId xmlns:p14="http://schemas.microsoft.com/office/powerpoint/2010/main" val="1200834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F3040-FBD2-18EF-7265-BB81FFE845C0}"/>
              </a:ext>
            </a:extLst>
          </p:cNvPr>
          <p:cNvSpPr>
            <a:spLocks noGrp="1"/>
          </p:cNvSpPr>
          <p:nvPr>
            <p:ph type="title"/>
          </p:nvPr>
        </p:nvSpPr>
        <p:spPr>
          <a:xfrm>
            <a:off x="432000" y="396000"/>
            <a:ext cx="10058548" cy="443198"/>
          </a:xfrm>
        </p:spPr>
        <p:txBody>
          <a:bodyPr/>
          <a:lstStyle/>
          <a:p>
            <a:r>
              <a:rPr lang="en-US" sz="3200"/>
              <a:t>Effects of poor use of software</a:t>
            </a:r>
          </a:p>
        </p:txBody>
      </p:sp>
      <p:sp>
        <p:nvSpPr>
          <p:cNvPr id="3" name="Date Placeholder 2">
            <a:extLst>
              <a:ext uri="{FF2B5EF4-FFF2-40B4-BE49-F238E27FC236}">
                <a16:creationId xmlns:a16="http://schemas.microsoft.com/office/drawing/2014/main" id="{0AC7AF2A-ED91-DA66-3972-4BCE0492DE89}"/>
              </a:ext>
            </a:extLst>
          </p:cNvPr>
          <p:cNvSpPr>
            <a:spLocks noGrp="1"/>
          </p:cNvSpPr>
          <p:nvPr>
            <p:ph type="dt" sz="half" idx="10"/>
          </p:nvPr>
        </p:nvSpPr>
        <p:spPr/>
        <p:txBody>
          <a:bodyPr/>
          <a:lstStyle/>
          <a:p>
            <a:fld id="{5AAC4925-84D7-3640-B54C-DE710065EBFE}" type="datetime4">
              <a:rPr lang="en-GB" smtClean="0"/>
              <a:t>26 May 2026</a:t>
            </a:fld>
            <a:endParaRPr lang="en-GB"/>
          </a:p>
        </p:txBody>
      </p:sp>
      <p:sp>
        <p:nvSpPr>
          <p:cNvPr id="4" name="Footer Placeholder 3">
            <a:extLst>
              <a:ext uri="{FF2B5EF4-FFF2-40B4-BE49-F238E27FC236}">
                <a16:creationId xmlns:a16="http://schemas.microsoft.com/office/drawing/2014/main" id="{36C04D7F-C6FC-C393-7059-FDB64170CD95}"/>
              </a:ext>
            </a:extLst>
          </p:cNvPr>
          <p:cNvSpPr>
            <a:spLocks noGrp="1"/>
          </p:cNvSpPr>
          <p:nvPr>
            <p:ph type="ftr" sz="quarter" idx="11"/>
          </p:nvPr>
        </p:nvSpPr>
        <p:spPr/>
        <p:txBody>
          <a:bodyPr/>
          <a:lstStyle/>
          <a:p>
            <a:r>
              <a:rPr lang="en-GB"/>
              <a:t>Infix Schedule: Impact so far</a:t>
            </a:r>
          </a:p>
        </p:txBody>
      </p:sp>
      <p:sp>
        <p:nvSpPr>
          <p:cNvPr id="5" name="Slide Number Placeholder 4">
            <a:extLst>
              <a:ext uri="{FF2B5EF4-FFF2-40B4-BE49-F238E27FC236}">
                <a16:creationId xmlns:a16="http://schemas.microsoft.com/office/drawing/2014/main" id="{8EF1979A-D3D1-C55D-C411-7277010C3B45}"/>
              </a:ext>
            </a:extLst>
          </p:cNvPr>
          <p:cNvSpPr>
            <a:spLocks noGrp="1"/>
          </p:cNvSpPr>
          <p:nvPr>
            <p:ph type="sldNum" sz="quarter" idx="12"/>
          </p:nvPr>
        </p:nvSpPr>
        <p:spPr/>
        <p:txBody>
          <a:bodyPr/>
          <a:lstStyle/>
          <a:p>
            <a:fld id="{9E2F006C-3F46-4694-A47B-E42E311A9BF4}" type="slidenum">
              <a:rPr lang="en-GB" smtClean="0"/>
              <a:t>9</a:t>
            </a:fld>
            <a:endParaRPr lang="en-GB"/>
          </a:p>
        </p:txBody>
      </p:sp>
      <p:sp>
        <p:nvSpPr>
          <p:cNvPr id="6" name="Content Placeholder 5">
            <a:extLst>
              <a:ext uri="{FF2B5EF4-FFF2-40B4-BE49-F238E27FC236}">
                <a16:creationId xmlns:a16="http://schemas.microsoft.com/office/drawing/2014/main" id="{6049605B-3F90-29A3-A65F-2F05C62D3FC1}"/>
              </a:ext>
            </a:extLst>
          </p:cNvPr>
          <p:cNvSpPr>
            <a:spLocks noGrp="1"/>
          </p:cNvSpPr>
          <p:nvPr>
            <p:ph sz="half" idx="13"/>
          </p:nvPr>
        </p:nvSpPr>
        <p:spPr/>
        <p: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800" b="1" i="0" u="none" strike="noStrike" kern="1200" cap="none" spc="0" normalizeH="0" baseline="0" noProof="0">
                <a:ln>
                  <a:noFill/>
                </a:ln>
                <a:solidFill>
                  <a:srgbClr val="3F3F3F"/>
                </a:solidFill>
                <a:effectLst/>
                <a:uLnTx/>
                <a:uFillTx/>
                <a:latin typeface="Lexend" pitchFamily="2" charset="77"/>
                <a:ea typeface="Roboto"/>
                <a:cs typeface="Roboto"/>
              </a:rPr>
              <a:t>The positive</a:t>
            </a:r>
            <a:r>
              <a:rPr lang="en-GB" sz="1800" b="1">
                <a:solidFill>
                  <a:srgbClr val="3F3F3F"/>
                </a:solidFill>
                <a:latin typeface="Lexend" pitchFamily="2" charset="77"/>
                <a:ea typeface="Roboto"/>
                <a:cs typeface="Roboto"/>
              </a:rPr>
              <a:t>:</a:t>
            </a:r>
            <a:endParaRPr kumimoji="0" lang="en-GB" sz="1800" b="1" i="0" u="none" strike="noStrike" kern="1200" cap="none" spc="0" normalizeH="0" baseline="0" noProof="0">
              <a:ln>
                <a:noFill/>
              </a:ln>
              <a:solidFill>
                <a:srgbClr val="3F3F3F"/>
              </a:solidFill>
              <a:effectLst/>
              <a:uLnTx/>
              <a:uFillTx/>
              <a:latin typeface="Lexend" pitchFamily="2" charset="77"/>
              <a:ea typeface="Roboto" panose="02000000000000000000" pitchFamily="2" charset="0"/>
              <a:cs typeface="Roboto" panose="02000000000000000000" pitchFamily="2" charset="0"/>
            </a:endParaRP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600" u="none" strike="noStrike" kern="1200" cap="none" spc="0" normalizeH="0" baseline="0" noProof="0">
                <a:ln>
                  <a:noFill/>
                </a:ln>
                <a:solidFill>
                  <a:srgbClr val="3F3F3F"/>
                </a:solidFill>
                <a:effectLst/>
                <a:uLnTx/>
                <a:uFillTx/>
                <a:latin typeface="Lexend" pitchFamily="2" charset="77"/>
                <a:ea typeface="Roboto"/>
                <a:cs typeface="Roboto"/>
              </a:rPr>
              <a:t>The infix schedule software is predicting </a:t>
            </a:r>
            <a:r>
              <a:rPr lang="en-GB" sz="1600">
                <a:solidFill>
                  <a:srgbClr val="3F3F3F"/>
                </a:solidFill>
                <a:latin typeface="Lexend" pitchFamily="2" charset="77"/>
                <a:ea typeface="Roboto"/>
                <a:cs typeface="Roboto"/>
              </a:rPr>
              <a:t>underutilisation</a:t>
            </a:r>
            <a:r>
              <a:rPr kumimoji="0" lang="en-GB" sz="1600" u="none" strike="noStrike" kern="1200" cap="none" spc="0" normalizeH="0" baseline="0" noProof="0">
                <a:ln>
                  <a:noFill/>
                </a:ln>
                <a:solidFill>
                  <a:srgbClr val="3F3F3F"/>
                </a:solidFill>
                <a:effectLst/>
                <a:uLnTx/>
                <a:uFillTx/>
                <a:latin typeface="Lexend" pitchFamily="2" charset="77"/>
                <a:ea typeface="Roboto"/>
                <a:cs typeface="Roboto"/>
              </a:rPr>
              <a:t> of theatres</a:t>
            </a:r>
            <a:endParaRPr lang="en-GB" sz="1600" u="none" strike="noStrike" kern="1200" cap="none" spc="0" normalizeH="0" baseline="0" noProof="0">
              <a:ln>
                <a:noFill/>
              </a:ln>
              <a:solidFill>
                <a:srgbClr val="3F3F3F"/>
              </a:solidFill>
              <a:effectLst/>
              <a:uLnTx/>
              <a:uFillTx/>
              <a:latin typeface="Lexend" pitchFamily="2" charset="77"/>
              <a:ea typeface="Roboto"/>
              <a:cs typeface="Roboto"/>
            </a:endParaRP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600" u="none" strike="noStrike" kern="1200" cap="none" spc="0" normalizeH="0" baseline="0" noProof="0">
                <a:ln>
                  <a:noFill/>
                </a:ln>
                <a:solidFill>
                  <a:srgbClr val="3F3F3F"/>
                </a:solidFill>
                <a:effectLst/>
                <a:uLnTx/>
                <a:uFillTx/>
                <a:latin typeface="Lexend" pitchFamily="2" charset="77"/>
                <a:ea typeface="Roboto"/>
                <a:cs typeface="Roboto"/>
              </a:rPr>
              <a:t>Infix operation times are closely matched to actual times</a:t>
            </a:r>
            <a:endParaRPr lang="en-GB" sz="1600" u="none" strike="noStrike" kern="1200" cap="none" spc="0" normalizeH="0" baseline="0" noProof="0">
              <a:ln>
                <a:noFill/>
              </a:ln>
              <a:solidFill>
                <a:srgbClr val="3F3F3F"/>
              </a:solidFill>
              <a:effectLst/>
              <a:uLnTx/>
              <a:uFillTx/>
              <a:latin typeface="Lexend" pitchFamily="2" charset="77"/>
              <a:ea typeface="Roboto"/>
              <a:cs typeface="Roboto"/>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800" b="1" i="0" u="none" strike="noStrike" kern="1200" cap="none" spc="0" normalizeH="0" baseline="0" noProof="0">
                <a:ln>
                  <a:noFill/>
                </a:ln>
                <a:solidFill>
                  <a:srgbClr val="3F3F3F"/>
                </a:solidFill>
                <a:effectLst/>
                <a:uLnTx/>
                <a:uFillTx/>
                <a:latin typeface="Lexend" pitchFamily="2" charset="77"/>
                <a:ea typeface="Roboto"/>
                <a:cs typeface="Roboto"/>
              </a:rPr>
              <a:t>The negative</a:t>
            </a:r>
            <a:r>
              <a:rPr lang="en-GB" sz="1800" b="1">
                <a:solidFill>
                  <a:srgbClr val="3F3F3F"/>
                </a:solidFill>
                <a:latin typeface="Lexend" pitchFamily="2" charset="77"/>
                <a:ea typeface="Roboto"/>
                <a:cs typeface="Roboto"/>
              </a:rPr>
              <a:t>:</a:t>
            </a:r>
            <a:endParaRPr lang="en-GB" sz="1800" b="1" i="0" u="none" strike="noStrike" kern="1200" cap="none" spc="0" normalizeH="0" baseline="0" noProof="0">
              <a:ln>
                <a:noFill/>
              </a:ln>
              <a:solidFill>
                <a:srgbClr val="3F3F3F"/>
              </a:solidFill>
              <a:effectLst/>
              <a:uLnTx/>
              <a:uFillTx/>
              <a:latin typeface="Lexend" pitchFamily="2" charset="77"/>
              <a:ea typeface="Roboto"/>
              <a:cs typeface="Roboto"/>
            </a:endParaRP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600" u="none" strike="noStrike" kern="1200" cap="none" spc="0" normalizeH="0" baseline="0" noProof="0">
                <a:ln>
                  <a:noFill/>
                </a:ln>
                <a:solidFill>
                  <a:srgbClr val="3F3F3F"/>
                </a:solidFill>
                <a:effectLst/>
                <a:uLnTx/>
                <a:uFillTx/>
                <a:latin typeface="Lexend" pitchFamily="2" charset="77"/>
                <a:ea typeface="Roboto"/>
                <a:cs typeface="Roboto"/>
              </a:rPr>
              <a:t>Services are not acting on the red triangles</a:t>
            </a:r>
            <a:endParaRPr lang="en-GB" sz="1600" u="none" strike="noStrike" kern="1200" cap="none" spc="0" normalizeH="0" baseline="0" noProof="0">
              <a:ln>
                <a:noFill/>
              </a:ln>
              <a:solidFill>
                <a:srgbClr val="3F3F3F"/>
              </a:solidFill>
              <a:effectLst/>
              <a:uLnTx/>
              <a:uFillTx/>
              <a:latin typeface="Lexend" pitchFamily="2" charset="77"/>
              <a:ea typeface="Roboto"/>
              <a:cs typeface="Roboto"/>
            </a:endParaRP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600" u="none" strike="noStrike" kern="1200" cap="none" spc="0" normalizeH="0" baseline="0" noProof="0">
                <a:ln>
                  <a:noFill/>
                </a:ln>
                <a:solidFill>
                  <a:srgbClr val="3F3F3F"/>
                </a:solidFill>
                <a:effectLst/>
                <a:uLnTx/>
                <a:uFillTx/>
                <a:latin typeface="Lexend" pitchFamily="2" charset="77"/>
                <a:ea typeface="Roboto"/>
                <a:cs typeface="Roboto"/>
              </a:rPr>
              <a:t>The potential of infix to deliver significant service improvement and costs savings is being lost</a:t>
            </a:r>
            <a:endParaRPr lang="en-GB" sz="1600" u="none" strike="noStrike" kern="1200" cap="none" spc="0" normalizeH="0" baseline="0" noProof="0">
              <a:ln>
                <a:noFill/>
              </a:ln>
              <a:solidFill>
                <a:srgbClr val="3F3F3F"/>
              </a:solidFill>
              <a:effectLst/>
              <a:uLnTx/>
              <a:uFillTx/>
              <a:latin typeface="Lexend" pitchFamily="2" charset="77"/>
              <a:ea typeface="Roboto"/>
              <a:cs typeface="Roboto"/>
            </a:endParaRP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a:ln>
                <a:noFill/>
              </a:ln>
              <a:solidFill>
                <a:srgbClr val="3F3F3F"/>
              </a:solidFill>
              <a:effectLst/>
              <a:uLnTx/>
              <a:uFillTx/>
              <a:latin typeface="Lexend" pitchFamily="2" charset="77"/>
              <a:ea typeface="Roboto" panose="02000000000000000000" pitchFamily="2" charset="0"/>
              <a:cs typeface="Roboto" panose="02000000000000000000" pitchFamily="2" charset="0"/>
            </a:endParaRPr>
          </a:p>
          <a:p>
            <a:endParaRPr lang="en-US" sz="1600">
              <a:latin typeface="Lexend" pitchFamily="2" charset="77"/>
            </a:endParaRPr>
          </a:p>
        </p:txBody>
      </p:sp>
      <p:sp>
        <p:nvSpPr>
          <p:cNvPr id="7" name="Content Placeholder 6">
            <a:extLst>
              <a:ext uri="{FF2B5EF4-FFF2-40B4-BE49-F238E27FC236}">
                <a16:creationId xmlns:a16="http://schemas.microsoft.com/office/drawing/2014/main" id="{1CE68B9A-98E7-3E33-0E81-AB4669D32E24}"/>
              </a:ext>
            </a:extLst>
          </p:cNvPr>
          <p:cNvSpPr>
            <a:spLocks noGrp="1"/>
          </p:cNvSpPr>
          <p:nvPr>
            <p:ph sz="half" idx="14"/>
          </p:nvPr>
        </p:nvSpPr>
        <p:spPr/>
        <p:txBody>
          <a:bodyPr/>
          <a:lstStyle/>
          <a:p>
            <a:pPr marL="0" indent="0">
              <a:lnSpc>
                <a:spcPct val="100000"/>
              </a:lnSpc>
              <a:buNone/>
            </a:pPr>
            <a:r>
              <a:rPr lang="en-GB" sz="2400" b="1">
                <a:solidFill>
                  <a:schemeClr val="tx2"/>
                </a:solidFill>
                <a:effectLst/>
                <a:latin typeface="Lexend" pitchFamily="2" charset="77"/>
                <a:ea typeface="Roboto"/>
                <a:cs typeface="Roboto"/>
              </a:rPr>
              <a:t>ENT for July had </a:t>
            </a:r>
            <a:br>
              <a:rPr lang="en-GB" sz="2400" b="1">
                <a:solidFill>
                  <a:schemeClr val="tx2"/>
                </a:solidFill>
                <a:effectLst/>
                <a:latin typeface="Lexend" pitchFamily="2" charset="77"/>
                <a:ea typeface="Roboto"/>
                <a:cs typeface="Roboto"/>
              </a:rPr>
            </a:br>
            <a:r>
              <a:rPr lang="en-GB" sz="2400" b="1">
                <a:solidFill>
                  <a:schemeClr val="tx2"/>
                </a:solidFill>
                <a:effectLst/>
                <a:latin typeface="Lexend" pitchFamily="2" charset="77"/>
                <a:ea typeface="Roboto"/>
                <a:cs typeface="Roboto"/>
              </a:rPr>
              <a:t>available minutes of </a:t>
            </a:r>
            <a:r>
              <a:rPr lang="en-GB" sz="2400" b="1" u="sng">
                <a:solidFill>
                  <a:schemeClr val="accent1"/>
                </a:solidFill>
                <a:effectLst/>
                <a:latin typeface="Lexend" pitchFamily="2" charset="77"/>
                <a:ea typeface="Roboto"/>
                <a:cs typeface="Roboto"/>
              </a:rPr>
              <a:t>3,780</a:t>
            </a:r>
            <a:r>
              <a:rPr lang="en-GB" sz="2400" b="1">
                <a:solidFill>
                  <a:schemeClr val="accent1"/>
                </a:solidFill>
                <a:effectLst/>
                <a:latin typeface="Lexend" pitchFamily="2" charset="77"/>
                <a:ea typeface="Roboto"/>
                <a:cs typeface="Roboto"/>
              </a:rPr>
              <a:t> </a:t>
            </a:r>
            <a:br>
              <a:rPr lang="en-GB" sz="2400" b="1">
                <a:solidFill>
                  <a:schemeClr val="tx2"/>
                </a:solidFill>
                <a:effectLst/>
                <a:latin typeface="Lexend" pitchFamily="2" charset="77"/>
                <a:ea typeface="Roboto"/>
                <a:cs typeface="Roboto"/>
              </a:rPr>
            </a:br>
            <a:r>
              <a:rPr lang="en-GB" sz="2400" b="1">
                <a:solidFill>
                  <a:schemeClr val="tx2"/>
                </a:solidFill>
                <a:effectLst/>
                <a:latin typeface="Lexend" pitchFamily="2" charset="77"/>
                <a:ea typeface="Roboto"/>
                <a:cs typeface="Roboto"/>
              </a:rPr>
              <a:t>and used </a:t>
            </a:r>
            <a:r>
              <a:rPr lang="en-GB" sz="2400" b="1" u="sng">
                <a:solidFill>
                  <a:schemeClr val="accent4"/>
                </a:solidFill>
                <a:effectLst/>
                <a:latin typeface="Lexend" pitchFamily="2" charset="77"/>
                <a:ea typeface="Roboto"/>
                <a:cs typeface="Roboto"/>
              </a:rPr>
              <a:t>2,504</a:t>
            </a:r>
            <a:br>
              <a:rPr lang="en-GB" sz="2400" b="1">
                <a:solidFill>
                  <a:schemeClr val="tx2"/>
                </a:solidFill>
                <a:effectLst/>
                <a:latin typeface="Lexend" pitchFamily="2" charset="77"/>
                <a:ea typeface="Roboto"/>
                <a:cs typeface="Roboto"/>
              </a:rPr>
            </a:br>
            <a:endParaRPr lang="en-GB" sz="2400">
              <a:latin typeface="Lexend SemiBold"/>
              <a:ea typeface="Roboto"/>
              <a:cs typeface="Roboto"/>
            </a:endParaRPr>
          </a:p>
          <a:p>
            <a:pPr>
              <a:lnSpc>
                <a:spcPct val="100000"/>
              </a:lnSpc>
            </a:pPr>
            <a:r>
              <a:rPr lang="en-GB" sz="1800" b="1">
                <a:effectLst/>
                <a:latin typeface="Lexend" pitchFamily="2" charset="77"/>
                <a:ea typeface="Roboto"/>
                <a:cs typeface="Roboto"/>
              </a:rPr>
              <a:t>This gave a utilisation of 66%. </a:t>
            </a:r>
            <a:br>
              <a:rPr lang="en-GB" sz="1800">
                <a:effectLst/>
                <a:latin typeface="Lexend" pitchFamily="2" charset="77"/>
                <a:ea typeface="Roboto"/>
                <a:cs typeface="Roboto"/>
              </a:rPr>
            </a:br>
            <a:r>
              <a:rPr lang="en-GB" sz="1600">
                <a:latin typeface="Lexend" pitchFamily="2" charset="77"/>
                <a:ea typeface="Roboto"/>
                <a:cs typeface="Roboto"/>
              </a:rPr>
              <a:t>A large portion of lists on Infix had "red triangles” for the month of July, which is built into the software to highlight underutilised operation lists</a:t>
            </a:r>
          </a:p>
          <a:p>
            <a:pPr>
              <a:lnSpc>
                <a:spcPct val="100000"/>
              </a:lnSpc>
            </a:pPr>
            <a:r>
              <a:rPr lang="en-GB" sz="1800" b="1">
                <a:effectLst/>
                <a:latin typeface="Lexend" pitchFamily="2" charset="77"/>
                <a:ea typeface="Roboto"/>
                <a:cs typeface="Roboto"/>
              </a:rPr>
              <a:t>The highest utilisation for 1 consultant was 93% and the lowest was 69%</a:t>
            </a:r>
            <a:br>
              <a:rPr lang="en-GB" sz="1800">
                <a:effectLst/>
                <a:latin typeface="Lexend" pitchFamily="2" charset="77"/>
                <a:ea typeface="Roboto"/>
                <a:cs typeface="Roboto"/>
              </a:rPr>
            </a:br>
            <a:r>
              <a:rPr lang="en-GB" sz="1600">
                <a:effectLst/>
                <a:latin typeface="Lexend" pitchFamily="2" charset="77"/>
                <a:ea typeface="Roboto"/>
                <a:cs typeface="Roboto"/>
              </a:rPr>
              <a:t>Significant variation in clinical behaviour</a:t>
            </a:r>
          </a:p>
          <a:p>
            <a:endParaRPr lang="en-US"/>
          </a:p>
        </p:txBody>
      </p:sp>
    </p:spTree>
    <p:extLst>
      <p:ext uri="{BB962C8B-B14F-4D97-AF65-F5344CB8AC3E}">
        <p14:creationId xmlns:p14="http://schemas.microsoft.com/office/powerpoint/2010/main" val="17584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D499D-F7D6-EDC0-36BE-DCE2A4616731}"/>
              </a:ext>
            </a:extLst>
          </p:cNvPr>
          <p:cNvSpPr>
            <a:spLocks noGrp="1"/>
          </p:cNvSpPr>
          <p:nvPr>
            <p:ph type="title"/>
          </p:nvPr>
        </p:nvSpPr>
        <p:spPr/>
        <p:txBody>
          <a:bodyPr/>
          <a:lstStyle/>
          <a:p>
            <a:r>
              <a:rPr lang="en-GB"/>
              <a:t>How can infix target improvements</a:t>
            </a:r>
          </a:p>
        </p:txBody>
      </p:sp>
      <p:sp>
        <p:nvSpPr>
          <p:cNvPr id="4" name="Date Placeholder 3">
            <a:extLst>
              <a:ext uri="{FF2B5EF4-FFF2-40B4-BE49-F238E27FC236}">
                <a16:creationId xmlns:a16="http://schemas.microsoft.com/office/drawing/2014/main" id="{35063E65-7A1C-D99F-B4DF-71BB71246A4F}"/>
              </a:ext>
            </a:extLst>
          </p:cNvPr>
          <p:cNvSpPr>
            <a:spLocks noGrp="1"/>
          </p:cNvSpPr>
          <p:nvPr>
            <p:ph type="dt" sz="half" idx="10"/>
          </p:nvPr>
        </p:nvSpPr>
        <p:spPr/>
        <p:txBody>
          <a:bodyPr/>
          <a:lstStyle/>
          <a:p>
            <a:fld id="{82FB538A-084D-C84B-AB56-96DC16EBD987}" type="datetime4">
              <a:rPr lang="en-GB" smtClean="0"/>
              <a:t>26 May 2026</a:t>
            </a:fld>
            <a:endParaRPr lang="en-GB"/>
          </a:p>
        </p:txBody>
      </p:sp>
      <p:sp>
        <p:nvSpPr>
          <p:cNvPr id="5" name="Footer Placeholder 4">
            <a:extLst>
              <a:ext uri="{FF2B5EF4-FFF2-40B4-BE49-F238E27FC236}">
                <a16:creationId xmlns:a16="http://schemas.microsoft.com/office/drawing/2014/main" id="{4AE24F58-2430-F461-E039-CF5EDFAA474E}"/>
              </a:ext>
            </a:extLst>
          </p:cNvPr>
          <p:cNvSpPr>
            <a:spLocks noGrp="1"/>
          </p:cNvSpPr>
          <p:nvPr>
            <p:ph type="ftr" sz="quarter" idx="11"/>
          </p:nvPr>
        </p:nvSpPr>
        <p:spPr/>
        <p:txBody>
          <a:bodyPr/>
          <a:lstStyle/>
          <a:p>
            <a:r>
              <a:rPr lang="en-GB"/>
              <a:t>Infix Schedule: Impact so far</a:t>
            </a:r>
          </a:p>
        </p:txBody>
      </p:sp>
      <p:sp>
        <p:nvSpPr>
          <p:cNvPr id="6" name="Slide Number Placeholder 5">
            <a:extLst>
              <a:ext uri="{FF2B5EF4-FFF2-40B4-BE49-F238E27FC236}">
                <a16:creationId xmlns:a16="http://schemas.microsoft.com/office/drawing/2014/main" id="{827ACDE0-173F-DBCE-95D6-73171240F9F8}"/>
              </a:ext>
            </a:extLst>
          </p:cNvPr>
          <p:cNvSpPr>
            <a:spLocks noGrp="1"/>
          </p:cNvSpPr>
          <p:nvPr>
            <p:ph type="sldNum" sz="quarter" idx="12"/>
          </p:nvPr>
        </p:nvSpPr>
        <p:spPr/>
        <p:txBody>
          <a:bodyPr/>
          <a:lstStyle/>
          <a:p>
            <a:fld id="{9E2F006C-3F46-4694-A47B-E42E311A9BF4}" type="slidenum">
              <a:rPr lang="en-GB" smtClean="0"/>
              <a:t>10</a:t>
            </a:fld>
            <a:endParaRPr lang="en-GB"/>
          </a:p>
        </p:txBody>
      </p:sp>
      <p:grpSp>
        <p:nvGrpSpPr>
          <p:cNvPr id="3" name="Group 2">
            <a:extLst>
              <a:ext uri="{FF2B5EF4-FFF2-40B4-BE49-F238E27FC236}">
                <a16:creationId xmlns:a16="http://schemas.microsoft.com/office/drawing/2014/main" id="{EDD8C240-3E68-1E9E-FAFA-F3C6A35273E6}"/>
              </a:ext>
            </a:extLst>
          </p:cNvPr>
          <p:cNvGrpSpPr/>
          <p:nvPr/>
        </p:nvGrpSpPr>
        <p:grpSpPr>
          <a:xfrm>
            <a:off x="5107908" y="1516879"/>
            <a:ext cx="6563292" cy="4418851"/>
            <a:chOff x="3874366" y="1303769"/>
            <a:chExt cx="7405561" cy="4985923"/>
          </a:xfrm>
        </p:grpSpPr>
        <p:pic>
          <p:nvPicPr>
            <p:cNvPr id="8" name="Picture 7">
              <a:extLst>
                <a:ext uri="{FF2B5EF4-FFF2-40B4-BE49-F238E27FC236}">
                  <a16:creationId xmlns:a16="http://schemas.microsoft.com/office/drawing/2014/main" id="{692873AC-24B0-04EE-1266-FEC8F363AB38}"/>
                </a:ext>
              </a:extLst>
            </p:cNvPr>
            <p:cNvPicPr>
              <a:picLocks noChangeAspect="1"/>
            </p:cNvPicPr>
            <p:nvPr/>
          </p:nvPicPr>
          <p:blipFill>
            <a:blip r:embed="rId2"/>
            <a:stretch>
              <a:fillRect/>
            </a:stretch>
          </p:blipFill>
          <p:spPr>
            <a:xfrm>
              <a:off x="3874366" y="1303769"/>
              <a:ext cx="7405561" cy="4985923"/>
            </a:xfrm>
            <a:prstGeom prst="rect">
              <a:avLst/>
            </a:prstGeom>
          </p:spPr>
        </p:pic>
        <p:sp>
          <p:nvSpPr>
            <p:cNvPr id="9" name="Rectangle 8">
              <a:extLst>
                <a:ext uri="{FF2B5EF4-FFF2-40B4-BE49-F238E27FC236}">
                  <a16:creationId xmlns:a16="http://schemas.microsoft.com/office/drawing/2014/main" id="{555909CF-7B41-5381-4CF6-9A4ECD7A94D6}"/>
                </a:ext>
              </a:extLst>
            </p:cNvPr>
            <p:cNvSpPr/>
            <p:nvPr/>
          </p:nvSpPr>
          <p:spPr>
            <a:xfrm>
              <a:off x="5474309" y="1647527"/>
              <a:ext cx="1635280" cy="2657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438A8E8F-C9C5-F383-1590-7F6D15DCA8A1}"/>
                </a:ext>
              </a:extLst>
            </p:cNvPr>
            <p:cNvSpPr/>
            <p:nvPr/>
          </p:nvSpPr>
          <p:spPr>
            <a:xfrm>
              <a:off x="6184415" y="1375940"/>
              <a:ext cx="925174" cy="12661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5CC43FC4-1662-C214-C513-965A6CB4FD9F}"/>
                </a:ext>
              </a:extLst>
            </p:cNvPr>
            <p:cNvSpPr/>
            <p:nvPr/>
          </p:nvSpPr>
          <p:spPr>
            <a:xfrm>
              <a:off x="5973679" y="2775780"/>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A17D3699-00C2-4539-DDEF-C9FD9B44D0D1}"/>
                </a:ext>
              </a:extLst>
            </p:cNvPr>
            <p:cNvSpPr/>
            <p:nvPr/>
          </p:nvSpPr>
          <p:spPr>
            <a:xfrm>
              <a:off x="6932195" y="2664995"/>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6D92F2C-7C9B-491C-BF19-1B06177B4678}"/>
                </a:ext>
              </a:extLst>
            </p:cNvPr>
            <p:cNvSpPr/>
            <p:nvPr/>
          </p:nvSpPr>
          <p:spPr>
            <a:xfrm>
              <a:off x="5058216" y="2664994"/>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15B2D5DC-77CC-C95A-E552-CC65ED6660DA}"/>
                </a:ext>
              </a:extLst>
            </p:cNvPr>
            <p:cNvSpPr/>
            <p:nvPr/>
          </p:nvSpPr>
          <p:spPr>
            <a:xfrm>
              <a:off x="5058216" y="2777785"/>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439FE3A7-55DB-6EAA-9986-97AB7AA3A2E5}"/>
                </a:ext>
              </a:extLst>
            </p:cNvPr>
            <p:cNvSpPr/>
            <p:nvPr/>
          </p:nvSpPr>
          <p:spPr>
            <a:xfrm>
              <a:off x="7823377" y="2659141"/>
              <a:ext cx="422265" cy="7804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AB76A89A-7E1D-2A44-D668-C563A51CE2DA}"/>
                </a:ext>
              </a:extLst>
            </p:cNvPr>
            <p:cNvSpPr/>
            <p:nvPr/>
          </p:nvSpPr>
          <p:spPr>
            <a:xfrm>
              <a:off x="7823377" y="2775781"/>
              <a:ext cx="422265" cy="7804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1D7DC20A-D0D2-09A2-3B21-EDAD6C72E76B}"/>
                </a:ext>
              </a:extLst>
            </p:cNvPr>
            <p:cNvSpPr/>
            <p:nvPr/>
          </p:nvSpPr>
          <p:spPr>
            <a:xfrm>
              <a:off x="6908059" y="3356811"/>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EC7A7404-0162-8046-B868-1258BEEF5D8B}"/>
                </a:ext>
              </a:extLst>
            </p:cNvPr>
            <p:cNvSpPr/>
            <p:nvPr/>
          </p:nvSpPr>
          <p:spPr>
            <a:xfrm>
              <a:off x="7823377" y="3342773"/>
              <a:ext cx="422265" cy="10026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3A5B504E-1AC7-7A27-826C-6D2B820A292A}"/>
                </a:ext>
              </a:extLst>
            </p:cNvPr>
            <p:cNvSpPr/>
            <p:nvPr/>
          </p:nvSpPr>
          <p:spPr>
            <a:xfrm>
              <a:off x="5995205" y="2664992"/>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FE0DB3DE-69C1-B153-B049-9F79B99B89C0}"/>
                </a:ext>
              </a:extLst>
            </p:cNvPr>
            <p:cNvSpPr/>
            <p:nvPr/>
          </p:nvSpPr>
          <p:spPr>
            <a:xfrm>
              <a:off x="4103772" y="3352577"/>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A332A02C-636B-BA03-3AC3-F26D824DB571}"/>
                </a:ext>
              </a:extLst>
            </p:cNvPr>
            <p:cNvSpPr/>
            <p:nvPr/>
          </p:nvSpPr>
          <p:spPr>
            <a:xfrm>
              <a:off x="4110790" y="3469328"/>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A0B384F6-C4FF-C809-61C0-33BE9B8C3653}"/>
                </a:ext>
              </a:extLst>
            </p:cNvPr>
            <p:cNvSpPr/>
            <p:nvPr/>
          </p:nvSpPr>
          <p:spPr>
            <a:xfrm>
              <a:off x="5058216" y="3342773"/>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1B71E27E-C89D-E7C3-2939-2EB5BA1F2891}"/>
                </a:ext>
              </a:extLst>
            </p:cNvPr>
            <p:cNvSpPr/>
            <p:nvPr/>
          </p:nvSpPr>
          <p:spPr>
            <a:xfrm>
              <a:off x="5973534" y="3364383"/>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FFDDD12B-4176-FB3F-5CE0-181F6F92D09B}"/>
                </a:ext>
              </a:extLst>
            </p:cNvPr>
            <p:cNvSpPr/>
            <p:nvPr/>
          </p:nvSpPr>
          <p:spPr>
            <a:xfrm>
              <a:off x="5967663" y="3493663"/>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B3DCBF1B-FAD5-635B-FBD0-58115CD96E20}"/>
                </a:ext>
              </a:extLst>
            </p:cNvPr>
            <p:cNvSpPr/>
            <p:nvPr/>
          </p:nvSpPr>
          <p:spPr>
            <a:xfrm>
              <a:off x="4103772" y="4057090"/>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51A7373E-07F7-2528-6B2C-2C3CBB21C5B2}"/>
                </a:ext>
              </a:extLst>
            </p:cNvPr>
            <p:cNvSpPr/>
            <p:nvPr/>
          </p:nvSpPr>
          <p:spPr>
            <a:xfrm>
              <a:off x="5071250" y="4057091"/>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574CAFCE-DBB2-CF05-6854-94F7577493A3}"/>
                </a:ext>
              </a:extLst>
            </p:cNvPr>
            <p:cNvSpPr/>
            <p:nvPr/>
          </p:nvSpPr>
          <p:spPr>
            <a:xfrm>
              <a:off x="5058216" y="4174590"/>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FA17DAF1-D4B4-C30A-468D-A8083D8B8BCA}"/>
                </a:ext>
              </a:extLst>
            </p:cNvPr>
            <p:cNvSpPr/>
            <p:nvPr/>
          </p:nvSpPr>
          <p:spPr>
            <a:xfrm>
              <a:off x="5982886" y="4748017"/>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F280CA7B-25DF-3A9F-3958-B9968B0ACB6A}"/>
                </a:ext>
              </a:extLst>
            </p:cNvPr>
            <p:cNvSpPr/>
            <p:nvPr/>
          </p:nvSpPr>
          <p:spPr>
            <a:xfrm>
              <a:off x="5058216" y="5453896"/>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67B7FADB-735E-53A3-D424-395672E4BC84}"/>
                </a:ext>
              </a:extLst>
            </p:cNvPr>
            <p:cNvSpPr/>
            <p:nvPr/>
          </p:nvSpPr>
          <p:spPr>
            <a:xfrm>
              <a:off x="4110790" y="4751249"/>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C4696496-3AD9-4F06-499D-231155D7F3A8}"/>
                </a:ext>
              </a:extLst>
            </p:cNvPr>
            <p:cNvSpPr/>
            <p:nvPr/>
          </p:nvSpPr>
          <p:spPr>
            <a:xfrm>
              <a:off x="5058216" y="4755233"/>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E0D748FF-220D-905D-C4DC-6DC702994E5D}"/>
                </a:ext>
              </a:extLst>
            </p:cNvPr>
            <p:cNvSpPr/>
            <p:nvPr/>
          </p:nvSpPr>
          <p:spPr>
            <a:xfrm>
              <a:off x="5058216" y="4880957"/>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9102C90D-5A63-79AD-1B84-22C13C5F8B82}"/>
                </a:ext>
              </a:extLst>
            </p:cNvPr>
            <p:cNvSpPr/>
            <p:nvPr/>
          </p:nvSpPr>
          <p:spPr>
            <a:xfrm>
              <a:off x="5980331" y="4063006"/>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43B5283C-F5F9-D283-6EC9-85E2D6FB23D5}"/>
                </a:ext>
              </a:extLst>
            </p:cNvPr>
            <p:cNvSpPr/>
            <p:nvPr/>
          </p:nvSpPr>
          <p:spPr>
            <a:xfrm>
              <a:off x="6919248" y="4061295"/>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23386807-D04F-F81B-B44E-642D5FC0D9D5}"/>
                </a:ext>
              </a:extLst>
            </p:cNvPr>
            <p:cNvSpPr/>
            <p:nvPr/>
          </p:nvSpPr>
          <p:spPr>
            <a:xfrm>
              <a:off x="7828329" y="4049959"/>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E44937F2-9700-FB0A-FDD2-36B4D594E291}"/>
                </a:ext>
              </a:extLst>
            </p:cNvPr>
            <p:cNvSpPr/>
            <p:nvPr/>
          </p:nvSpPr>
          <p:spPr>
            <a:xfrm>
              <a:off x="5979870" y="4886514"/>
              <a:ext cx="403058" cy="72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Oval 6">
            <a:extLst>
              <a:ext uri="{FF2B5EF4-FFF2-40B4-BE49-F238E27FC236}">
                <a16:creationId xmlns:a16="http://schemas.microsoft.com/office/drawing/2014/main" id="{EF97EFD4-4AB7-6052-9389-18957AD0E6AD}"/>
              </a:ext>
            </a:extLst>
          </p:cNvPr>
          <p:cNvSpPr/>
          <p:nvPr/>
        </p:nvSpPr>
        <p:spPr>
          <a:xfrm>
            <a:off x="7362085" y="4501677"/>
            <a:ext cx="357216" cy="371079"/>
          </a:xfrm>
          <a:prstGeom prst="ellipse">
            <a:avLst/>
          </a:prstGeom>
          <a:noFill/>
          <a:ln w="317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8" name="Picture 4" descr="Skipton school bus roof ripped off in bridge crash - BBC News">
            <a:extLst>
              <a:ext uri="{FF2B5EF4-FFF2-40B4-BE49-F238E27FC236}">
                <a16:creationId xmlns:a16="http://schemas.microsoft.com/office/drawing/2014/main" id="{E77BA33D-50D5-7E69-3C9D-85D56EA0A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094" y="2365640"/>
            <a:ext cx="4852354" cy="2729449"/>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Connector: Elbow 28">
            <a:extLst>
              <a:ext uri="{FF2B5EF4-FFF2-40B4-BE49-F238E27FC236}">
                <a16:creationId xmlns:a16="http://schemas.microsoft.com/office/drawing/2014/main" id="{D7DDFDEA-FD20-F82F-7A46-E0CE636B377B}"/>
              </a:ext>
            </a:extLst>
          </p:cNvPr>
          <p:cNvCxnSpPr>
            <a:cxnSpLocks/>
            <a:stCxn id="7" idx="6"/>
            <a:endCxn id="39" idx="3"/>
          </p:cNvCxnSpPr>
          <p:nvPr/>
        </p:nvCxnSpPr>
        <p:spPr>
          <a:xfrm flipH="1">
            <a:off x="4505422" y="4687217"/>
            <a:ext cx="3213879" cy="1270106"/>
          </a:xfrm>
          <a:prstGeom prst="bentConnector3">
            <a:avLst>
              <a:gd name="adj1" fmla="val -7113"/>
            </a:avLst>
          </a:prstGeom>
          <a:ln>
            <a:tailEnd type="triangle"/>
          </a:ln>
        </p:spPr>
        <p:style>
          <a:lnRef idx="2">
            <a:schemeClr val="accent2"/>
          </a:lnRef>
          <a:fillRef idx="0">
            <a:schemeClr val="accent2"/>
          </a:fillRef>
          <a:effectRef idx="1">
            <a:schemeClr val="accent2"/>
          </a:effectRef>
          <a:fontRef idx="minor">
            <a:schemeClr val="tx1"/>
          </a:fontRef>
        </p:style>
      </p:cxnSp>
      <p:sp>
        <p:nvSpPr>
          <p:cNvPr id="39" name="TextBox 38">
            <a:extLst>
              <a:ext uri="{FF2B5EF4-FFF2-40B4-BE49-F238E27FC236}">
                <a16:creationId xmlns:a16="http://schemas.microsoft.com/office/drawing/2014/main" id="{7AB08342-848E-9849-F60A-A4B22DF885C3}"/>
              </a:ext>
            </a:extLst>
          </p:cNvPr>
          <p:cNvSpPr txBox="1"/>
          <p:nvPr/>
        </p:nvSpPr>
        <p:spPr>
          <a:xfrm>
            <a:off x="2169628" y="5264825"/>
            <a:ext cx="2335794" cy="1384995"/>
          </a:xfrm>
          <a:prstGeom prst="rect">
            <a:avLst/>
          </a:prstGeom>
          <a:noFill/>
          <a:ln w="19050">
            <a:solidFill>
              <a:schemeClr val="accent2"/>
            </a:solidFill>
            <a:extLst>
              <a:ext uri="{C807C97D-BFC1-408E-A445-0C87EB9F89A2}">
                <ask:lineSketchStyleProps xmlns:ask="http://schemas.microsoft.com/office/drawing/2018/sketchyshapes">
                  <ask:type>
                    <ask:lineSketchNone/>
                  </ask:type>
                </ask:lineSketchStyleProps>
              </a:ext>
            </a:extLst>
          </a:ln>
        </p:spPr>
        <p:txBody>
          <a:bodyPr wrap="square" rtlCol="0">
            <a:spAutoFit/>
          </a:bodyPr>
          <a:lstStyle/>
          <a:p>
            <a:r>
              <a:rPr lang="en-GB" sz="1400" dirty="0"/>
              <a:t>Despite warning teams there are under booked lists, services continue to ignore and miss opportunities to increase productivity</a:t>
            </a:r>
          </a:p>
        </p:txBody>
      </p:sp>
    </p:spTree>
    <p:extLst>
      <p:ext uri="{BB962C8B-B14F-4D97-AF65-F5344CB8AC3E}">
        <p14:creationId xmlns:p14="http://schemas.microsoft.com/office/powerpoint/2010/main" val="3865464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825F6-7FEE-ACBB-ECE7-8F545A1DAE1A}"/>
              </a:ext>
            </a:extLst>
          </p:cNvPr>
          <p:cNvSpPr>
            <a:spLocks noGrp="1"/>
          </p:cNvSpPr>
          <p:nvPr>
            <p:ph type="title"/>
          </p:nvPr>
        </p:nvSpPr>
        <p:spPr>
          <a:xfrm>
            <a:off x="432000" y="396000"/>
            <a:ext cx="10058548" cy="941796"/>
          </a:xfrm>
        </p:spPr>
        <p:txBody>
          <a:bodyPr/>
          <a:lstStyle/>
          <a:p>
            <a:r>
              <a:rPr lang="en-GB" sz="3400">
                <a:solidFill>
                  <a:schemeClr val="tx2"/>
                </a:solidFill>
              </a:rPr>
              <a:t>Data Expertise </a:t>
            </a:r>
            <a:br>
              <a:rPr lang="en-GB" sz="3400">
                <a:solidFill>
                  <a:schemeClr val="tx2"/>
                </a:solidFill>
              </a:rPr>
            </a:br>
            <a:r>
              <a:rPr lang="en-GB" sz="3400">
                <a:solidFill>
                  <a:schemeClr val="tx2"/>
                </a:solidFill>
              </a:rPr>
              <a:t>– Predictive, data-driven solution</a:t>
            </a:r>
          </a:p>
        </p:txBody>
      </p:sp>
      <p:sp>
        <p:nvSpPr>
          <p:cNvPr id="4" name="Date Placeholder 3">
            <a:extLst>
              <a:ext uri="{FF2B5EF4-FFF2-40B4-BE49-F238E27FC236}">
                <a16:creationId xmlns:a16="http://schemas.microsoft.com/office/drawing/2014/main" id="{DD0E4749-F528-B908-C645-CFF91C663442}"/>
              </a:ext>
            </a:extLst>
          </p:cNvPr>
          <p:cNvSpPr>
            <a:spLocks noGrp="1"/>
          </p:cNvSpPr>
          <p:nvPr>
            <p:ph type="dt" sz="half" idx="10"/>
          </p:nvPr>
        </p:nvSpPr>
        <p:spPr/>
        <p:txBody>
          <a:bodyPr/>
          <a:lstStyle/>
          <a:p>
            <a:fld id="{6206174D-6CA4-45A2-A160-063AF3D33A9E}" type="datetime4">
              <a:rPr lang="en-GB" smtClean="0"/>
              <a:t>26 May 2026</a:t>
            </a:fld>
            <a:endParaRPr lang="en-GB"/>
          </a:p>
        </p:txBody>
      </p:sp>
      <p:sp>
        <p:nvSpPr>
          <p:cNvPr id="6" name="Slide Number Placeholder 5">
            <a:extLst>
              <a:ext uri="{FF2B5EF4-FFF2-40B4-BE49-F238E27FC236}">
                <a16:creationId xmlns:a16="http://schemas.microsoft.com/office/drawing/2014/main" id="{029994DB-D184-0009-4B73-D4EB0254BFEA}"/>
              </a:ext>
            </a:extLst>
          </p:cNvPr>
          <p:cNvSpPr>
            <a:spLocks noGrp="1"/>
          </p:cNvSpPr>
          <p:nvPr>
            <p:ph type="sldNum" sz="quarter" idx="12"/>
          </p:nvPr>
        </p:nvSpPr>
        <p:spPr/>
        <p:txBody>
          <a:bodyPr/>
          <a:lstStyle/>
          <a:p>
            <a:fld id="{9E2F006C-3F46-4694-A47B-E42E311A9BF4}" type="slidenum">
              <a:rPr lang="en-GB" smtClean="0"/>
              <a:t>11</a:t>
            </a:fld>
            <a:endParaRPr lang="en-GB"/>
          </a:p>
        </p:txBody>
      </p:sp>
      <p:sp>
        <p:nvSpPr>
          <p:cNvPr id="5" name="Content Placeholder 2">
            <a:extLst>
              <a:ext uri="{FF2B5EF4-FFF2-40B4-BE49-F238E27FC236}">
                <a16:creationId xmlns:a16="http://schemas.microsoft.com/office/drawing/2014/main" id="{766D6BA4-C883-7D3A-28A8-4651A8F14C7B}"/>
              </a:ext>
            </a:extLst>
          </p:cNvPr>
          <p:cNvSpPr>
            <a:spLocks noGrp="1"/>
          </p:cNvSpPr>
          <p:nvPr>
            <p:ph idx="1"/>
          </p:nvPr>
        </p:nvSpPr>
        <p:spPr>
          <a:xfrm>
            <a:off x="432001" y="1440860"/>
            <a:ext cx="9048330" cy="2243888"/>
          </a:xfrm>
        </p:spPr>
        <p:txBody>
          <a:bodyPr/>
          <a:lstStyle/>
          <a:p>
            <a:pPr marL="0" indent="0">
              <a:lnSpc>
                <a:spcPct val="100000"/>
              </a:lnSpc>
              <a:buNone/>
            </a:pPr>
            <a:r>
              <a:rPr lang="en-GB" sz="1300">
                <a:latin typeface="+mn-lt"/>
              </a:rPr>
              <a:t>As quoted by world leading expert in theatre efficiency, Prof. Jaideep Pandit, Anaesthesia Consultant at the University of Oxford Hospital, this is the 1</a:t>
            </a:r>
            <a:r>
              <a:rPr lang="en-GB" sz="1300" baseline="30000">
                <a:latin typeface="+mn-lt"/>
              </a:rPr>
              <a:t>st</a:t>
            </a:r>
            <a:r>
              <a:rPr lang="en-GB" sz="1300">
                <a:latin typeface="+mn-lt"/>
              </a:rPr>
              <a:t> time he has seen data that allows a prospectively comparison of the prediction of operation times by surgeons compared to digital theatre scheduling software.</a:t>
            </a:r>
          </a:p>
          <a:p>
            <a:pPr marL="0" indent="0">
              <a:lnSpc>
                <a:spcPct val="100000"/>
              </a:lnSpc>
              <a:buNone/>
            </a:pPr>
            <a:r>
              <a:rPr lang="en-GB" sz="1300">
                <a:latin typeface="+mn-lt"/>
              </a:rPr>
              <a:t>Prof. Jaideep Pandit is currently writing an academic paper on the results Infix have collected over the last 3 years.</a:t>
            </a:r>
          </a:p>
          <a:p>
            <a:pPr marL="0" indent="0">
              <a:lnSpc>
                <a:spcPct val="100000"/>
              </a:lnSpc>
              <a:buNone/>
            </a:pPr>
            <a:r>
              <a:rPr lang="en-GB" sz="1300">
                <a:latin typeface="+mn-lt"/>
              </a:rPr>
              <a:t>As shown by the example in ENT surgery, the surgeons’ prediction are overinflated to the time that OT actual run. This manual prediction process results in significant inefficiencies in OT utilisation.</a:t>
            </a:r>
          </a:p>
          <a:p>
            <a:pPr marL="0" indent="0">
              <a:lnSpc>
                <a:spcPct val="100000"/>
              </a:lnSpc>
              <a:buNone/>
            </a:pPr>
            <a:r>
              <a:rPr lang="en-GB" sz="1300">
                <a:latin typeface="+mn-lt"/>
              </a:rPr>
              <a:t>With the use of Infix Schedule data driven predictive solution our accuracy consistently achieves over 91%, compared to that of the surgeons 81%.</a:t>
            </a:r>
          </a:p>
        </p:txBody>
      </p:sp>
      <p:grpSp>
        <p:nvGrpSpPr>
          <p:cNvPr id="22" name="Group 21">
            <a:extLst>
              <a:ext uri="{FF2B5EF4-FFF2-40B4-BE49-F238E27FC236}">
                <a16:creationId xmlns:a16="http://schemas.microsoft.com/office/drawing/2014/main" id="{655E124A-B686-DB60-0BA4-2B9CD00713C0}"/>
              </a:ext>
            </a:extLst>
          </p:cNvPr>
          <p:cNvGrpSpPr/>
          <p:nvPr/>
        </p:nvGrpSpPr>
        <p:grpSpPr>
          <a:xfrm>
            <a:off x="373280" y="3579919"/>
            <a:ext cx="9906000" cy="2692400"/>
            <a:chOff x="1143000" y="894080"/>
            <a:chExt cx="9906000" cy="2692400"/>
          </a:xfrm>
        </p:grpSpPr>
        <p:graphicFrame>
          <p:nvGraphicFramePr>
            <p:cNvPr id="23" name="Chart 22">
              <a:extLst>
                <a:ext uri="{FF2B5EF4-FFF2-40B4-BE49-F238E27FC236}">
                  <a16:creationId xmlns:a16="http://schemas.microsoft.com/office/drawing/2014/main" id="{43AF6647-A051-EB8D-6A6A-F56FADFC7436}"/>
                </a:ext>
              </a:extLst>
            </p:cNvPr>
            <p:cNvGraphicFramePr>
              <a:graphicFrameLocks/>
            </p:cNvGraphicFramePr>
            <p:nvPr/>
          </p:nvGraphicFramePr>
          <p:xfrm>
            <a:off x="1143000" y="894080"/>
            <a:ext cx="9906000" cy="2692400"/>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11">
              <a:extLst>
                <a:ext uri="{FF2B5EF4-FFF2-40B4-BE49-F238E27FC236}">
                  <a16:creationId xmlns:a16="http://schemas.microsoft.com/office/drawing/2014/main" id="{7585A34D-2518-B0D3-0497-469A911F3DDC}"/>
                </a:ext>
              </a:extLst>
            </p:cNvPr>
            <p:cNvSpPr txBox="1"/>
            <p:nvPr/>
          </p:nvSpPr>
          <p:spPr>
            <a:xfrm>
              <a:off x="1536417" y="2984793"/>
              <a:ext cx="493725" cy="138499"/>
            </a:xfrm>
            <a:prstGeom prst="rect">
              <a:avLst/>
            </a:prstGeom>
            <a:noFill/>
          </p:spPr>
          <p:txBody>
            <a:bodyPr wrap="none" lIns="0" tIns="0" rIns="0" bIns="0" rtlCol="0">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900">
                  <a:solidFill>
                    <a:schemeClr val="tx1"/>
                  </a:solidFill>
                </a:rPr>
                <a:t>Feb 2023</a:t>
              </a:r>
            </a:p>
          </p:txBody>
        </p:sp>
        <p:sp>
          <p:nvSpPr>
            <p:cNvPr id="25" name="TextBox 11">
              <a:extLst>
                <a:ext uri="{FF2B5EF4-FFF2-40B4-BE49-F238E27FC236}">
                  <a16:creationId xmlns:a16="http://schemas.microsoft.com/office/drawing/2014/main" id="{5A87580E-2E19-5D49-DDF0-17EC77461041}"/>
                </a:ext>
              </a:extLst>
            </p:cNvPr>
            <p:cNvSpPr txBox="1"/>
            <p:nvPr/>
          </p:nvSpPr>
          <p:spPr>
            <a:xfrm>
              <a:off x="10408720" y="2984792"/>
              <a:ext cx="516167" cy="138499"/>
            </a:xfrm>
            <a:prstGeom prst="rect">
              <a:avLst/>
            </a:prstGeom>
            <a:noFill/>
          </p:spPr>
          <p:txBody>
            <a:bodyPr wrap="none" lIns="0" tIns="0" rIns="0" bIns="0" rtlCol="0">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900"/>
                <a:t>Aug</a:t>
              </a:r>
              <a:r>
                <a:rPr lang="en-US" sz="900">
                  <a:solidFill>
                    <a:schemeClr val="tx1"/>
                  </a:solidFill>
                </a:rPr>
                <a:t> 2024</a:t>
              </a:r>
            </a:p>
          </p:txBody>
        </p:sp>
        <p:sp>
          <p:nvSpPr>
            <p:cNvPr id="26" name="TextBox 11">
              <a:extLst>
                <a:ext uri="{FF2B5EF4-FFF2-40B4-BE49-F238E27FC236}">
                  <a16:creationId xmlns:a16="http://schemas.microsoft.com/office/drawing/2014/main" id="{51A1FE70-64CE-9800-930C-752D61063BC5}"/>
                </a:ext>
              </a:extLst>
            </p:cNvPr>
            <p:cNvSpPr txBox="1"/>
            <p:nvPr/>
          </p:nvSpPr>
          <p:spPr>
            <a:xfrm>
              <a:off x="4486371" y="2984792"/>
              <a:ext cx="504946" cy="138499"/>
            </a:xfrm>
            <a:prstGeom prst="rect">
              <a:avLst/>
            </a:prstGeom>
            <a:noFill/>
          </p:spPr>
          <p:txBody>
            <a:bodyPr wrap="none" lIns="0" tIns="0" rIns="0" bIns="0" rtlCol="0">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900">
                  <a:solidFill>
                    <a:schemeClr val="tx1"/>
                  </a:solidFill>
                </a:rPr>
                <a:t>Aug 2023</a:t>
              </a:r>
            </a:p>
          </p:txBody>
        </p:sp>
        <p:sp>
          <p:nvSpPr>
            <p:cNvPr id="27" name="TextBox 11">
              <a:extLst>
                <a:ext uri="{FF2B5EF4-FFF2-40B4-BE49-F238E27FC236}">
                  <a16:creationId xmlns:a16="http://schemas.microsoft.com/office/drawing/2014/main" id="{41BD2335-4AE4-3E3D-E193-4ADDDA986EBA}"/>
                </a:ext>
              </a:extLst>
            </p:cNvPr>
            <p:cNvSpPr txBox="1"/>
            <p:nvPr/>
          </p:nvSpPr>
          <p:spPr>
            <a:xfrm>
              <a:off x="7447546" y="2984791"/>
              <a:ext cx="504946" cy="138499"/>
            </a:xfrm>
            <a:prstGeom prst="rect">
              <a:avLst/>
            </a:prstGeom>
            <a:noFill/>
          </p:spPr>
          <p:txBody>
            <a:bodyPr wrap="none" lIns="0" tIns="0" rIns="0" bIns="0" rtlCol="0">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900">
                  <a:solidFill>
                    <a:schemeClr val="tx1"/>
                  </a:solidFill>
                </a:rPr>
                <a:t>Feb 2024</a:t>
              </a:r>
            </a:p>
          </p:txBody>
        </p:sp>
      </p:grpSp>
    </p:spTree>
    <p:extLst>
      <p:ext uri="{BB962C8B-B14F-4D97-AF65-F5344CB8AC3E}">
        <p14:creationId xmlns:p14="http://schemas.microsoft.com/office/powerpoint/2010/main" val="919207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C31F1-348A-6CA6-9D40-58F3197BADDF}"/>
              </a:ext>
            </a:extLst>
          </p:cNvPr>
          <p:cNvSpPr>
            <a:spLocks noGrp="1"/>
          </p:cNvSpPr>
          <p:nvPr>
            <p:ph type="title"/>
          </p:nvPr>
        </p:nvSpPr>
        <p:spPr/>
        <p:txBody>
          <a:bodyPr/>
          <a:lstStyle/>
          <a:p>
            <a:r>
              <a:rPr lang="en-GB"/>
              <a:t>Surgical coding – the good</a:t>
            </a:r>
          </a:p>
        </p:txBody>
      </p:sp>
      <p:sp>
        <p:nvSpPr>
          <p:cNvPr id="3" name="Date Placeholder 2">
            <a:extLst>
              <a:ext uri="{FF2B5EF4-FFF2-40B4-BE49-F238E27FC236}">
                <a16:creationId xmlns:a16="http://schemas.microsoft.com/office/drawing/2014/main" id="{0C05C77D-DD3D-FCE4-91D9-CE1DAE8A7B79}"/>
              </a:ext>
            </a:extLst>
          </p:cNvPr>
          <p:cNvSpPr>
            <a:spLocks noGrp="1"/>
          </p:cNvSpPr>
          <p:nvPr>
            <p:ph type="dt" sz="half" idx="10"/>
          </p:nvPr>
        </p:nvSpPr>
        <p:spPr/>
        <p:txBody>
          <a:bodyPr/>
          <a:lstStyle/>
          <a:p>
            <a:fld id="{5AAC4925-84D7-3640-B54C-DE710065EBFE}" type="datetime4">
              <a:rPr lang="en-GB" smtClean="0"/>
              <a:t>26 May 2026</a:t>
            </a:fld>
            <a:endParaRPr lang="en-GB"/>
          </a:p>
        </p:txBody>
      </p:sp>
      <p:sp>
        <p:nvSpPr>
          <p:cNvPr id="4" name="Footer Placeholder 3">
            <a:extLst>
              <a:ext uri="{FF2B5EF4-FFF2-40B4-BE49-F238E27FC236}">
                <a16:creationId xmlns:a16="http://schemas.microsoft.com/office/drawing/2014/main" id="{E5F130B1-B905-A323-E24B-497E5246AEC9}"/>
              </a:ext>
            </a:extLst>
          </p:cNvPr>
          <p:cNvSpPr>
            <a:spLocks noGrp="1"/>
          </p:cNvSpPr>
          <p:nvPr>
            <p:ph type="ftr" sz="quarter" idx="11"/>
          </p:nvPr>
        </p:nvSpPr>
        <p:spPr/>
        <p:txBody>
          <a:bodyPr/>
          <a:lstStyle/>
          <a:p>
            <a:r>
              <a:rPr lang="en-GB"/>
              <a:t>Infix Schedule: Impact so far</a:t>
            </a:r>
          </a:p>
        </p:txBody>
      </p:sp>
      <p:sp>
        <p:nvSpPr>
          <p:cNvPr id="5" name="Slide Number Placeholder 4">
            <a:extLst>
              <a:ext uri="{FF2B5EF4-FFF2-40B4-BE49-F238E27FC236}">
                <a16:creationId xmlns:a16="http://schemas.microsoft.com/office/drawing/2014/main" id="{593D7810-9938-347F-EC6A-F1CBBD5CE81B}"/>
              </a:ext>
            </a:extLst>
          </p:cNvPr>
          <p:cNvSpPr>
            <a:spLocks noGrp="1"/>
          </p:cNvSpPr>
          <p:nvPr>
            <p:ph type="sldNum" sz="quarter" idx="12"/>
          </p:nvPr>
        </p:nvSpPr>
        <p:spPr/>
        <p:txBody>
          <a:bodyPr/>
          <a:lstStyle/>
          <a:p>
            <a:fld id="{9E2F006C-3F46-4694-A47B-E42E311A9BF4}" type="slidenum">
              <a:rPr lang="en-GB" smtClean="0"/>
              <a:t>12</a:t>
            </a:fld>
            <a:endParaRPr lang="en-GB"/>
          </a:p>
        </p:txBody>
      </p:sp>
      <p:sp>
        <p:nvSpPr>
          <p:cNvPr id="7" name="Content Placeholder 6">
            <a:extLst>
              <a:ext uri="{FF2B5EF4-FFF2-40B4-BE49-F238E27FC236}">
                <a16:creationId xmlns:a16="http://schemas.microsoft.com/office/drawing/2014/main" id="{82164321-037F-7F85-5F78-D3B0E24DC9A6}"/>
              </a:ext>
            </a:extLst>
          </p:cNvPr>
          <p:cNvSpPr>
            <a:spLocks noGrp="1"/>
          </p:cNvSpPr>
          <p:nvPr>
            <p:ph sz="half" idx="14"/>
          </p:nvPr>
        </p:nvSpPr>
        <p:spPr>
          <a:xfrm>
            <a:off x="142019" y="1898035"/>
            <a:ext cx="4273569" cy="4959965"/>
          </a:xfrm>
        </p:spPr>
        <p:txBody>
          <a:bodyPr/>
          <a:lstStyle/>
          <a:p>
            <a:r>
              <a:rPr lang="en-GB" sz="1800">
                <a:latin typeface="Lexend Medium"/>
              </a:rPr>
              <a:t>Ophthalmology is one of the specialities with the closest correlation of predicted operation times vs actual operation times.</a:t>
            </a:r>
          </a:p>
          <a:p>
            <a:r>
              <a:rPr lang="en-GB" sz="1800">
                <a:latin typeface="Lexend Medium"/>
              </a:rPr>
              <a:t>After 12 months of data collection it is noted the spread and specificity of the OPCS-4 codes is reflective of what has been booked by surgeons</a:t>
            </a:r>
          </a:p>
          <a:p>
            <a:r>
              <a:rPr lang="en-GB" sz="1800">
                <a:latin typeface="Lexend Medium"/>
              </a:rPr>
              <a:t>This proves if the data entry is good the output (accuracy) is good.</a:t>
            </a:r>
          </a:p>
          <a:p>
            <a:r>
              <a:rPr lang="en-GB" sz="1800">
                <a:latin typeface="Lexend Medium"/>
              </a:rPr>
              <a:t>This improvement in booking code and proper use of infix scheduling will result in significant improvements in theatre utilisation</a:t>
            </a:r>
          </a:p>
        </p:txBody>
      </p:sp>
      <p:pic>
        <p:nvPicPr>
          <p:cNvPr id="11" name="Picture 10">
            <a:extLst>
              <a:ext uri="{FF2B5EF4-FFF2-40B4-BE49-F238E27FC236}">
                <a16:creationId xmlns:a16="http://schemas.microsoft.com/office/drawing/2014/main" id="{CCCE2E36-B8C0-5064-FD3C-497D3C7219B9}"/>
              </a:ext>
            </a:extLst>
          </p:cNvPr>
          <p:cNvPicPr>
            <a:picLocks noChangeAspect="1"/>
          </p:cNvPicPr>
          <p:nvPr/>
        </p:nvPicPr>
        <p:blipFill>
          <a:blip r:embed="rId2"/>
          <a:stretch>
            <a:fillRect/>
          </a:stretch>
        </p:blipFill>
        <p:spPr>
          <a:xfrm>
            <a:off x="4847873" y="1346568"/>
            <a:ext cx="3586104" cy="1612163"/>
          </a:xfrm>
          <a:prstGeom prst="rect">
            <a:avLst/>
          </a:prstGeom>
        </p:spPr>
      </p:pic>
      <p:pic>
        <p:nvPicPr>
          <p:cNvPr id="12" name="Picture 11">
            <a:extLst>
              <a:ext uri="{FF2B5EF4-FFF2-40B4-BE49-F238E27FC236}">
                <a16:creationId xmlns:a16="http://schemas.microsoft.com/office/drawing/2014/main" id="{D1AA34AE-5631-5EFB-DD77-DADC17D000F2}"/>
              </a:ext>
            </a:extLst>
          </p:cNvPr>
          <p:cNvPicPr>
            <a:picLocks noChangeAspect="1"/>
          </p:cNvPicPr>
          <p:nvPr/>
        </p:nvPicPr>
        <p:blipFill>
          <a:blip r:embed="rId3"/>
          <a:stretch>
            <a:fillRect/>
          </a:stretch>
        </p:blipFill>
        <p:spPr>
          <a:xfrm>
            <a:off x="4847872" y="3061795"/>
            <a:ext cx="6823327" cy="3212078"/>
          </a:xfrm>
          <a:prstGeom prst="rect">
            <a:avLst/>
          </a:prstGeom>
        </p:spPr>
      </p:pic>
    </p:spTree>
    <p:extLst>
      <p:ext uri="{BB962C8B-B14F-4D97-AF65-F5344CB8AC3E}">
        <p14:creationId xmlns:p14="http://schemas.microsoft.com/office/powerpoint/2010/main" val="3462866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1801A-554F-FDB0-550F-15ADB7BF6BB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A783EC3-C0E8-2192-1C6A-60E7F657EE0A}"/>
              </a:ext>
            </a:extLst>
          </p:cNvPr>
          <p:cNvSpPr/>
          <p:nvPr/>
        </p:nvSpPr>
        <p:spPr>
          <a:xfrm>
            <a:off x="854639" y="1822784"/>
            <a:ext cx="2053862" cy="3708066"/>
          </a:xfrm>
          <a:prstGeom prst="rect">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C0B092-5B53-05EF-5938-E8BB7C35088F}"/>
              </a:ext>
            </a:extLst>
          </p:cNvPr>
          <p:cNvSpPr>
            <a:spLocks noGrp="1"/>
          </p:cNvSpPr>
          <p:nvPr>
            <p:ph type="title"/>
          </p:nvPr>
        </p:nvSpPr>
        <p:spPr>
          <a:xfrm>
            <a:off x="432000" y="396000"/>
            <a:ext cx="10058548" cy="443198"/>
          </a:xfrm>
        </p:spPr>
        <p:txBody>
          <a:bodyPr/>
          <a:lstStyle/>
          <a:p>
            <a:r>
              <a:rPr lang="en-GB" sz="3200"/>
              <a:t>Impact of work on improving data quality by infix</a:t>
            </a:r>
          </a:p>
        </p:txBody>
      </p:sp>
      <p:graphicFrame>
        <p:nvGraphicFramePr>
          <p:cNvPr id="4" name="Content Placeholder 3">
            <a:extLst>
              <a:ext uri="{FF2B5EF4-FFF2-40B4-BE49-F238E27FC236}">
                <a16:creationId xmlns:a16="http://schemas.microsoft.com/office/drawing/2014/main" id="{03189305-178D-D67B-DDD7-153FE797A74A}"/>
              </a:ext>
            </a:extLst>
          </p:cNvPr>
          <p:cNvGraphicFramePr>
            <a:graphicFrameLocks noGrp="1"/>
          </p:cNvGraphicFramePr>
          <p:nvPr>
            <p:ph idx="1"/>
            <p:extLst>
              <p:ext uri="{D42A27DB-BD31-4B8C-83A1-F6EECF244321}">
                <p14:modId xmlns:p14="http://schemas.microsoft.com/office/powerpoint/2010/main" val="2567304273"/>
              </p:ext>
            </p:extLst>
          </p:nvPr>
        </p:nvGraphicFramePr>
        <p:xfrm>
          <a:off x="373925" y="1455232"/>
          <a:ext cx="84963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6" name="Date Placeholder 5">
            <a:extLst>
              <a:ext uri="{FF2B5EF4-FFF2-40B4-BE49-F238E27FC236}">
                <a16:creationId xmlns:a16="http://schemas.microsoft.com/office/drawing/2014/main" id="{519DE489-D699-B6AF-6496-6792737B579E}"/>
              </a:ext>
            </a:extLst>
          </p:cNvPr>
          <p:cNvSpPr>
            <a:spLocks noGrp="1"/>
          </p:cNvSpPr>
          <p:nvPr>
            <p:ph type="dt" sz="half" idx="10"/>
          </p:nvPr>
        </p:nvSpPr>
        <p:spPr/>
        <p:txBody>
          <a:bodyPr/>
          <a:lstStyle/>
          <a:p>
            <a:fld id="{492A53D3-11BD-1143-8647-23D03351AF6B}" type="datetime4">
              <a:rPr lang="en-GB" smtClean="0"/>
              <a:t>26 May 2026</a:t>
            </a:fld>
            <a:endParaRPr lang="en-GB"/>
          </a:p>
        </p:txBody>
      </p:sp>
      <p:sp>
        <p:nvSpPr>
          <p:cNvPr id="7" name="Footer Placeholder 6">
            <a:extLst>
              <a:ext uri="{FF2B5EF4-FFF2-40B4-BE49-F238E27FC236}">
                <a16:creationId xmlns:a16="http://schemas.microsoft.com/office/drawing/2014/main" id="{A6084B8F-5A95-A3A0-9747-BE9759624C04}"/>
              </a:ext>
            </a:extLst>
          </p:cNvPr>
          <p:cNvSpPr>
            <a:spLocks noGrp="1"/>
          </p:cNvSpPr>
          <p:nvPr>
            <p:ph type="ftr" sz="quarter" idx="11"/>
          </p:nvPr>
        </p:nvSpPr>
        <p:spPr/>
        <p:txBody>
          <a:bodyPr/>
          <a:lstStyle/>
          <a:p>
            <a:r>
              <a:rPr lang="en-GB"/>
              <a:t>Infix Schedule: Impact so far</a:t>
            </a:r>
          </a:p>
        </p:txBody>
      </p:sp>
      <p:sp>
        <p:nvSpPr>
          <p:cNvPr id="8" name="Slide Number Placeholder 7">
            <a:extLst>
              <a:ext uri="{FF2B5EF4-FFF2-40B4-BE49-F238E27FC236}">
                <a16:creationId xmlns:a16="http://schemas.microsoft.com/office/drawing/2014/main" id="{265809DC-C6E2-686A-8960-F30D2B740C0E}"/>
              </a:ext>
            </a:extLst>
          </p:cNvPr>
          <p:cNvSpPr>
            <a:spLocks noGrp="1"/>
          </p:cNvSpPr>
          <p:nvPr>
            <p:ph type="sldNum" sz="quarter" idx="12"/>
          </p:nvPr>
        </p:nvSpPr>
        <p:spPr/>
        <p:txBody>
          <a:bodyPr/>
          <a:lstStyle/>
          <a:p>
            <a:fld id="{9E2F006C-3F46-4694-A47B-E42E311A9BF4}" type="slidenum">
              <a:rPr lang="en-GB" smtClean="0"/>
              <a:t>13</a:t>
            </a:fld>
            <a:endParaRPr lang="en-GB"/>
          </a:p>
        </p:txBody>
      </p:sp>
      <p:sp>
        <p:nvSpPr>
          <p:cNvPr id="5" name="TextBox 4">
            <a:extLst>
              <a:ext uri="{FF2B5EF4-FFF2-40B4-BE49-F238E27FC236}">
                <a16:creationId xmlns:a16="http://schemas.microsoft.com/office/drawing/2014/main" id="{77CED1C8-3EEE-9EA2-A02F-09B916B8ABCD}"/>
              </a:ext>
            </a:extLst>
          </p:cNvPr>
          <p:cNvSpPr txBox="1"/>
          <p:nvPr/>
        </p:nvSpPr>
        <p:spPr>
          <a:xfrm>
            <a:off x="1080753" y="1917367"/>
            <a:ext cx="1827748" cy="846386"/>
          </a:xfrm>
          <a:prstGeom prst="rect">
            <a:avLst/>
          </a:prstGeom>
          <a:noFill/>
        </p:spPr>
        <p:txBody>
          <a:bodyPr wrap="square" lIns="0" tIns="0" rIns="0" bIns="0" rtlCol="0">
            <a:spAutoFit/>
          </a:bodyPr>
          <a:lstStyle/>
          <a:p>
            <a:r>
              <a:rPr lang="en-GB" sz="1100">
                <a:latin typeface="Lexend"/>
              </a:rPr>
              <a:t>4-month work on surgical coding showed a significant improvement with Infix predictive accuracy</a:t>
            </a:r>
          </a:p>
        </p:txBody>
      </p:sp>
    </p:spTree>
    <p:extLst>
      <p:ext uri="{BB962C8B-B14F-4D97-AF65-F5344CB8AC3E}">
        <p14:creationId xmlns:p14="http://schemas.microsoft.com/office/powerpoint/2010/main" val="2666689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15F35-F9FE-007E-9BF0-2C14AC79C1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C7B7E-EDAD-A1EF-B1D9-600720FFEA00}"/>
              </a:ext>
            </a:extLst>
          </p:cNvPr>
          <p:cNvSpPr>
            <a:spLocks noGrp="1"/>
          </p:cNvSpPr>
          <p:nvPr>
            <p:ph type="title"/>
          </p:nvPr>
        </p:nvSpPr>
        <p:spPr/>
        <p:txBody>
          <a:bodyPr/>
          <a:lstStyle/>
          <a:p>
            <a:r>
              <a:rPr lang="en-GB"/>
              <a:t>Surgical coding – the bad</a:t>
            </a:r>
          </a:p>
        </p:txBody>
      </p:sp>
      <p:sp>
        <p:nvSpPr>
          <p:cNvPr id="3" name="Date Placeholder 2">
            <a:extLst>
              <a:ext uri="{FF2B5EF4-FFF2-40B4-BE49-F238E27FC236}">
                <a16:creationId xmlns:a16="http://schemas.microsoft.com/office/drawing/2014/main" id="{7882728C-60F8-D8B6-A825-9A33533A202D}"/>
              </a:ext>
            </a:extLst>
          </p:cNvPr>
          <p:cNvSpPr>
            <a:spLocks noGrp="1"/>
          </p:cNvSpPr>
          <p:nvPr>
            <p:ph type="dt" sz="half" idx="10"/>
          </p:nvPr>
        </p:nvSpPr>
        <p:spPr/>
        <p:txBody>
          <a:bodyPr/>
          <a:lstStyle/>
          <a:p>
            <a:fld id="{5AAC4925-84D7-3640-B54C-DE710065EBFE}" type="datetime4">
              <a:rPr lang="en-GB" smtClean="0"/>
              <a:t>26 May 2026</a:t>
            </a:fld>
            <a:endParaRPr lang="en-GB"/>
          </a:p>
        </p:txBody>
      </p:sp>
      <p:sp>
        <p:nvSpPr>
          <p:cNvPr id="4" name="Footer Placeholder 3">
            <a:extLst>
              <a:ext uri="{FF2B5EF4-FFF2-40B4-BE49-F238E27FC236}">
                <a16:creationId xmlns:a16="http://schemas.microsoft.com/office/drawing/2014/main" id="{9055B362-CA2F-68D6-9997-066E7EE65491}"/>
              </a:ext>
            </a:extLst>
          </p:cNvPr>
          <p:cNvSpPr>
            <a:spLocks noGrp="1"/>
          </p:cNvSpPr>
          <p:nvPr>
            <p:ph type="ftr" sz="quarter" idx="11"/>
          </p:nvPr>
        </p:nvSpPr>
        <p:spPr/>
        <p:txBody>
          <a:bodyPr/>
          <a:lstStyle/>
          <a:p>
            <a:r>
              <a:rPr lang="en-GB"/>
              <a:t>Infix Schedule: Impact so far</a:t>
            </a:r>
          </a:p>
        </p:txBody>
      </p:sp>
      <p:sp>
        <p:nvSpPr>
          <p:cNvPr id="5" name="Slide Number Placeholder 4">
            <a:extLst>
              <a:ext uri="{FF2B5EF4-FFF2-40B4-BE49-F238E27FC236}">
                <a16:creationId xmlns:a16="http://schemas.microsoft.com/office/drawing/2014/main" id="{FEDB6FEB-0E39-B0AF-9C65-1AB61056E0F7}"/>
              </a:ext>
            </a:extLst>
          </p:cNvPr>
          <p:cNvSpPr>
            <a:spLocks noGrp="1"/>
          </p:cNvSpPr>
          <p:nvPr>
            <p:ph type="sldNum" sz="quarter" idx="12"/>
          </p:nvPr>
        </p:nvSpPr>
        <p:spPr/>
        <p:txBody>
          <a:bodyPr/>
          <a:lstStyle/>
          <a:p>
            <a:fld id="{9E2F006C-3F46-4694-A47B-E42E311A9BF4}" type="slidenum">
              <a:rPr lang="en-GB" smtClean="0"/>
              <a:t>14</a:t>
            </a:fld>
            <a:endParaRPr lang="en-GB"/>
          </a:p>
        </p:txBody>
      </p:sp>
      <p:sp>
        <p:nvSpPr>
          <p:cNvPr id="7" name="Content Placeholder 6">
            <a:extLst>
              <a:ext uri="{FF2B5EF4-FFF2-40B4-BE49-F238E27FC236}">
                <a16:creationId xmlns:a16="http://schemas.microsoft.com/office/drawing/2014/main" id="{FA72BED2-F0D4-9BD5-4667-B2B8BE2D0AF6}"/>
              </a:ext>
            </a:extLst>
          </p:cNvPr>
          <p:cNvSpPr>
            <a:spLocks noGrp="1"/>
          </p:cNvSpPr>
          <p:nvPr>
            <p:ph sz="half" idx="14"/>
          </p:nvPr>
        </p:nvSpPr>
        <p:spPr>
          <a:xfrm>
            <a:off x="142019" y="1898035"/>
            <a:ext cx="4273569" cy="4959965"/>
          </a:xfrm>
        </p:spPr>
        <p:txBody>
          <a:bodyPr vert="horz" lIns="0" tIns="0" rIns="0" bIns="0" rtlCol="0" anchor="t">
            <a:noAutofit/>
          </a:bodyPr>
          <a:lstStyle/>
          <a:p>
            <a:r>
              <a:rPr lang="en-GB" sz="1800">
                <a:latin typeface="Lexend Medium"/>
              </a:rPr>
              <a:t>Despite awareness, training and improvement of TrakCare coding, Maxillofacial surgery still has the worst OPCS-4 coding at the point of booking.</a:t>
            </a:r>
          </a:p>
          <a:p>
            <a:r>
              <a:rPr lang="en-GB" sz="1800">
                <a:latin typeface="Lexend Medium"/>
              </a:rPr>
              <a:t>This is a mixture of old behaviours and lack of ownership from the clinical team. A variation in codes have been added but still not used.</a:t>
            </a:r>
          </a:p>
          <a:p>
            <a:r>
              <a:rPr lang="en-GB" sz="1800">
                <a:latin typeface="Lexend Medium"/>
              </a:rPr>
              <a:t>As seen the most common procedure is generic and not specific to a surgical procedure</a:t>
            </a:r>
          </a:p>
          <a:p>
            <a:r>
              <a:rPr lang="en-GB" sz="1800">
                <a:latin typeface="Lexend Medium"/>
              </a:rPr>
              <a:t>This data proves if data entry is poor then the output is inaccurate and unable to achieve the benefits the software can deliver</a:t>
            </a:r>
          </a:p>
        </p:txBody>
      </p:sp>
      <p:pic>
        <p:nvPicPr>
          <p:cNvPr id="6" name="Picture 5">
            <a:extLst>
              <a:ext uri="{FF2B5EF4-FFF2-40B4-BE49-F238E27FC236}">
                <a16:creationId xmlns:a16="http://schemas.microsoft.com/office/drawing/2014/main" id="{F87FF585-BD54-04DE-C0F5-DA130D77F8AF}"/>
              </a:ext>
            </a:extLst>
          </p:cNvPr>
          <p:cNvPicPr>
            <a:picLocks noChangeAspect="1"/>
          </p:cNvPicPr>
          <p:nvPr/>
        </p:nvPicPr>
        <p:blipFill>
          <a:blip r:embed="rId2"/>
          <a:srcRect b="6142"/>
          <a:stretch>
            <a:fillRect/>
          </a:stretch>
        </p:blipFill>
        <p:spPr>
          <a:xfrm>
            <a:off x="4847872" y="1369490"/>
            <a:ext cx="3586104" cy="1531366"/>
          </a:xfrm>
          <a:prstGeom prst="rect">
            <a:avLst/>
          </a:prstGeom>
        </p:spPr>
      </p:pic>
      <p:pic>
        <p:nvPicPr>
          <p:cNvPr id="8" name="Picture 7">
            <a:extLst>
              <a:ext uri="{FF2B5EF4-FFF2-40B4-BE49-F238E27FC236}">
                <a16:creationId xmlns:a16="http://schemas.microsoft.com/office/drawing/2014/main" id="{1DF34287-C59D-B7CE-B6E0-5AA64489B668}"/>
              </a:ext>
            </a:extLst>
          </p:cNvPr>
          <p:cNvPicPr>
            <a:picLocks noChangeAspect="1"/>
          </p:cNvPicPr>
          <p:nvPr/>
        </p:nvPicPr>
        <p:blipFill>
          <a:blip r:embed="rId3"/>
          <a:stretch>
            <a:fillRect/>
          </a:stretch>
        </p:blipFill>
        <p:spPr>
          <a:xfrm>
            <a:off x="4847872" y="2999223"/>
            <a:ext cx="6823326" cy="3177728"/>
          </a:xfrm>
          <a:prstGeom prst="rect">
            <a:avLst/>
          </a:prstGeom>
        </p:spPr>
      </p:pic>
    </p:spTree>
    <p:extLst>
      <p:ext uri="{BB962C8B-B14F-4D97-AF65-F5344CB8AC3E}">
        <p14:creationId xmlns:p14="http://schemas.microsoft.com/office/powerpoint/2010/main" val="1105788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2F0FB1-E7D8-4E3F-3C04-50F601242630}"/>
              </a:ext>
            </a:extLst>
          </p:cNvPr>
          <p:cNvSpPr>
            <a:spLocks noGrp="1"/>
          </p:cNvSpPr>
          <p:nvPr>
            <p:ph type="dt" sz="half" idx="10"/>
          </p:nvPr>
        </p:nvSpPr>
        <p:spPr/>
        <p:txBody>
          <a:bodyPr/>
          <a:lstStyle/>
          <a:p>
            <a:fld id="{82FB538A-084D-C84B-AB56-96DC16EBD987}" type="datetime4">
              <a:rPr lang="en-GB" smtClean="0"/>
              <a:t>26 May 2026</a:t>
            </a:fld>
            <a:endParaRPr lang="en-GB"/>
          </a:p>
        </p:txBody>
      </p:sp>
      <p:sp>
        <p:nvSpPr>
          <p:cNvPr id="5" name="Footer Placeholder 4">
            <a:extLst>
              <a:ext uri="{FF2B5EF4-FFF2-40B4-BE49-F238E27FC236}">
                <a16:creationId xmlns:a16="http://schemas.microsoft.com/office/drawing/2014/main" id="{77B8B430-771B-8471-149B-F1EE6C320EDB}"/>
              </a:ext>
            </a:extLst>
          </p:cNvPr>
          <p:cNvSpPr>
            <a:spLocks noGrp="1"/>
          </p:cNvSpPr>
          <p:nvPr>
            <p:ph type="ftr" sz="quarter" idx="11"/>
          </p:nvPr>
        </p:nvSpPr>
        <p:spPr/>
        <p:txBody>
          <a:bodyPr/>
          <a:lstStyle/>
          <a:p>
            <a:r>
              <a:rPr lang="en-GB"/>
              <a:t>Infix Schedule: Impact so far</a:t>
            </a:r>
          </a:p>
        </p:txBody>
      </p:sp>
      <p:sp>
        <p:nvSpPr>
          <p:cNvPr id="6" name="Slide Number Placeholder 5">
            <a:extLst>
              <a:ext uri="{FF2B5EF4-FFF2-40B4-BE49-F238E27FC236}">
                <a16:creationId xmlns:a16="http://schemas.microsoft.com/office/drawing/2014/main" id="{A4C9926D-B0FC-6F27-B1B2-2C1D07E65FA5}"/>
              </a:ext>
            </a:extLst>
          </p:cNvPr>
          <p:cNvSpPr>
            <a:spLocks noGrp="1"/>
          </p:cNvSpPr>
          <p:nvPr>
            <p:ph type="sldNum" sz="quarter" idx="12"/>
          </p:nvPr>
        </p:nvSpPr>
        <p:spPr/>
        <p:txBody>
          <a:bodyPr/>
          <a:lstStyle/>
          <a:p>
            <a:fld id="{9E2F006C-3F46-4694-A47B-E42E311A9BF4}" type="slidenum">
              <a:rPr lang="en-GB" smtClean="0"/>
              <a:t>15</a:t>
            </a:fld>
            <a:endParaRPr lang="en-GB"/>
          </a:p>
        </p:txBody>
      </p:sp>
      <p:graphicFrame>
        <p:nvGraphicFramePr>
          <p:cNvPr id="7" name="Content Placeholder 6">
            <a:extLst>
              <a:ext uri="{FF2B5EF4-FFF2-40B4-BE49-F238E27FC236}">
                <a16:creationId xmlns:a16="http://schemas.microsoft.com/office/drawing/2014/main" id="{B5FB9156-FB23-2077-C243-9D0FB2ACB63F}"/>
              </a:ext>
            </a:extLst>
          </p:cNvPr>
          <p:cNvGraphicFramePr>
            <a:graphicFrameLocks noGrp="1"/>
          </p:cNvGraphicFramePr>
          <p:nvPr>
            <p:ph idx="1"/>
            <p:extLst>
              <p:ext uri="{D42A27DB-BD31-4B8C-83A1-F6EECF244321}">
                <p14:modId xmlns:p14="http://schemas.microsoft.com/office/powerpoint/2010/main" val="2460520069"/>
              </p:ext>
            </p:extLst>
          </p:nvPr>
        </p:nvGraphicFramePr>
        <p:xfrm>
          <a:off x="432000" y="1365250"/>
          <a:ext cx="8909050" cy="47545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09885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5EAFB-0CE1-5514-2AE1-018E48A490B9}"/>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7C741B05-E75C-552B-7472-A70686D1569F}"/>
              </a:ext>
            </a:extLst>
          </p:cNvPr>
          <p:cNvSpPr>
            <a:spLocks noGrp="1"/>
          </p:cNvSpPr>
          <p:nvPr>
            <p:ph type="title"/>
          </p:nvPr>
        </p:nvSpPr>
        <p:spPr>
          <a:xfrm>
            <a:off x="432000" y="396000"/>
            <a:ext cx="10058548" cy="470898"/>
          </a:xfrm>
        </p:spPr>
        <p:txBody>
          <a:bodyPr/>
          <a:lstStyle/>
          <a:p>
            <a:r>
              <a:rPr lang="en-US" sz="3400"/>
              <a:t>Data Expertise – Infix AI analysis tool</a:t>
            </a:r>
          </a:p>
        </p:txBody>
      </p:sp>
      <p:sp>
        <p:nvSpPr>
          <p:cNvPr id="4" name="Date Placeholder 3">
            <a:extLst>
              <a:ext uri="{FF2B5EF4-FFF2-40B4-BE49-F238E27FC236}">
                <a16:creationId xmlns:a16="http://schemas.microsoft.com/office/drawing/2014/main" id="{35799ACB-2D9C-36DF-6071-3CAC572424D5}"/>
              </a:ext>
            </a:extLst>
          </p:cNvPr>
          <p:cNvSpPr>
            <a:spLocks noGrp="1"/>
          </p:cNvSpPr>
          <p:nvPr>
            <p:ph type="dt" sz="half" idx="10"/>
          </p:nvPr>
        </p:nvSpPr>
        <p:spPr>
          <a:xfrm>
            <a:off x="432000" y="6480000"/>
            <a:ext cx="2743200" cy="138499"/>
          </a:xfrm>
        </p:spPr>
        <p:txBody>
          <a:bodyPr anchor="t">
            <a:normAutofit/>
          </a:bodyPr>
          <a:lstStyle/>
          <a:p>
            <a:pPr>
              <a:spcAft>
                <a:spcPts val="600"/>
              </a:spcAft>
            </a:pPr>
            <a:fld id="{6206174D-6CA4-45A2-A160-063AF3D33A9E}" type="datetime4">
              <a:rPr lang="en-GB" smtClean="0"/>
              <a:pPr>
                <a:spcAft>
                  <a:spcPts val="600"/>
                </a:spcAft>
              </a:pPr>
              <a:t>26 May 2026</a:t>
            </a:fld>
            <a:endParaRPr lang="en-GB"/>
          </a:p>
        </p:txBody>
      </p:sp>
      <p:sp>
        <p:nvSpPr>
          <p:cNvPr id="6" name="Slide Number Placeholder 5">
            <a:extLst>
              <a:ext uri="{FF2B5EF4-FFF2-40B4-BE49-F238E27FC236}">
                <a16:creationId xmlns:a16="http://schemas.microsoft.com/office/drawing/2014/main" id="{FBF4AE16-CF2B-34E1-C92D-B15E10EAA435}"/>
              </a:ext>
            </a:extLst>
          </p:cNvPr>
          <p:cNvSpPr>
            <a:spLocks noGrp="1"/>
          </p:cNvSpPr>
          <p:nvPr>
            <p:ph type="sldNum" sz="quarter" idx="12"/>
          </p:nvPr>
        </p:nvSpPr>
        <p:spPr>
          <a:xfrm>
            <a:off x="8928000" y="6480000"/>
            <a:ext cx="2743200" cy="138499"/>
          </a:xfrm>
        </p:spPr>
        <p:txBody>
          <a:bodyPr anchor="t">
            <a:normAutofit/>
          </a:bodyPr>
          <a:lstStyle/>
          <a:p>
            <a:pPr>
              <a:spcAft>
                <a:spcPts val="600"/>
              </a:spcAft>
            </a:pPr>
            <a:fld id="{9E2F006C-3F46-4694-A47B-E42E311A9BF4}" type="slidenum">
              <a:rPr lang="en-GB" smtClean="0"/>
              <a:pPr>
                <a:spcAft>
                  <a:spcPts val="600"/>
                </a:spcAft>
              </a:pPr>
              <a:t>16</a:t>
            </a:fld>
            <a:endParaRPr lang="en-GB"/>
          </a:p>
        </p:txBody>
      </p:sp>
      <p:sp>
        <p:nvSpPr>
          <p:cNvPr id="3" name="Content Placeholder 2">
            <a:extLst>
              <a:ext uri="{FF2B5EF4-FFF2-40B4-BE49-F238E27FC236}">
                <a16:creationId xmlns:a16="http://schemas.microsoft.com/office/drawing/2014/main" id="{8AEF3E8B-DCBB-2AD9-3614-861D00690A8D}"/>
              </a:ext>
            </a:extLst>
          </p:cNvPr>
          <p:cNvSpPr>
            <a:spLocks noGrp="1"/>
          </p:cNvSpPr>
          <p:nvPr>
            <p:ph sz="half" idx="14"/>
          </p:nvPr>
        </p:nvSpPr>
        <p:spPr>
          <a:xfrm>
            <a:off x="462480" y="1212210"/>
            <a:ext cx="5176320" cy="2444382"/>
          </a:xfrm>
        </p:spPr>
        <p:txBody>
          <a:bodyPr>
            <a:normAutofit/>
          </a:bodyPr>
          <a:lstStyle/>
          <a:p>
            <a:pPr marL="0" indent="0">
              <a:lnSpc>
                <a:spcPct val="100000"/>
              </a:lnSpc>
              <a:buNone/>
            </a:pPr>
            <a:r>
              <a:rPr lang="en-GB" sz="1300">
                <a:latin typeface="+mn-lt"/>
              </a:rPr>
              <a:t>Infix use AI modelling to continue to evaluate and improve the software to ensure consistently high standards of prediction.</a:t>
            </a:r>
          </a:p>
          <a:p>
            <a:pPr marL="0" indent="0">
              <a:lnSpc>
                <a:spcPct val="100000"/>
              </a:lnSpc>
              <a:buNone/>
            </a:pPr>
            <a:r>
              <a:rPr lang="en-GB" sz="1300">
                <a:latin typeface="+mn-lt"/>
              </a:rPr>
              <a:t>With our AI analysis tool, we can run multiple scenarios to check the predicted national times with local variants to the specific hospital. The results shown in the graph indicated the one of our hospitals should switch to our database of local times. This has resulted in average accuracy levels of 94% over a 4-month period.</a:t>
            </a:r>
          </a:p>
          <a:p>
            <a:pPr marL="0" indent="0">
              <a:lnSpc>
                <a:spcPct val="100000"/>
              </a:lnSpc>
              <a:buNone/>
            </a:pPr>
            <a:r>
              <a:rPr lang="en-GB" sz="1300">
                <a:latin typeface="+mn-lt"/>
              </a:rPr>
              <a:t>Our software can switch to these new database of times overnight which will ensure Infix Schedule is always maximising the OT optimisation.</a:t>
            </a:r>
          </a:p>
          <a:p>
            <a:pPr marL="0" indent="0">
              <a:lnSpc>
                <a:spcPct val="100000"/>
              </a:lnSpc>
              <a:buNone/>
            </a:pPr>
            <a:endParaRPr lang="en-GB" sz="1300"/>
          </a:p>
          <a:p>
            <a:pPr marL="0" indent="0">
              <a:lnSpc>
                <a:spcPct val="100000"/>
              </a:lnSpc>
              <a:buNone/>
            </a:pPr>
            <a:endParaRPr lang="en-GB" sz="1300"/>
          </a:p>
        </p:txBody>
      </p:sp>
      <p:graphicFrame>
        <p:nvGraphicFramePr>
          <p:cNvPr id="12" name="Chart 11">
            <a:extLst>
              <a:ext uri="{FF2B5EF4-FFF2-40B4-BE49-F238E27FC236}">
                <a16:creationId xmlns:a16="http://schemas.microsoft.com/office/drawing/2014/main" id="{4D4D3799-019F-2BCF-2135-D840839DA75A}"/>
              </a:ext>
            </a:extLst>
          </p:cNvPr>
          <p:cNvGraphicFramePr>
            <a:graphicFrameLocks/>
          </p:cNvGraphicFramePr>
          <p:nvPr>
            <p:extLst>
              <p:ext uri="{D42A27DB-BD31-4B8C-83A1-F6EECF244321}">
                <p14:modId xmlns:p14="http://schemas.microsoft.com/office/powerpoint/2010/main" val="998597004"/>
              </p:ext>
            </p:extLst>
          </p:nvPr>
        </p:nvGraphicFramePr>
        <p:xfrm>
          <a:off x="6547755" y="1212210"/>
          <a:ext cx="4597200" cy="22884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3C71AFCF-CD5D-0DE9-51DE-EDB60FDFA9C1}"/>
              </a:ext>
            </a:extLst>
          </p:cNvPr>
          <p:cNvGraphicFramePr>
            <a:graphicFrameLocks/>
          </p:cNvGraphicFramePr>
          <p:nvPr>
            <p:extLst>
              <p:ext uri="{D42A27DB-BD31-4B8C-83A1-F6EECF244321}">
                <p14:modId xmlns:p14="http://schemas.microsoft.com/office/powerpoint/2010/main" val="3713475115"/>
              </p:ext>
            </p:extLst>
          </p:nvPr>
        </p:nvGraphicFramePr>
        <p:xfrm>
          <a:off x="6547755" y="4104867"/>
          <a:ext cx="4596063" cy="2444382"/>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2E10AD26-F808-9EDE-3181-0DC38DA1EFCB}"/>
              </a:ext>
            </a:extLst>
          </p:cNvPr>
          <p:cNvSpPr txBox="1"/>
          <p:nvPr/>
        </p:nvSpPr>
        <p:spPr>
          <a:xfrm>
            <a:off x="462481" y="4290278"/>
            <a:ext cx="5081914" cy="800219"/>
          </a:xfrm>
          <a:prstGeom prst="rect">
            <a:avLst/>
          </a:prstGeom>
          <a:noFill/>
        </p:spPr>
        <p:txBody>
          <a:bodyPr wrap="square" lIns="0" tIns="0" rIns="0" bIns="0">
            <a:spAutoFit/>
          </a:bodyPr>
          <a:lstStyle/>
          <a:p>
            <a:pPr marL="0" indent="0">
              <a:lnSpc>
                <a:spcPct val="100000"/>
              </a:lnSpc>
              <a:buNone/>
            </a:pPr>
            <a:r>
              <a:rPr lang="en-GB" sz="1300">
                <a:latin typeface="+mn-lt"/>
              </a:rPr>
              <a:t>We have also run scenarios to check the health of surgical procedure codes and in 1 hospital in NHS Scotland we improved OT prediction in urology surgery by 9.6% by replacing a commonly used wrong code at point of booking.</a:t>
            </a:r>
          </a:p>
        </p:txBody>
      </p:sp>
      <p:cxnSp>
        <p:nvCxnSpPr>
          <p:cNvPr id="5" name="Straight Connector 4">
            <a:extLst>
              <a:ext uri="{FF2B5EF4-FFF2-40B4-BE49-F238E27FC236}">
                <a16:creationId xmlns:a16="http://schemas.microsoft.com/office/drawing/2014/main" id="{9304D310-5FF0-F6B3-D1B5-5DFAEF6B4B48}"/>
              </a:ext>
            </a:extLst>
          </p:cNvPr>
          <p:cNvCxnSpPr/>
          <p:nvPr/>
        </p:nvCxnSpPr>
        <p:spPr>
          <a:xfrm>
            <a:off x="462480" y="3992880"/>
            <a:ext cx="11208720" cy="0"/>
          </a:xfrm>
          <a:prstGeom prst="line">
            <a:avLst/>
          </a:prstGeom>
          <a:ln w="3175">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4300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9A9F9-55C3-E169-FA69-F5CEDA5D4514}"/>
              </a:ext>
            </a:extLst>
          </p:cNvPr>
          <p:cNvSpPr>
            <a:spLocks noGrp="1"/>
          </p:cNvSpPr>
          <p:nvPr>
            <p:ph type="ctrTitle"/>
          </p:nvPr>
        </p:nvSpPr>
        <p:spPr>
          <a:xfrm>
            <a:off x="432000" y="2601000"/>
            <a:ext cx="9360000" cy="830997"/>
          </a:xfrm>
        </p:spPr>
        <p:txBody>
          <a:bodyPr/>
          <a:lstStyle/>
          <a:p>
            <a:r>
              <a:rPr lang="en-US"/>
              <a:t>Thank you</a:t>
            </a:r>
            <a:endParaRPr lang="en-GB"/>
          </a:p>
        </p:txBody>
      </p:sp>
      <p:sp>
        <p:nvSpPr>
          <p:cNvPr id="3" name="Subtitle 2">
            <a:extLst>
              <a:ext uri="{FF2B5EF4-FFF2-40B4-BE49-F238E27FC236}">
                <a16:creationId xmlns:a16="http://schemas.microsoft.com/office/drawing/2014/main" id="{86097AA0-F5F0-D5D4-31E4-1783B36143CF}"/>
              </a:ext>
            </a:extLst>
          </p:cNvPr>
          <p:cNvSpPr>
            <a:spLocks noGrp="1"/>
          </p:cNvSpPr>
          <p:nvPr>
            <p:ph type="subTitle" idx="1"/>
          </p:nvPr>
        </p:nvSpPr>
        <p:spPr>
          <a:xfrm>
            <a:off x="431999" y="3609722"/>
            <a:ext cx="6795277" cy="1655762"/>
          </a:xfrm>
        </p:spPr>
        <p:txBody>
          <a:bodyPr/>
          <a:lstStyle/>
          <a:p>
            <a:pPr>
              <a:lnSpc>
                <a:spcPct val="100000"/>
              </a:lnSpc>
            </a:pPr>
            <a:r>
              <a:rPr lang="en-US" sz="1800"/>
              <a:t>For more information please contact:</a:t>
            </a:r>
          </a:p>
          <a:p>
            <a:pPr>
              <a:lnSpc>
                <a:spcPct val="100000"/>
              </a:lnSpc>
            </a:pPr>
            <a:r>
              <a:rPr lang="en-US" sz="1800">
                <a:latin typeface="Lexend SemiBold" pitchFamily="2" charset="0"/>
              </a:rPr>
              <a:t>Matthew Freer, CEO</a:t>
            </a:r>
            <a:br>
              <a:rPr lang="en-US" sz="1800"/>
            </a:br>
            <a:r>
              <a:rPr lang="en-US" sz="1800">
                <a:solidFill>
                  <a:schemeClr val="tx2"/>
                </a:solidFill>
                <a:hlinkClick r:id="rId2">
                  <a:extLst>
                    <a:ext uri="{A12FA001-AC4F-418D-AE19-62706E023703}">
                      <ahyp:hlinkClr xmlns:ahyp="http://schemas.microsoft.com/office/drawing/2018/hyperlinkcolor" val="tx"/>
                    </a:ext>
                  </a:extLst>
                </a:hlinkClick>
              </a:rPr>
              <a:t>matt@infixsupport.com</a:t>
            </a:r>
            <a:endParaRPr lang="en-US" sz="1800">
              <a:solidFill>
                <a:schemeClr val="tx2"/>
              </a:solidFill>
            </a:endParaRPr>
          </a:p>
          <a:p>
            <a:pPr>
              <a:lnSpc>
                <a:spcPct val="100000"/>
              </a:lnSpc>
            </a:pPr>
            <a:endParaRPr lang="en-US" sz="1800">
              <a:solidFill>
                <a:schemeClr val="tx2"/>
              </a:solidFill>
            </a:endParaRPr>
          </a:p>
          <a:p>
            <a:pPr>
              <a:lnSpc>
                <a:spcPct val="100000"/>
              </a:lnSpc>
            </a:pPr>
            <a:r>
              <a:rPr lang="en-US" sz="1800">
                <a:solidFill>
                  <a:schemeClr val="tx2"/>
                </a:solidFill>
                <a:hlinkClick r:id="rId3">
                  <a:extLst>
                    <a:ext uri="{A12FA001-AC4F-418D-AE19-62706E023703}">
                      <ahyp:hlinkClr xmlns:ahyp="http://schemas.microsoft.com/office/drawing/2018/hyperlinkcolor" val="tx"/>
                    </a:ext>
                  </a:extLst>
                </a:hlinkClick>
              </a:rPr>
              <a:t>www.infixsupport.com</a:t>
            </a:r>
            <a:endParaRPr lang="en-GB" sz="1800">
              <a:solidFill>
                <a:schemeClr val="tx2"/>
              </a:solidFill>
            </a:endParaRPr>
          </a:p>
        </p:txBody>
      </p:sp>
    </p:spTree>
    <p:extLst>
      <p:ext uri="{BB962C8B-B14F-4D97-AF65-F5344CB8AC3E}">
        <p14:creationId xmlns:p14="http://schemas.microsoft.com/office/powerpoint/2010/main" val="891982679"/>
      </p:ext>
    </p:extLst>
  </p:cSld>
  <p:clrMapOvr>
    <a:masterClrMapping/>
  </p:clrMapOvr>
</p:sld>
</file>

<file path=ppt/theme/theme1.xml><?xml version="1.0" encoding="utf-8"?>
<a:theme xmlns:a="http://schemas.openxmlformats.org/drawingml/2006/main" name="Infix theme">
  <a:themeElements>
    <a:clrScheme name="Custom 1">
      <a:dk1>
        <a:srgbClr val="3F3F3F"/>
      </a:dk1>
      <a:lt1>
        <a:srgbClr val="FFFFFF"/>
      </a:lt1>
      <a:dk2>
        <a:srgbClr val="3F3F3F"/>
      </a:dk2>
      <a:lt2>
        <a:srgbClr val="FFFFFF"/>
      </a:lt2>
      <a:accent1>
        <a:srgbClr val="00A3FF"/>
      </a:accent1>
      <a:accent2>
        <a:srgbClr val="33D6B0"/>
      </a:accent2>
      <a:accent3>
        <a:srgbClr val="EDA651"/>
      </a:accent3>
      <a:accent4>
        <a:srgbClr val="EF4F42"/>
      </a:accent4>
      <a:accent5>
        <a:srgbClr val="BF2674"/>
      </a:accent5>
      <a:accent6>
        <a:srgbClr val="EFEEEC"/>
      </a:accent6>
      <a:hlink>
        <a:srgbClr val="00A3FF"/>
      </a:hlink>
      <a:folHlink>
        <a:srgbClr val="105D9D"/>
      </a:folHlink>
    </a:clrScheme>
    <a:fontScheme name="Infix fonts">
      <a:majorFont>
        <a:latin typeface="Lexend ExtraBold"/>
        <a:ea typeface=""/>
        <a:cs typeface=""/>
      </a:majorFont>
      <a:minorFont>
        <a:latin typeface="Lexend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nfix theme" id="{DA3459CA-6031-43B1-8B4E-5A11FF53C283}" vid="{ADD556C7-76D1-4518-BCB8-C797FF27CE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C50AD30B93444E86317D04BED291E4" ma:contentTypeVersion="15" ma:contentTypeDescription="Create a new document." ma:contentTypeScope="" ma:versionID="34aaa241be6245b3cae5ee8ebb5c9060">
  <xsd:schema xmlns:xsd="http://www.w3.org/2001/XMLSchema" xmlns:xs="http://www.w3.org/2001/XMLSchema" xmlns:p="http://schemas.microsoft.com/office/2006/metadata/properties" xmlns:ns2="7396bfa5-93b7-49a2-95aa-3aa3ab29d5a7" xmlns:ns3="87cac2f6-c825-4da6-970c-027ef8dd1746" targetNamespace="http://schemas.microsoft.com/office/2006/metadata/properties" ma:root="true" ma:fieldsID="f5de2f691c63f686eccd8d62ac616a14" ns2:_="" ns3:_="">
    <xsd:import namespace="7396bfa5-93b7-49a2-95aa-3aa3ab29d5a7"/>
    <xsd:import namespace="87cac2f6-c825-4da6-970c-027ef8dd174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96bfa5-93b7-49a2-95aa-3aa3ab29d5a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5d7762f1-45fb-46de-8bf6-2003fb154553"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cac2f6-c825-4da6-970c-027ef8dd174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1a0e63d3-bb41-454c-a691-cdf07a4db821}" ma:internalName="TaxCatchAll" ma:showField="CatchAllData" ma:web="87cac2f6-c825-4da6-970c-027ef8dd1746">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7cac2f6-c825-4da6-970c-027ef8dd1746" xsi:nil="true"/>
    <lcf76f155ced4ddcb4097134ff3c332f xmlns="7396bfa5-93b7-49a2-95aa-3aa3ab29d5a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125B4C2-6020-47EF-B983-D104D292A9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96bfa5-93b7-49a2-95aa-3aa3ab29d5a7"/>
    <ds:schemaRef ds:uri="87cac2f6-c825-4da6-970c-027ef8dd17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81EF7F6-1BE0-4F66-8C50-070435577065}">
  <ds:schemaRefs>
    <ds:schemaRef ds:uri="http://schemas.microsoft.com/sharepoint/v3/contenttype/forms"/>
  </ds:schemaRefs>
</ds:datastoreItem>
</file>

<file path=customXml/itemProps3.xml><?xml version="1.0" encoding="utf-8"?>
<ds:datastoreItem xmlns:ds="http://schemas.openxmlformats.org/officeDocument/2006/customXml" ds:itemID="{DB7E595D-874C-4E7D-BD54-E3D495CE69DE}">
  <ds:schemaRefs>
    <ds:schemaRef ds:uri="http://schemas.microsoft.com/office/2006/metadata/properties"/>
    <ds:schemaRef ds:uri="http://www.w3.org/XML/1998/namespace"/>
    <ds:schemaRef ds:uri="http://purl.org/dc/dcmitype/"/>
    <ds:schemaRef ds:uri="http://purl.org/dc/terms/"/>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87cac2f6-c825-4da6-970c-027ef8dd1746"/>
    <ds:schemaRef ds:uri="7396bfa5-93b7-49a2-95aa-3aa3ab29d5a7"/>
  </ds:schemaRefs>
</ds:datastoreItem>
</file>

<file path=docProps/app.xml><?xml version="1.0" encoding="utf-8"?>
<Properties xmlns="http://schemas.openxmlformats.org/officeDocument/2006/extended-properties" xmlns:vt="http://schemas.openxmlformats.org/officeDocument/2006/docPropsVTypes">
  <Template/>
  <TotalTime>0</TotalTime>
  <Words>1652</Words>
  <Application>Microsoft Office PowerPoint</Application>
  <PresentationFormat>Widescreen</PresentationFormat>
  <Paragraphs>220</Paragraphs>
  <Slides>17</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Aptos</vt:lpstr>
      <vt:lpstr>Arial</vt:lpstr>
      <vt:lpstr>Lexend</vt:lpstr>
      <vt:lpstr>Lexend ExtraBold</vt:lpstr>
      <vt:lpstr>Lexend Light</vt:lpstr>
      <vt:lpstr>Lexend Medium</vt:lpstr>
      <vt:lpstr>Lexend SemiBold</vt:lpstr>
      <vt:lpstr>Montserrat</vt:lpstr>
      <vt:lpstr>Montserrat SemiBold</vt:lpstr>
      <vt:lpstr>Infix theme</vt:lpstr>
      <vt:lpstr>Infix Support: Impact to date</vt:lpstr>
      <vt:lpstr>Current vs Infix</vt:lpstr>
      <vt:lpstr>Benefits</vt:lpstr>
      <vt:lpstr>Benefits</vt:lpstr>
      <vt:lpstr>PowerPoint Presentation</vt:lpstr>
      <vt:lpstr>PowerPoint Presentation</vt:lpstr>
      <vt:lpstr>Secondary benefits</vt:lpstr>
      <vt:lpstr>Short and long-term effects</vt:lpstr>
      <vt:lpstr>Effects of poor use of software</vt:lpstr>
      <vt:lpstr>How can infix target improvements</vt:lpstr>
      <vt:lpstr>Data Expertise  – Predictive, data-driven solution</vt:lpstr>
      <vt:lpstr>Surgical coding – the good</vt:lpstr>
      <vt:lpstr>Impact of work on improving data quality by infix</vt:lpstr>
      <vt:lpstr>Surgical coding – the bad</vt:lpstr>
      <vt:lpstr>PowerPoint Presentation</vt:lpstr>
      <vt:lpstr>Data Expertise – Infix AI analysis tool</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Infix Schedule – impact so far</dc:title>
  <dc:subject/>
  <dc:creator>Matthew Freer</dc:creator>
  <cp:keywords/>
  <dc:description/>
  <cp:lastModifiedBy>Matthew Freer</cp:lastModifiedBy>
  <cp:revision>5</cp:revision>
  <dcterms:created xsi:type="dcterms:W3CDTF">2025-01-15T07:58:25Z</dcterms:created>
  <dcterms:modified xsi:type="dcterms:W3CDTF">2026-05-26T13:31:21Z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0x010100ACC50AD30B93444E86317D04BED291E4</vt:lpwstr>
  </property>
  <property fmtid="{D5CDD505-2E9C-101B-9397-08002B2CF9AE}" pid="3" name="MediaServiceImageTags">
    <vt:lpwstr/>
  </property>
</Properties>
</file>